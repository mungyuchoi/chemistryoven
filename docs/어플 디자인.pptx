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67" r:id="rId3"/>
    <p:sldId id="266" r:id="rId4"/>
    <p:sldId id="270" r:id="rId5"/>
    <p:sldId id="271" r:id="rId6"/>
    <p:sldId id="256" r:id="rId7"/>
    <p:sldId id="257" r:id="rId8"/>
    <p:sldId id="259" r:id="rId9"/>
    <p:sldId id="258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56" userDrawn="1">
          <p15:clr>
            <a:srgbClr val="A4A3A4"/>
          </p15:clr>
        </p15:guide>
        <p15:guide id="2" pos="39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7EF"/>
    <a:srgbClr val="651013"/>
    <a:srgbClr val="E4D7CA"/>
    <a:srgbClr val="F4DFC3"/>
    <a:srgbClr val="ECD1B0"/>
    <a:srgbClr val="FDF8F0"/>
    <a:srgbClr val="F4DFC2"/>
    <a:srgbClr val="FDF2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45" d="100"/>
          <a:sy n="45" d="100"/>
        </p:scale>
        <p:origin x="42" y="660"/>
      </p:cViewPr>
      <p:guideLst>
        <p:guide orient="horz" pos="4156"/>
        <p:guide pos="39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A3BB9-55A0-4CE4-9B91-2E443BBA6484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67825-7FE4-42D4-8000-8F1C7B0DC8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85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A3BB9-55A0-4CE4-9B91-2E443BBA6484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67825-7FE4-42D4-8000-8F1C7B0DC8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579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A3BB9-55A0-4CE4-9B91-2E443BBA6484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67825-7FE4-42D4-8000-8F1C7B0DC8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004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A3BB9-55A0-4CE4-9B91-2E443BBA6484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67825-7FE4-42D4-8000-8F1C7B0DC8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8386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A3BB9-55A0-4CE4-9B91-2E443BBA6484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67825-7FE4-42D4-8000-8F1C7B0DC8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956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A3BB9-55A0-4CE4-9B91-2E443BBA6484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67825-7FE4-42D4-8000-8F1C7B0DC8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6938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A3BB9-55A0-4CE4-9B91-2E443BBA6484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67825-7FE4-42D4-8000-8F1C7B0DC8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6287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A3BB9-55A0-4CE4-9B91-2E443BBA6484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67825-7FE4-42D4-8000-8F1C7B0DC8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549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A3BB9-55A0-4CE4-9B91-2E443BBA6484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67825-7FE4-42D4-8000-8F1C7B0DC8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505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A3BB9-55A0-4CE4-9B91-2E443BBA6484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67825-7FE4-42D4-8000-8F1C7B0DC8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2225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A3BB9-55A0-4CE4-9B91-2E443BBA6484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67825-7FE4-42D4-8000-8F1C7B0DC8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943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A3BB9-55A0-4CE4-9B91-2E443BBA6484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67825-7FE4-42D4-8000-8F1C7B0DC8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0122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모서리가 둥근 직사각형 20"/>
          <p:cNvSpPr/>
          <p:nvPr/>
        </p:nvSpPr>
        <p:spPr>
          <a:xfrm>
            <a:off x="3570379" y="228600"/>
            <a:ext cx="2685142" cy="6379936"/>
          </a:xfrm>
          <a:prstGeom prst="roundRect">
            <a:avLst/>
          </a:prstGeom>
          <a:blipFill dpi="0" rotWithShape="1">
            <a:blip r:embed="rId2">
              <a:alphaModFix amt="63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6503580" y="228600"/>
            <a:ext cx="2685142" cy="6379936"/>
          </a:xfrm>
          <a:prstGeom prst="roundRect">
            <a:avLst/>
          </a:prstGeom>
          <a:blipFill dpi="0" rotWithShape="1">
            <a:blip r:embed="rId2">
              <a:alphaModFix amt="63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206104" y="228600"/>
            <a:ext cx="2685142" cy="6379936"/>
          </a:xfrm>
          <a:prstGeom prst="round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모서리가 둥근 직사각형 5"/>
          <p:cNvSpPr/>
          <p:nvPr/>
        </p:nvSpPr>
        <p:spPr>
          <a:xfrm>
            <a:off x="408510" y="4703896"/>
            <a:ext cx="2170612" cy="1515656"/>
          </a:xfrm>
          <a:prstGeom prst="roundRect">
            <a:avLst/>
          </a:prstGeom>
          <a:solidFill>
            <a:srgbClr val="F4DFC2"/>
          </a:solidFill>
          <a:ln>
            <a:solidFill>
              <a:srgbClr val="6510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로그인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3691800" y="5927090"/>
            <a:ext cx="2499360" cy="406400"/>
          </a:xfrm>
          <a:prstGeom prst="roundRect">
            <a:avLst/>
          </a:prstGeom>
          <a:solidFill>
            <a:srgbClr val="FDF8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회원가입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3663270" y="1297576"/>
            <a:ext cx="2499360" cy="1014185"/>
          </a:xfrm>
          <a:prstGeom prst="roundRect">
            <a:avLst/>
          </a:prstGeom>
          <a:solidFill>
            <a:srgbClr val="FDF8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간편 로그인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3691800" y="2731225"/>
            <a:ext cx="2499360" cy="1014185"/>
          </a:xfrm>
          <a:prstGeom prst="roundRect">
            <a:avLst/>
          </a:prstGeom>
          <a:solidFill>
            <a:srgbClr val="FDF8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Email </a:t>
            </a:r>
            <a:r>
              <a:rPr lang="ko-KR" altLang="en-US" dirty="0" smtClean="0">
                <a:solidFill>
                  <a:schemeClr val="tx1"/>
                </a:solidFill>
              </a:rPr>
              <a:t>로그인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Pass </a:t>
            </a:r>
            <a:r>
              <a:rPr lang="ko-KR" altLang="en-US" dirty="0" smtClean="0">
                <a:solidFill>
                  <a:schemeClr val="tx1"/>
                </a:solidFill>
              </a:rPr>
              <a:t>생성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6596471" y="562065"/>
            <a:ext cx="2499360" cy="735511"/>
          </a:xfrm>
          <a:prstGeom prst="roundRect">
            <a:avLst/>
          </a:prstGeom>
          <a:solidFill>
            <a:srgbClr val="FDF8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케미스트리</a:t>
            </a:r>
            <a:r>
              <a:rPr lang="ko-KR" altLang="en-US" dirty="0" smtClean="0">
                <a:solidFill>
                  <a:schemeClr val="tx1"/>
                </a:solidFill>
              </a:rPr>
              <a:t> 오븐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정보 입력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6689362" y="5700122"/>
            <a:ext cx="2499360" cy="735511"/>
          </a:xfrm>
          <a:prstGeom prst="roundRect">
            <a:avLst/>
          </a:prstGeom>
          <a:solidFill>
            <a:srgbClr val="FDF8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건너뛰기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9436781" y="228600"/>
            <a:ext cx="2685142" cy="6379936"/>
          </a:xfrm>
          <a:prstGeom prst="roundRect">
            <a:avLst/>
          </a:prstGeom>
          <a:blipFill dpi="0" rotWithShape="1">
            <a:blip r:embed="rId2">
              <a:alphaModFix amt="63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모서리가 둥근 직사각형 14"/>
          <p:cNvSpPr/>
          <p:nvPr/>
        </p:nvSpPr>
        <p:spPr>
          <a:xfrm>
            <a:off x="9529672" y="562064"/>
            <a:ext cx="2499360" cy="1919879"/>
          </a:xfrm>
          <a:prstGeom prst="roundRect">
            <a:avLst/>
          </a:prstGeom>
          <a:solidFill>
            <a:srgbClr val="FDF8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선택 입력 </a:t>
            </a:r>
            <a:r>
              <a:rPr lang="en-US" altLang="ko-KR" dirty="0" smtClean="0">
                <a:solidFill>
                  <a:schemeClr val="tx1"/>
                </a:solidFill>
              </a:rPr>
              <a:t>–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생년월일 </a:t>
            </a:r>
            <a:r>
              <a:rPr lang="en-US" altLang="ko-KR" dirty="0" smtClean="0">
                <a:solidFill>
                  <a:schemeClr val="tx1"/>
                </a:solidFill>
              </a:rPr>
              <a:t>/ </a:t>
            </a:r>
            <a:r>
              <a:rPr lang="ko-KR" altLang="en-US" dirty="0" smtClean="0">
                <a:solidFill>
                  <a:schemeClr val="tx1"/>
                </a:solidFill>
              </a:rPr>
              <a:t>키 </a:t>
            </a:r>
            <a:r>
              <a:rPr lang="en-US" altLang="ko-KR" dirty="0" smtClean="0">
                <a:solidFill>
                  <a:schemeClr val="tx1"/>
                </a:solidFill>
              </a:rPr>
              <a:t>/ MBTI / </a:t>
            </a:r>
            <a:r>
              <a:rPr lang="ko-KR" altLang="en-US" dirty="0" smtClean="0">
                <a:solidFill>
                  <a:schemeClr val="tx1"/>
                </a:solidFill>
              </a:rPr>
              <a:t> 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9529672" y="2716076"/>
            <a:ext cx="2499360" cy="735511"/>
          </a:xfrm>
          <a:prstGeom prst="roundRect">
            <a:avLst/>
          </a:prstGeom>
          <a:solidFill>
            <a:srgbClr val="FDF8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텍스트 입력 </a:t>
            </a:r>
            <a:r>
              <a:rPr lang="en-US" altLang="ko-KR" dirty="0" smtClean="0">
                <a:solidFill>
                  <a:schemeClr val="tx1"/>
                </a:solidFill>
              </a:rPr>
              <a:t>- </a:t>
            </a:r>
            <a:r>
              <a:rPr lang="ko-KR" altLang="en-US" dirty="0" smtClean="0">
                <a:solidFill>
                  <a:schemeClr val="tx1"/>
                </a:solidFill>
              </a:rPr>
              <a:t>직업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9529672" y="3621768"/>
            <a:ext cx="2499360" cy="735511"/>
          </a:xfrm>
          <a:prstGeom prst="roundRect">
            <a:avLst/>
          </a:prstGeom>
          <a:solidFill>
            <a:srgbClr val="FDF8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MBTI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33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23" t="35315" r="17885" b="45240"/>
          <a:stretch/>
        </p:blipFill>
        <p:spPr>
          <a:xfrm>
            <a:off x="735874" y="275591"/>
            <a:ext cx="2489200" cy="13335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54" t="82509" r="15647" b="11565"/>
          <a:stretch/>
        </p:blipFill>
        <p:spPr>
          <a:xfrm>
            <a:off x="657860" y="2438399"/>
            <a:ext cx="2667000" cy="4064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93" t="14182" r="17978" b="67828"/>
          <a:stretch/>
        </p:blipFill>
        <p:spPr>
          <a:xfrm>
            <a:off x="757646" y="4151086"/>
            <a:ext cx="2467428" cy="123371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54" t="89536" r="15647" b="4221"/>
          <a:stretch/>
        </p:blipFill>
        <p:spPr>
          <a:xfrm>
            <a:off x="657860" y="3157218"/>
            <a:ext cx="2667000" cy="42817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54" t="73371" r="15647" b="20703"/>
          <a:stretch/>
        </p:blipFill>
        <p:spPr>
          <a:xfrm>
            <a:off x="657860" y="1765300"/>
            <a:ext cx="2667000" cy="406400"/>
          </a:xfrm>
          <a:prstGeom prst="rect">
            <a:avLst/>
          </a:prstGeom>
        </p:spPr>
      </p:pic>
      <p:sp>
        <p:nvSpPr>
          <p:cNvPr id="9" name="모서리가 둥근 직사각형 8"/>
          <p:cNvSpPr/>
          <p:nvPr/>
        </p:nvSpPr>
        <p:spPr>
          <a:xfrm>
            <a:off x="3849053" y="2364740"/>
            <a:ext cx="2499360" cy="406400"/>
          </a:xfrm>
          <a:prstGeom prst="roundRect">
            <a:avLst/>
          </a:prstGeom>
          <a:solidFill>
            <a:srgbClr val="FDF8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모서리가 둥근 직사각형 9"/>
          <p:cNvSpPr/>
          <p:nvPr/>
        </p:nvSpPr>
        <p:spPr>
          <a:xfrm>
            <a:off x="3819071" y="238760"/>
            <a:ext cx="2483394" cy="1333500"/>
          </a:xfrm>
          <a:prstGeom prst="roundRect">
            <a:avLst/>
          </a:prstGeom>
          <a:solidFill>
            <a:srgbClr val="F4DFC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로그인 창</a:t>
            </a:r>
            <a:endParaRPr lang="ko-KR" altLang="en-US" dirty="0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3849053" y="2844799"/>
            <a:ext cx="2499360" cy="1233714"/>
          </a:xfrm>
          <a:prstGeom prst="roundRect">
            <a:avLst/>
          </a:prstGeom>
          <a:solidFill>
            <a:srgbClr val="ECD1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3840344" y="4297318"/>
            <a:ext cx="2499360" cy="406400"/>
          </a:xfrm>
          <a:prstGeom prst="roundRect">
            <a:avLst/>
          </a:prstGeom>
          <a:solidFill>
            <a:srgbClr val="65101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3840344" y="4892406"/>
            <a:ext cx="2499360" cy="406400"/>
          </a:xfrm>
          <a:prstGeom prst="roundRect">
            <a:avLst/>
          </a:prstGeom>
          <a:solidFill>
            <a:srgbClr val="65101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3985965" y="3726546"/>
            <a:ext cx="566057" cy="249827"/>
          </a:xfrm>
          <a:prstGeom prst="roundRect">
            <a:avLst/>
          </a:prstGeom>
          <a:solidFill>
            <a:srgbClr val="6510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4011955" y="3366228"/>
            <a:ext cx="261257" cy="271780"/>
          </a:xfrm>
          <a:prstGeom prst="ellipse">
            <a:avLst/>
          </a:prstGeom>
          <a:solidFill>
            <a:srgbClr val="6510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3985965" y="3005910"/>
            <a:ext cx="261257" cy="271780"/>
          </a:xfrm>
          <a:prstGeom prst="ellipse">
            <a:avLst/>
          </a:prstGeom>
          <a:solidFill>
            <a:srgbClr val="6510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4733833" y="2918144"/>
            <a:ext cx="653870" cy="360587"/>
          </a:xfrm>
          <a:prstGeom prst="roundRect">
            <a:avLst/>
          </a:prstGeom>
          <a:solidFill>
            <a:srgbClr val="F4DF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5635829" y="2933154"/>
            <a:ext cx="566057" cy="249827"/>
          </a:xfrm>
          <a:prstGeom prst="roundRect">
            <a:avLst/>
          </a:prstGeom>
          <a:noFill/>
          <a:ln>
            <a:solidFill>
              <a:srgbClr val="6510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5635037" y="3297738"/>
            <a:ext cx="566057" cy="249827"/>
          </a:xfrm>
          <a:prstGeom prst="roundRect">
            <a:avLst/>
          </a:prstGeom>
          <a:noFill/>
          <a:ln>
            <a:solidFill>
              <a:srgbClr val="6510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5635037" y="3688125"/>
            <a:ext cx="566057" cy="249827"/>
          </a:xfrm>
          <a:prstGeom prst="roundRect">
            <a:avLst/>
          </a:prstGeom>
          <a:noFill/>
          <a:ln>
            <a:solidFill>
              <a:srgbClr val="6510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4739825" y="3372622"/>
            <a:ext cx="647878" cy="603751"/>
          </a:xfrm>
          <a:prstGeom prst="roundRect">
            <a:avLst/>
          </a:prstGeom>
          <a:noFill/>
          <a:ln>
            <a:solidFill>
              <a:srgbClr val="6510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8841967" y="238760"/>
            <a:ext cx="2685142" cy="6379936"/>
          </a:xfrm>
          <a:prstGeom prst="roundRect">
            <a:avLst/>
          </a:prstGeom>
          <a:blipFill dpi="0" rotWithShape="1">
            <a:blip r:embed="rId3">
              <a:alphaModFix amt="63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371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231367" y="238760"/>
            <a:ext cx="2685142" cy="6379936"/>
          </a:xfrm>
          <a:prstGeom prst="roundRect">
            <a:avLst/>
          </a:prstGeom>
          <a:blipFill dpi="0" rotWithShape="1">
            <a:blip r:embed="rId2">
              <a:alphaModFix amt="84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23" t="35315" r="17885" b="45240"/>
          <a:stretch/>
        </p:blipFill>
        <p:spPr>
          <a:xfrm>
            <a:off x="301625" y="2095228"/>
            <a:ext cx="2489200" cy="13335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99" t="82062" r="17692" b="11565"/>
          <a:stretch/>
        </p:blipFill>
        <p:spPr>
          <a:xfrm>
            <a:off x="3355112" y="4561825"/>
            <a:ext cx="2486025" cy="43708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54" t="89536" r="15647" b="4221"/>
          <a:stretch/>
        </p:blipFill>
        <p:spPr>
          <a:xfrm>
            <a:off x="249509" y="5871843"/>
            <a:ext cx="2667000" cy="42817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6" t="72779" r="18678" b="20702"/>
          <a:stretch/>
        </p:blipFill>
        <p:spPr>
          <a:xfrm>
            <a:off x="3386454" y="5220437"/>
            <a:ext cx="2409825" cy="44702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93" t="14182" r="17978" b="67828"/>
          <a:stretch/>
        </p:blipFill>
        <p:spPr>
          <a:xfrm>
            <a:off x="349295" y="536076"/>
            <a:ext cx="2467428" cy="1233714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/>
        </p:nvSpPr>
        <p:spPr>
          <a:xfrm>
            <a:off x="3136106" y="238760"/>
            <a:ext cx="2685142" cy="6379936"/>
          </a:xfrm>
          <a:prstGeom prst="roundRect">
            <a:avLst/>
          </a:prstGeom>
          <a:blipFill dpi="0" rotWithShape="1">
            <a:blip r:embed="rId2">
              <a:alphaModFix amt="84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6040254" y="238760"/>
            <a:ext cx="2685142" cy="6379936"/>
          </a:xfrm>
          <a:prstGeom prst="roundRect">
            <a:avLst/>
          </a:prstGeom>
          <a:blipFill dpi="0" rotWithShape="1">
            <a:blip r:embed="rId2">
              <a:alphaModFix amt="84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8924513" y="238760"/>
            <a:ext cx="2685142" cy="6379936"/>
          </a:xfrm>
          <a:prstGeom prst="roundRect">
            <a:avLst/>
          </a:prstGeom>
          <a:blipFill dpi="0" rotWithShape="1">
            <a:blip r:embed="rId2">
              <a:alphaModFix amt="84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모서리가 둥근 직사각형 14"/>
          <p:cNvSpPr/>
          <p:nvPr/>
        </p:nvSpPr>
        <p:spPr>
          <a:xfrm>
            <a:off x="3228997" y="536077"/>
            <a:ext cx="2419963" cy="1143044"/>
          </a:xfrm>
          <a:prstGeom prst="roundRect">
            <a:avLst/>
          </a:prstGeom>
          <a:solidFill>
            <a:srgbClr val="FDF8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3296919" y="2046649"/>
            <a:ext cx="2499360" cy="1233714"/>
          </a:xfrm>
          <a:prstGeom prst="roundRect">
            <a:avLst/>
          </a:prstGeom>
          <a:solidFill>
            <a:srgbClr val="ECD1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3258954" y="5443949"/>
            <a:ext cx="2499360" cy="406400"/>
          </a:xfrm>
          <a:prstGeom prst="roundRect">
            <a:avLst/>
          </a:prstGeom>
          <a:solidFill>
            <a:srgbClr val="65101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 smtClean="0">
                <a:solidFill>
                  <a:srgbClr val="FEF7EF"/>
                </a:solidFill>
                <a:latin typeface="Curlz MT" panose="04040404050702020202" pitchFamily="82" charset="0"/>
              </a:rPr>
              <a:t>Patissiere</a:t>
            </a:r>
            <a:r>
              <a:rPr lang="en-US" altLang="ko-KR" sz="2400" dirty="0" smtClean="0">
                <a:solidFill>
                  <a:srgbClr val="FEF7EF"/>
                </a:solidFill>
                <a:latin typeface="Curlz MT" panose="04040404050702020202" pitchFamily="82" charset="0"/>
              </a:rPr>
              <a:t>. </a:t>
            </a:r>
            <a:r>
              <a:rPr lang="en-US" altLang="ko-KR" sz="2400" dirty="0">
                <a:solidFill>
                  <a:srgbClr val="FEF7EF"/>
                </a:solidFill>
                <a:latin typeface="Curlz MT" panose="04040404050702020202" pitchFamily="82" charset="0"/>
              </a:rPr>
              <a:t>S</a:t>
            </a:r>
            <a:endParaRPr lang="ko-KR" altLang="en-US" sz="2400" dirty="0">
              <a:solidFill>
                <a:srgbClr val="FEF7EF"/>
              </a:solidFill>
              <a:latin typeface="Curlz MT" panose="04040404050702020202" pitchFamily="82" charset="0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3433831" y="2928396"/>
            <a:ext cx="566057" cy="249827"/>
          </a:xfrm>
          <a:prstGeom prst="roundRect">
            <a:avLst/>
          </a:prstGeom>
          <a:solidFill>
            <a:srgbClr val="6510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/>
          <p:cNvSpPr/>
          <p:nvPr/>
        </p:nvSpPr>
        <p:spPr>
          <a:xfrm>
            <a:off x="3459821" y="2568078"/>
            <a:ext cx="261257" cy="271780"/>
          </a:xfrm>
          <a:prstGeom prst="ellipse">
            <a:avLst/>
          </a:prstGeom>
          <a:solidFill>
            <a:srgbClr val="6510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/>
          <p:cNvSpPr/>
          <p:nvPr/>
        </p:nvSpPr>
        <p:spPr>
          <a:xfrm>
            <a:off x="3433831" y="2207760"/>
            <a:ext cx="261257" cy="271780"/>
          </a:xfrm>
          <a:prstGeom prst="ellipse">
            <a:avLst/>
          </a:prstGeom>
          <a:solidFill>
            <a:srgbClr val="6510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4181699" y="2119994"/>
            <a:ext cx="653870" cy="360587"/>
          </a:xfrm>
          <a:prstGeom prst="roundRect">
            <a:avLst/>
          </a:prstGeom>
          <a:solidFill>
            <a:srgbClr val="F4DF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5083695" y="2135004"/>
            <a:ext cx="566057" cy="249827"/>
          </a:xfrm>
          <a:prstGeom prst="roundRect">
            <a:avLst/>
          </a:prstGeom>
          <a:noFill/>
          <a:ln>
            <a:solidFill>
              <a:srgbClr val="6510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모서리가 둥근 직사각형 22"/>
          <p:cNvSpPr/>
          <p:nvPr/>
        </p:nvSpPr>
        <p:spPr>
          <a:xfrm>
            <a:off x="5082903" y="2499588"/>
            <a:ext cx="566057" cy="249827"/>
          </a:xfrm>
          <a:prstGeom prst="roundRect">
            <a:avLst/>
          </a:prstGeom>
          <a:noFill/>
          <a:ln>
            <a:solidFill>
              <a:srgbClr val="6510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5082903" y="2889975"/>
            <a:ext cx="566057" cy="249827"/>
          </a:xfrm>
          <a:prstGeom prst="roundRect">
            <a:avLst/>
          </a:prstGeom>
          <a:noFill/>
          <a:ln>
            <a:solidFill>
              <a:srgbClr val="6510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모서리가 둥근 직사각형 24"/>
          <p:cNvSpPr/>
          <p:nvPr/>
        </p:nvSpPr>
        <p:spPr>
          <a:xfrm>
            <a:off x="4187691" y="2574472"/>
            <a:ext cx="647878" cy="603751"/>
          </a:xfrm>
          <a:prstGeom prst="roundRect">
            <a:avLst/>
          </a:prstGeom>
          <a:noFill/>
          <a:ln>
            <a:solidFill>
              <a:srgbClr val="6510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446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9119554" y="238760"/>
            <a:ext cx="2685142" cy="6379936"/>
          </a:xfrm>
          <a:prstGeom prst="roundRect">
            <a:avLst/>
          </a:prstGeom>
          <a:blipFill dpi="0" rotWithShape="1">
            <a:blip r:embed="rId2">
              <a:alphaModFix amt="63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모서리가 둥근 직사각형 2"/>
          <p:cNvSpPr/>
          <p:nvPr/>
        </p:nvSpPr>
        <p:spPr>
          <a:xfrm>
            <a:off x="6156825" y="238760"/>
            <a:ext cx="2685142" cy="6379936"/>
          </a:xfrm>
          <a:prstGeom prst="roundRect">
            <a:avLst/>
          </a:prstGeom>
          <a:blipFill dpi="0" rotWithShape="1">
            <a:blip r:embed="rId2">
              <a:alphaModFix amt="63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모서리가 둥근 직사각형 3"/>
          <p:cNvSpPr/>
          <p:nvPr/>
        </p:nvSpPr>
        <p:spPr>
          <a:xfrm>
            <a:off x="3194096" y="238760"/>
            <a:ext cx="2685142" cy="6379936"/>
          </a:xfrm>
          <a:prstGeom prst="roundRect">
            <a:avLst/>
          </a:prstGeom>
          <a:blipFill dpi="0" rotWithShape="1">
            <a:blip r:embed="rId2">
              <a:alphaModFix amt="63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231367" y="238760"/>
            <a:ext cx="2685142" cy="6379936"/>
          </a:xfrm>
          <a:prstGeom prst="roundRect">
            <a:avLst/>
          </a:prstGeom>
          <a:blipFill dpi="0" rotWithShape="1">
            <a:blip r:embed="rId2">
              <a:alphaModFix amt="63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370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9119554" y="238760"/>
            <a:ext cx="2685142" cy="6379936"/>
          </a:xfrm>
          <a:prstGeom prst="roundRect">
            <a:avLst/>
          </a:prstGeom>
          <a:blipFill dpi="0" rotWithShape="1">
            <a:blip r:embed="rId2">
              <a:alphaModFix amt="63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모서리가 둥근 직사각형 2"/>
          <p:cNvSpPr/>
          <p:nvPr/>
        </p:nvSpPr>
        <p:spPr>
          <a:xfrm>
            <a:off x="6156825" y="238760"/>
            <a:ext cx="2685142" cy="6379936"/>
          </a:xfrm>
          <a:prstGeom prst="roundRect">
            <a:avLst/>
          </a:prstGeom>
          <a:blipFill dpi="0" rotWithShape="1">
            <a:blip r:embed="rId2">
              <a:alphaModFix amt="63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모서리가 둥근 직사각형 3"/>
          <p:cNvSpPr/>
          <p:nvPr/>
        </p:nvSpPr>
        <p:spPr>
          <a:xfrm>
            <a:off x="3194096" y="238760"/>
            <a:ext cx="2685142" cy="6379936"/>
          </a:xfrm>
          <a:prstGeom prst="roundRect">
            <a:avLst/>
          </a:prstGeom>
          <a:blipFill dpi="0" rotWithShape="1">
            <a:blip r:embed="rId2">
              <a:alphaModFix amt="63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231367" y="238760"/>
            <a:ext cx="2685142" cy="6379936"/>
          </a:xfrm>
          <a:prstGeom prst="roundRect">
            <a:avLst/>
          </a:prstGeom>
          <a:blipFill dpi="0" rotWithShape="1">
            <a:blip r:embed="rId2">
              <a:alphaModFix amt="63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3575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13509" y="156754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13509" y="3585754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13509" y="418011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Chemistry 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oven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313509" y="1670956"/>
            <a:ext cx="2002972" cy="9416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Log in</a:t>
            </a:r>
          </a:p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회원가입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47405" y="409302"/>
            <a:ext cx="1236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어플</a:t>
            </a:r>
            <a:r>
              <a:rPr lang="ko-KR" altLang="en-US" dirty="0" smtClean="0"/>
              <a:t> 네임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647405" y="1670956"/>
            <a:ext cx="2055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로그인 회원가입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647405" y="2932610"/>
            <a:ext cx="2055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Contact us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313509" y="3152503"/>
            <a:ext cx="2002972" cy="2079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문의사항 </a:t>
            </a:r>
            <a:r>
              <a:rPr lang="en-US" altLang="ko-KR" sz="1200" dirty="0" smtClean="0">
                <a:solidFill>
                  <a:schemeClr val="tx1"/>
                </a:solidFill>
              </a:rPr>
              <a:t>: email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6348549" y="273537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Chemistry 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oven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6348549" y="88173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6348549" y="1007540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회원가입 칸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12778" y="511150"/>
            <a:ext cx="33963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회원가입 시 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전화번호 확인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개인정보 입력</a:t>
            </a:r>
            <a:r>
              <a:rPr lang="en-US" altLang="ko-KR" dirty="0" smtClean="0"/>
              <a:t>(</a:t>
            </a:r>
            <a:r>
              <a:rPr lang="ko-KR" altLang="en-US" dirty="0" smtClean="0"/>
              <a:t>간단하게</a:t>
            </a:r>
            <a:r>
              <a:rPr lang="en-US" altLang="ko-KR" dirty="0" smtClean="0"/>
              <a:t>)</a:t>
            </a:r>
          </a:p>
          <a:p>
            <a:pPr marL="342900" indent="-342900">
              <a:buAutoNum type="arabicPeriod"/>
            </a:pPr>
            <a:r>
              <a:rPr lang="en-US" altLang="ko-KR" dirty="0" smtClean="0"/>
              <a:t>ID / PASS</a:t>
            </a:r>
          </a:p>
          <a:p>
            <a:pPr marL="342900" indent="-342900">
              <a:buAutoNum type="arabicPeriod"/>
            </a:pPr>
            <a:endParaRPr lang="en-US" altLang="ko-KR" dirty="0" smtClean="0"/>
          </a:p>
        </p:txBody>
      </p:sp>
      <p:sp>
        <p:nvSpPr>
          <p:cNvPr id="21" name="직사각형 20"/>
          <p:cNvSpPr/>
          <p:nvPr/>
        </p:nvSpPr>
        <p:spPr>
          <a:xfrm>
            <a:off x="6374676" y="3585754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313509" y="3900350"/>
            <a:ext cx="2002972" cy="26920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활동을위한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개인정보 입력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508067" y="3585754"/>
            <a:ext cx="32831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얼굴 사진 </a:t>
            </a:r>
            <a:endParaRPr lang="en-US" altLang="ko-KR" dirty="0" smtClean="0"/>
          </a:p>
          <a:p>
            <a:r>
              <a:rPr lang="ko-KR" altLang="en-US" dirty="0" smtClean="0"/>
              <a:t>이름</a:t>
            </a:r>
            <a:r>
              <a:rPr lang="en-US" altLang="ko-KR" dirty="0" smtClean="0"/>
              <a:t> / </a:t>
            </a:r>
            <a:r>
              <a:rPr lang="ko-KR" altLang="en-US" dirty="0" smtClean="0"/>
              <a:t>나이</a:t>
            </a:r>
            <a:r>
              <a:rPr lang="en-US" altLang="ko-KR" dirty="0" smtClean="0"/>
              <a:t>(</a:t>
            </a:r>
            <a:r>
              <a:rPr lang="ko-KR" altLang="en-US" dirty="0" smtClean="0"/>
              <a:t>생년월일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MBTI </a:t>
            </a:r>
          </a:p>
          <a:p>
            <a:r>
              <a:rPr lang="ko-KR" altLang="en-US" dirty="0" smtClean="0"/>
              <a:t>기존 설문 내용</a:t>
            </a:r>
            <a:endParaRPr lang="en-US" altLang="ko-KR" dirty="0" smtClean="0"/>
          </a:p>
          <a:p>
            <a:r>
              <a:rPr lang="ko-KR" altLang="en-US" dirty="0" smtClean="0"/>
              <a:t>선호도 </a:t>
            </a:r>
            <a:r>
              <a:rPr lang="en-US" altLang="ko-KR" dirty="0" smtClean="0"/>
              <a:t>&amp; </a:t>
            </a:r>
            <a:r>
              <a:rPr lang="ko-KR" altLang="en-US" dirty="0" smtClean="0"/>
              <a:t>이상형 </a:t>
            </a:r>
            <a:r>
              <a:rPr lang="en-US" altLang="ko-KR" dirty="0" smtClean="0"/>
              <a:t>&amp; </a:t>
            </a:r>
            <a:r>
              <a:rPr lang="ko-KR" altLang="en-US" dirty="0" smtClean="0"/>
              <a:t>취미 등등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탭을 클릭하여 고르는 형식</a:t>
            </a:r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24" name="TextBox 23"/>
          <p:cNvSpPr txBox="1"/>
          <p:nvPr/>
        </p:nvSpPr>
        <p:spPr>
          <a:xfrm>
            <a:off x="8612778" y="1954154"/>
            <a:ext cx="33963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참여 안해도 어떤 프로그램이 있는지 볼 수 있게 간단 회원가입 우선 시행</a:t>
            </a:r>
            <a:endParaRPr lang="en-US" altLang="ko-KR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8612777" y="3585754"/>
            <a:ext cx="357922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사진 및 </a:t>
            </a:r>
            <a:endParaRPr lang="en-US" altLang="ko-KR" dirty="0" smtClean="0"/>
          </a:p>
          <a:p>
            <a:r>
              <a:rPr lang="ko-KR" altLang="en-US" dirty="0" err="1" smtClean="0"/>
              <a:t>사원증</a:t>
            </a:r>
            <a:r>
              <a:rPr lang="ko-KR" altLang="en-US" dirty="0" smtClean="0"/>
              <a:t> </a:t>
            </a:r>
            <a:r>
              <a:rPr lang="en-US" altLang="ko-KR" dirty="0" smtClean="0"/>
              <a:t>or </a:t>
            </a:r>
            <a:r>
              <a:rPr lang="ko-KR" altLang="en-US" dirty="0" smtClean="0"/>
              <a:t>명함 </a:t>
            </a:r>
            <a:r>
              <a:rPr lang="en-US" altLang="ko-KR" dirty="0" smtClean="0"/>
              <a:t>or </a:t>
            </a:r>
            <a:r>
              <a:rPr lang="ko-KR" altLang="en-US" dirty="0" smtClean="0"/>
              <a:t>회사명</a:t>
            </a:r>
            <a:endParaRPr lang="en-US" altLang="ko-KR" dirty="0" smtClean="0"/>
          </a:p>
          <a:p>
            <a:r>
              <a:rPr lang="en-US" altLang="ko-KR" dirty="0" smtClean="0"/>
              <a:t>or </a:t>
            </a:r>
            <a:r>
              <a:rPr lang="ko-KR" altLang="en-US" dirty="0" smtClean="0"/>
              <a:t>사업자등록증 </a:t>
            </a:r>
            <a:r>
              <a:rPr lang="en-US" altLang="ko-KR" dirty="0" smtClean="0"/>
              <a:t>or </a:t>
            </a:r>
            <a:r>
              <a:rPr lang="ko-KR" altLang="en-US" dirty="0" smtClean="0"/>
              <a:t>대학교 </a:t>
            </a:r>
            <a:r>
              <a:rPr lang="en-US" altLang="ko-KR" dirty="0" smtClean="0"/>
              <a:t>or </a:t>
            </a:r>
            <a:r>
              <a:rPr lang="ko-KR" altLang="en-US" dirty="0" smtClean="0"/>
              <a:t>대학원 </a:t>
            </a:r>
            <a:r>
              <a:rPr lang="en-US" altLang="ko-KR" dirty="0" smtClean="0"/>
              <a:t>or </a:t>
            </a:r>
            <a:r>
              <a:rPr lang="ko-KR" altLang="en-US" dirty="0" smtClean="0"/>
              <a:t>회사 </a:t>
            </a:r>
            <a:r>
              <a:rPr lang="en-US" altLang="ko-KR" dirty="0" smtClean="0"/>
              <a:t>Email</a:t>
            </a:r>
            <a:endParaRPr lang="en-US" altLang="ko-KR" dirty="0"/>
          </a:p>
          <a:p>
            <a:r>
              <a:rPr lang="ko-KR" altLang="en-US" dirty="0" smtClean="0"/>
              <a:t>입력 후 관리자 승인 후 확인되는 시스템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직업과 신원 확인은 올리지 않아도 다른 탭을 볼 수 있도록 해줌</a:t>
            </a:r>
            <a:endParaRPr lang="en-US" altLang="ko-KR" dirty="0"/>
          </a:p>
        </p:txBody>
      </p:sp>
      <p:sp>
        <p:nvSpPr>
          <p:cNvPr id="26" name="직사각형 25"/>
          <p:cNvSpPr/>
          <p:nvPr/>
        </p:nvSpPr>
        <p:spPr>
          <a:xfrm>
            <a:off x="6374676" y="3900350"/>
            <a:ext cx="2002972" cy="26920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정보 입력 후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인증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099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6348549" y="88173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/>
          <p:cNvSpPr/>
          <p:nvPr/>
        </p:nvSpPr>
        <p:spPr>
          <a:xfrm>
            <a:off x="322215" y="3585754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/>
          <p:cNvSpPr/>
          <p:nvPr/>
        </p:nvSpPr>
        <p:spPr>
          <a:xfrm>
            <a:off x="322215" y="3847011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Baking Class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330921" y="4689088"/>
            <a:ext cx="2002972" cy="11434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달력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538548" y="3585754"/>
            <a:ext cx="1950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신청하기 탭</a:t>
            </a:r>
            <a:endParaRPr lang="ko-KR" alt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2656110" y="4942520"/>
            <a:ext cx="3074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달력으로 클래스 일정</a:t>
            </a:r>
            <a:endParaRPr lang="en-US" altLang="ko-KR" dirty="0" smtClean="0"/>
          </a:p>
          <a:p>
            <a:r>
              <a:rPr lang="ko-KR" altLang="en-US" dirty="0" smtClean="0"/>
              <a:t>한눈에 확인</a:t>
            </a:r>
            <a:endParaRPr lang="ko-KR" altLang="en-US" dirty="0"/>
          </a:p>
        </p:txBody>
      </p:sp>
      <p:sp>
        <p:nvSpPr>
          <p:cNvPr id="55" name="직사각형 54"/>
          <p:cNvSpPr/>
          <p:nvPr/>
        </p:nvSpPr>
        <p:spPr>
          <a:xfrm>
            <a:off x="330921" y="6065588"/>
            <a:ext cx="2002972" cy="350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mtClean="0">
                <a:solidFill>
                  <a:schemeClr val="tx1"/>
                </a:solidFill>
              </a:rPr>
              <a:t>상세 일정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656110" y="5997918"/>
            <a:ext cx="3074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달력 입력 후 상세 시간까지 클릭하여 신청</a:t>
            </a:r>
            <a:endParaRPr lang="ko-KR" altLang="en-US" dirty="0"/>
          </a:p>
        </p:txBody>
      </p:sp>
      <p:sp>
        <p:nvSpPr>
          <p:cNvPr id="57" name="직사각형 56"/>
          <p:cNvSpPr/>
          <p:nvPr/>
        </p:nvSpPr>
        <p:spPr>
          <a:xfrm>
            <a:off x="6348549" y="3570224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/>
          <p:cNvSpPr/>
          <p:nvPr/>
        </p:nvSpPr>
        <p:spPr>
          <a:xfrm>
            <a:off x="6348549" y="3831481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신청내역</a:t>
            </a:r>
            <a:r>
              <a:rPr lang="ko-KR" altLang="en-US" dirty="0" smtClean="0">
                <a:solidFill>
                  <a:schemeClr val="tx1"/>
                </a:solidFill>
              </a:rPr>
              <a:t> 확인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6357255" y="4673558"/>
            <a:ext cx="2002972" cy="11434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최종승인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682444" y="3822772"/>
            <a:ext cx="3008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신청 확인 내역</a:t>
            </a:r>
            <a:endParaRPr lang="ko-KR" alt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8617128" y="4942520"/>
            <a:ext cx="3074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달력으로 클래스 일정 확인</a:t>
            </a:r>
            <a:endParaRPr lang="ko-KR" altLang="en-US" dirty="0"/>
          </a:p>
        </p:txBody>
      </p:sp>
      <p:sp>
        <p:nvSpPr>
          <p:cNvPr id="62" name="직사각형 61"/>
          <p:cNvSpPr/>
          <p:nvPr/>
        </p:nvSpPr>
        <p:spPr>
          <a:xfrm>
            <a:off x="6357255" y="6050058"/>
            <a:ext cx="2002972" cy="350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mtClean="0">
                <a:solidFill>
                  <a:schemeClr val="tx1"/>
                </a:solidFill>
              </a:rPr>
              <a:t>상세 일정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682444" y="5832566"/>
            <a:ext cx="3008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달력 입력 후 상세 </a:t>
            </a:r>
            <a:endParaRPr lang="en-US" altLang="ko-KR" dirty="0" smtClean="0"/>
          </a:p>
          <a:p>
            <a:r>
              <a:rPr lang="ko-KR" altLang="en-US" dirty="0" smtClean="0"/>
              <a:t>시간까지 클릭하여 신청</a:t>
            </a:r>
            <a:endParaRPr lang="ko-KR" altLang="en-US" dirty="0"/>
          </a:p>
        </p:txBody>
      </p:sp>
      <p:sp>
        <p:nvSpPr>
          <p:cNvPr id="64" name="직사각형 63"/>
          <p:cNvSpPr/>
          <p:nvPr/>
        </p:nvSpPr>
        <p:spPr>
          <a:xfrm>
            <a:off x="330921" y="23098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/>
          <p:cNvSpPr/>
          <p:nvPr/>
        </p:nvSpPr>
        <p:spPr>
          <a:xfrm>
            <a:off x="330921" y="284355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Baking Class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339627" y="1126432"/>
            <a:ext cx="2002972" cy="11434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클래스 명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사진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664816" y="275646"/>
            <a:ext cx="243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베이킹 클래스 탭</a:t>
            </a:r>
            <a:endParaRPr lang="ko-KR" altLang="en-US" dirty="0"/>
          </a:p>
        </p:txBody>
      </p:sp>
      <p:sp>
        <p:nvSpPr>
          <p:cNvPr id="68" name="TextBox 67"/>
          <p:cNvSpPr txBox="1"/>
          <p:nvPr/>
        </p:nvSpPr>
        <p:spPr>
          <a:xfrm>
            <a:off x="2538548" y="1207188"/>
            <a:ext cx="3074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클래스 명과 사진이 </a:t>
            </a:r>
            <a:r>
              <a:rPr lang="ko-KR" altLang="en-US" dirty="0" err="1" smtClean="0"/>
              <a:t>뜨게함</a:t>
            </a:r>
            <a:endParaRPr lang="ko-KR" altLang="en-US" dirty="0"/>
          </a:p>
        </p:txBody>
      </p:sp>
      <p:sp>
        <p:nvSpPr>
          <p:cNvPr id="69" name="직사각형 68"/>
          <p:cNvSpPr/>
          <p:nvPr/>
        </p:nvSpPr>
        <p:spPr>
          <a:xfrm>
            <a:off x="339627" y="2502932"/>
            <a:ext cx="2002972" cy="350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신청하기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538548" y="2435262"/>
            <a:ext cx="3074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신청하기 칸에 </a:t>
            </a:r>
            <a:r>
              <a:rPr lang="ko-KR" altLang="en-US" dirty="0" err="1" smtClean="0"/>
              <a:t>들갈</a:t>
            </a:r>
            <a:r>
              <a:rPr lang="ko-KR" altLang="en-US" dirty="0" smtClean="0"/>
              <a:t> 수 있는 탭</a:t>
            </a:r>
            <a:endParaRPr lang="ko-KR" altLang="en-US" dirty="0"/>
          </a:p>
        </p:txBody>
      </p:sp>
      <p:sp>
        <p:nvSpPr>
          <p:cNvPr id="71" name="직사각형 70"/>
          <p:cNvSpPr/>
          <p:nvPr/>
        </p:nvSpPr>
        <p:spPr>
          <a:xfrm>
            <a:off x="6357255" y="284355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신청내역</a:t>
            </a:r>
            <a:r>
              <a:rPr lang="ko-KR" altLang="en-US" dirty="0" smtClean="0">
                <a:solidFill>
                  <a:schemeClr val="tx1"/>
                </a:solidFill>
              </a:rPr>
              <a:t> 확인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6339843" y="1073040"/>
            <a:ext cx="2002972" cy="20085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Tx/>
              <a:buChar char="-"/>
            </a:pPr>
            <a:r>
              <a:rPr lang="ko-KR" altLang="en-US" sz="1600" dirty="0" smtClean="0">
                <a:solidFill>
                  <a:schemeClr val="tx1"/>
                </a:solidFill>
              </a:rPr>
              <a:t>베이킹 클래스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pPr marL="285750" indent="-285750" algn="ctr">
              <a:buFontTx/>
              <a:buChar char="-"/>
            </a:pPr>
            <a:endParaRPr lang="en-US" altLang="ko-KR" sz="1600" dirty="0" smtClean="0">
              <a:solidFill>
                <a:schemeClr val="tx1"/>
              </a:solidFill>
            </a:endParaRPr>
          </a:p>
          <a:p>
            <a:pPr marL="285750" indent="-285750" algn="ctr">
              <a:buFontTx/>
              <a:buChar char="-"/>
            </a:pPr>
            <a:r>
              <a:rPr lang="ko-KR" altLang="en-US" sz="1600" dirty="0" err="1" smtClean="0">
                <a:solidFill>
                  <a:schemeClr val="tx1"/>
                </a:solidFill>
              </a:rPr>
              <a:t>케미스트리</a:t>
            </a:r>
            <a:r>
              <a:rPr lang="ko-KR" altLang="en-US" sz="1600" dirty="0" smtClean="0">
                <a:solidFill>
                  <a:schemeClr val="tx1"/>
                </a:solidFill>
              </a:rPr>
              <a:t> 오븐</a:t>
            </a:r>
            <a:endParaRPr lang="en-US" altLang="ko-KR" sz="1600" dirty="0" smtClean="0">
              <a:solidFill>
                <a:schemeClr val="tx1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8617128" y="803842"/>
            <a:ext cx="30741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탭을 누르면 신청 내역과 </a:t>
            </a:r>
            <a:endParaRPr lang="en-US" altLang="ko-KR" dirty="0"/>
          </a:p>
          <a:p>
            <a:pPr algn="ctr"/>
            <a:r>
              <a:rPr lang="ko-KR" altLang="en-US" dirty="0"/>
              <a:t>신청 완료</a:t>
            </a:r>
            <a:endParaRPr lang="en-US" altLang="ko-KR" dirty="0"/>
          </a:p>
          <a:p>
            <a:pPr algn="ctr"/>
            <a:r>
              <a:rPr lang="ko-KR" altLang="en-US" dirty="0"/>
              <a:t>입금 완료 내역이</a:t>
            </a:r>
            <a:endParaRPr lang="en-US" altLang="ko-KR" dirty="0"/>
          </a:p>
          <a:p>
            <a:pPr algn="ctr"/>
            <a:r>
              <a:rPr lang="ko-KR" altLang="en-US" dirty="0"/>
              <a:t>뜨도록 확인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27538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8499561" y="1253204"/>
            <a:ext cx="3309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엑셀표로</a:t>
            </a:r>
            <a:r>
              <a:rPr lang="ko-KR" altLang="en-US" dirty="0" smtClean="0"/>
              <a:t> 내용 정리하여 확인</a:t>
            </a:r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8499561" y="1820084"/>
            <a:ext cx="33092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ID </a:t>
            </a:r>
            <a:r>
              <a:rPr lang="ko-KR" altLang="en-US" dirty="0" smtClean="0"/>
              <a:t>클릭하면 상세정보 뜸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엑셀로 받을 </a:t>
            </a:r>
            <a:r>
              <a:rPr lang="ko-KR" altLang="en-US" dirty="0" err="1" smtClean="0"/>
              <a:t>수있게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330921" y="185364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관리자 관리 탭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30921" y="0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888269" y="919367"/>
            <a:ext cx="1445624" cy="19795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신청자 일정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ID / </a:t>
            </a:r>
            <a:r>
              <a:rPr lang="ko-KR" altLang="en-US" dirty="0" smtClean="0">
                <a:solidFill>
                  <a:schemeClr val="tx1"/>
                </a:solidFill>
              </a:rPr>
              <a:t>이름 </a:t>
            </a:r>
            <a:r>
              <a:rPr lang="en-US" altLang="ko-KR" dirty="0" smtClean="0">
                <a:solidFill>
                  <a:schemeClr val="tx1"/>
                </a:solidFill>
              </a:rPr>
              <a:t>/ </a:t>
            </a:r>
            <a:r>
              <a:rPr lang="ko-KR" altLang="en-US" dirty="0" smtClean="0">
                <a:solidFill>
                  <a:schemeClr val="tx1"/>
                </a:solidFill>
              </a:rPr>
              <a:t>나이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직업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481935" y="919367"/>
            <a:ext cx="3309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엑셀표로</a:t>
            </a:r>
            <a:r>
              <a:rPr lang="ko-KR" altLang="en-US" dirty="0" smtClean="0"/>
              <a:t> 내용 정리하여 확인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481934" y="1724451"/>
            <a:ext cx="3309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신청자 정보 확인 후 직접 클릭하여 대상자 선택</a:t>
            </a:r>
            <a:endParaRPr lang="ko-KR" altLang="en-US" dirty="0"/>
          </a:p>
        </p:txBody>
      </p:sp>
      <p:sp>
        <p:nvSpPr>
          <p:cNvPr id="38" name="직사각형 37"/>
          <p:cNvSpPr/>
          <p:nvPr/>
        </p:nvSpPr>
        <p:spPr>
          <a:xfrm>
            <a:off x="357048" y="919367"/>
            <a:ext cx="531221" cy="19795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대상자 클릭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339628" y="2924993"/>
            <a:ext cx="1994266" cy="3519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승인 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481934" y="2603251"/>
            <a:ext cx="3309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승인을 하면 문자로 </a:t>
            </a:r>
            <a:r>
              <a:rPr lang="ko-KR" altLang="en-US" dirty="0" err="1" smtClean="0"/>
              <a:t>안내문자</a:t>
            </a:r>
            <a:r>
              <a:rPr lang="ko-KR" altLang="en-US" dirty="0" smtClean="0"/>
              <a:t> </a:t>
            </a:r>
            <a:r>
              <a:rPr lang="en-US" altLang="ko-KR" dirty="0" smtClean="0"/>
              <a:t>or </a:t>
            </a:r>
            <a:r>
              <a:rPr lang="ko-KR" altLang="en-US" dirty="0" err="1" smtClean="0"/>
              <a:t>어플로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안내내용</a:t>
            </a:r>
            <a:r>
              <a:rPr lang="ko-KR" altLang="en-US" dirty="0" smtClean="0"/>
              <a:t> 전송</a:t>
            </a:r>
            <a:endParaRPr lang="ko-KR" altLang="en-US" dirty="0"/>
          </a:p>
        </p:txBody>
      </p:sp>
      <p:sp>
        <p:nvSpPr>
          <p:cNvPr id="41" name="직사각형 40"/>
          <p:cNvSpPr/>
          <p:nvPr/>
        </p:nvSpPr>
        <p:spPr>
          <a:xfrm>
            <a:off x="322214" y="703546"/>
            <a:ext cx="949235" cy="21993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>
                <a:solidFill>
                  <a:schemeClr val="tx1"/>
                </a:solidFill>
              </a:rPr>
              <a:t>인원관리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1419490" y="703546"/>
            <a:ext cx="914404" cy="2199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>
                <a:solidFill>
                  <a:schemeClr val="tx1"/>
                </a:solidFill>
              </a:rPr>
              <a:t>승인확인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6348413" y="190601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관리자 관리 탭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6348413" y="5237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/>
          <p:cNvSpPr/>
          <p:nvPr/>
        </p:nvSpPr>
        <p:spPr>
          <a:xfrm>
            <a:off x="6339705" y="924604"/>
            <a:ext cx="2011680" cy="22036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승인한 인원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내역 확인 가능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(</a:t>
            </a:r>
            <a:r>
              <a:rPr lang="ko-KR" altLang="en-US" sz="1600" dirty="0" smtClean="0">
                <a:solidFill>
                  <a:schemeClr val="tx1"/>
                </a:solidFill>
              </a:rPr>
              <a:t>클릭하면 상세정보</a:t>
            </a:r>
            <a:r>
              <a:rPr lang="en-US" altLang="ko-KR" sz="1600" dirty="0" smtClean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6339706" y="708783"/>
            <a:ext cx="949235" cy="2199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>
                <a:solidFill>
                  <a:schemeClr val="tx1"/>
                </a:solidFill>
              </a:rPr>
              <a:t>인원관리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7436982" y="708783"/>
            <a:ext cx="914404" cy="21993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>
                <a:solidFill>
                  <a:schemeClr val="tx1"/>
                </a:solidFill>
              </a:rPr>
              <a:t>승인확인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357048" y="3742043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메뉴 탭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관리모드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348341" y="3569141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/>
          <p:cNvSpPr txBox="1"/>
          <p:nvPr/>
        </p:nvSpPr>
        <p:spPr>
          <a:xfrm>
            <a:off x="2499353" y="3750287"/>
            <a:ext cx="3309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메뉴 수정 및 편집</a:t>
            </a:r>
            <a:endParaRPr lang="ko-KR" alt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2499353" y="4358121"/>
            <a:ext cx="3309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클래스 오픈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클래스 입력 및 일정 지정</a:t>
            </a:r>
            <a:endParaRPr lang="ko-KR" altLang="en-US" dirty="0"/>
          </a:p>
        </p:txBody>
      </p:sp>
      <p:sp>
        <p:nvSpPr>
          <p:cNvPr id="83" name="직사각형 82"/>
          <p:cNvSpPr/>
          <p:nvPr/>
        </p:nvSpPr>
        <p:spPr>
          <a:xfrm>
            <a:off x="357048" y="4569331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클래스 오픈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357048" y="5396619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클래스 사진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2499353" y="5279835"/>
            <a:ext cx="3309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클래스 사진 올리는 곳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4530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/>
          <p:cNvSpPr/>
          <p:nvPr/>
        </p:nvSpPr>
        <p:spPr>
          <a:xfrm>
            <a:off x="374470" y="0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374470" y="261257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Chemistry Oven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383176" y="1103334"/>
            <a:ext cx="2002972" cy="11434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달력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708365" y="252548"/>
            <a:ext cx="268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/>
              <a:t>2. </a:t>
            </a:r>
            <a:r>
              <a:rPr lang="ko-KR" altLang="en-US" dirty="0" err="1" smtClean="0"/>
              <a:t>케미스트리오븐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708365" y="1382876"/>
            <a:ext cx="3074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달력으로 클래스 일정 확인</a:t>
            </a:r>
            <a:endParaRPr lang="ko-KR" altLang="en-US" dirty="0"/>
          </a:p>
        </p:txBody>
      </p:sp>
      <p:sp>
        <p:nvSpPr>
          <p:cNvPr id="38" name="직사각형 37"/>
          <p:cNvSpPr/>
          <p:nvPr/>
        </p:nvSpPr>
        <p:spPr>
          <a:xfrm>
            <a:off x="383176" y="2479834"/>
            <a:ext cx="2002972" cy="350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mtClean="0">
                <a:solidFill>
                  <a:schemeClr val="tx1"/>
                </a:solidFill>
              </a:rPr>
              <a:t>상세 일정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339842" y="3692264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관리자 관리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339842" y="3506900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/>
          <p:cNvSpPr/>
          <p:nvPr/>
        </p:nvSpPr>
        <p:spPr>
          <a:xfrm>
            <a:off x="6897190" y="4426267"/>
            <a:ext cx="1445624" cy="19795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신청자 일정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ID / </a:t>
            </a:r>
            <a:r>
              <a:rPr lang="ko-KR" altLang="en-US" dirty="0" smtClean="0">
                <a:solidFill>
                  <a:schemeClr val="tx1"/>
                </a:solidFill>
              </a:rPr>
              <a:t>이름 </a:t>
            </a:r>
            <a:r>
              <a:rPr lang="en-US" altLang="ko-KR" dirty="0" smtClean="0">
                <a:solidFill>
                  <a:schemeClr val="tx1"/>
                </a:solidFill>
              </a:rPr>
              <a:t>/ </a:t>
            </a:r>
            <a:r>
              <a:rPr lang="ko-KR" altLang="en-US" dirty="0" smtClean="0">
                <a:solidFill>
                  <a:schemeClr val="tx1"/>
                </a:solidFill>
              </a:rPr>
              <a:t>나이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직업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717072" y="2302201"/>
            <a:ext cx="3074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달력 입력 후 상세 시간까지 클릭하여 신청</a:t>
            </a:r>
            <a:endParaRPr lang="ko-KR" alt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8490856" y="4426267"/>
            <a:ext cx="3309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엑셀표로</a:t>
            </a:r>
            <a:r>
              <a:rPr lang="ko-KR" altLang="en-US" dirty="0" smtClean="0"/>
              <a:t> 내용 정리하여 확인</a:t>
            </a:r>
            <a:endParaRPr lang="ko-KR" alt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8490855" y="5231351"/>
            <a:ext cx="3309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신청자 정보 확인 후 직접 클릭하여 대상자 선택</a:t>
            </a:r>
            <a:endParaRPr lang="ko-KR" altLang="en-US" dirty="0"/>
          </a:p>
        </p:txBody>
      </p:sp>
      <p:sp>
        <p:nvSpPr>
          <p:cNvPr id="45" name="직사각형 44"/>
          <p:cNvSpPr/>
          <p:nvPr/>
        </p:nvSpPr>
        <p:spPr>
          <a:xfrm>
            <a:off x="6357260" y="4426267"/>
            <a:ext cx="531221" cy="19795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대상자 클릭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6348549" y="6414475"/>
            <a:ext cx="1994266" cy="3519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승인 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490855" y="6110151"/>
            <a:ext cx="3309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승인을 하면 문자로 </a:t>
            </a:r>
            <a:r>
              <a:rPr lang="ko-KR" altLang="en-US" dirty="0" err="1" smtClean="0"/>
              <a:t>안내문자</a:t>
            </a:r>
            <a:r>
              <a:rPr lang="ko-KR" altLang="en-US" dirty="0" smtClean="0"/>
              <a:t> </a:t>
            </a:r>
            <a:r>
              <a:rPr lang="en-US" altLang="ko-KR" dirty="0" smtClean="0"/>
              <a:t>or </a:t>
            </a:r>
            <a:r>
              <a:rPr lang="ko-KR" altLang="en-US" dirty="0" err="1" smtClean="0"/>
              <a:t>어플로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안내내용</a:t>
            </a:r>
            <a:r>
              <a:rPr lang="ko-KR" altLang="en-US" dirty="0" smtClean="0"/>
              <a:t> 전송</a:t>
            </a:r>
            <a:endParaRPr lang="ko-KR" altLang="en-US" dirty="0"/>
          </a:p>
        </p:txBody>
      </p:sp>
      <p:sp>
        <p:nvSpPr>
          <p:cNvPr id="48" name="직사각형 47"/>
          <p:cNvSpPr/>
          <p:nvPr/>
        </p:nvSpPr>
        <p:spPr>
          <a:xfrm>
            <a:off x="6357260" y="327558"/>
            <a:ext cx="1950718" cy="5310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신청자 정리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6357260" y="0"/>
            <a:ext cx="1950718" cy="34403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/>
          <p:cNvSpPr/>
          <p:nvPr/>
        </p:nvSpPr>
        <p:spPr>
          <a:xfrm>
            <a:off x="6348553" y="1510884"/>
            <a:ext cx="1950719" cy="5594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나의 닉네임은</a:t>
            </a:r>
            <a:r>
              <a:rPr lang="en-US" altLang="ko-KR" dirty="0" smtClean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34546" y="359714"/>
            <a:ext cx="2993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개인정보가 입력되면 자동으로 </a:t>
            </a:r>
            <a:r>
              <a:rPr lang="en-US" altLang="ko-KR" dirty="0" smtClean="0"/>
              <a:t>AI</a:t>
            </a:r>
            <a:r>
              <a:rPr lang="ko-KR" altLang="en-US" dirty="0" smtClean="0"/>
              <a:t>가 성격 분석 및 키워드 정리</a:t>
            </a:r>
            <a:endParaRPr lang="en-US" altLang="ko-KR" dirty="0" smtClean="0"/>
          </a:p>
        </p:txBody>
      </p:sp>
      <p:sp>
        <p:nvSpPr>
          <p:cNvPr id="52" name="직사각형 51"/>
          <p:cNvSpPr/>
          <p:nvPr/>
        </p:nvSpPr>
        <p:spPr>
          <a:xfrm>
            <a:off x="365764" y="3457989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/>
          <p:cNvSpPr/>
          <p:nvPr/>
        </p:nvSpPr>
        <p:spPr>
          <a:xfrm>
            <a:off x="365764" y="3719246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Chemistry 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374470" y="4561323"/>
            <a:ext cx="2002972" cy="11434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달력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699659" y="3710537"/>
            <a:ext cx="1950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베이킹 클래스</a:t>
            </a:r>
            <a:endParaRPr lang="ko-KR" alt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2699659" y="4460953"/>
            <a:ext cx="3074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달력으로 클래스 일정 확인</a:t>
            </a:r>
            <a:endParaRPr lang="ko-KR" altLang="en-US" dirty="0"/>
          </a:p>
        </p:txBody>
      </p:sp>
      <p:sp>
        <p:nvSpPr>
          <p:cNvPr id="57" name="직사각형 56"/>
          <p:cNvSpPr/>
          <p:nvPr/>
        </p:nvSpPr>
        <p:spPr>
          <a:xfrm>
            <a:off x="374470" y="5937823"/>
            <a:ext cx="2002972" cy="350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mtClean="0">
                <a:solidFill>
                  <a:schemeClr val="tx1"/>
                </a:solidFill>
              </a:rPr>
              <a:t>상세 일정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699659" y="5870153"/>
            <a:ext cx="3074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달력 입력 후 상세 시간까지 클릭하여 신청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8634545" y="1510884"/>
            <a:ext cx="33310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닉네임은 총 </a:t>
            </a:r>
            <a:r>
              <a:rPr lang="en-US" altLang="ko-KR" dirty="0" smtClean="0"/>
              <a:t>10</a:t>
            </a:r>
            <a:r>
              <a:rPr lang="ko-KR" altLang="en-US" dirty="0" smtClean="0"/>
              <a:t>가지로 </a:t>
            </a:r>
            <a:endParaRPr lang="en-US" altLang="ko-KR" dirty="0" smtClean="0"/>
          </a:p>
          <a:p>
            <a:r>
              <a:rPr lang="ko-KR" altLang="en-US" dirty="0" smtClean="0"/>
              <a:t>남자 </a:t>
            </a:r>
            <a:r>
              <a:rPr lang="en-US" altLang="ko-KR" dirty="0" smtClean="0"/>
              <a:t>5 </a:t>
            </a:r>
            <a:r>
              <a:rPr lang="ko-KR" altLang="en-US" dirty="0" smtClean="0"/>
              <a:t>여자 </a:t>
            </a:r>
            <a:r>
              <a:rPr lang="en-US" altLang="ko-KR" dirty="0" smtClean="0"/>
              <a:t>5</a:t>
            </a:r>
          </a:p>
          <a:p>
            <a:r>
              <a:rPr lang="ko-KR" altLang="en-US" dirty="0" smtClean="0"/>
              <a:t>남자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크루아상</a:t>
            </a:r>
            <a:r>
              <a:rPr lang="en-US" altLang="ko-KR" dirty="0"/>
              <a:t> </a:t>
            </a:r>
            <a:r>
              <a:rPr lang="en-US" altLang="ko-KR" dirty="0" smtClean="0"/>
              <a:t>/ </a:t>
            </a:r>
            <a:r>
              <a:rPr lang="ko-KR" altLang="en-US" dirty="0" err="1" smtClean="0"/>
              <a:t>단팥빵</a:t>
            </a:r>
            <a:r>
              <a:rPr lang="en-US" altLang="ko-KR" dirty="0"/>
              <a:t> </a:t>
            </a:r>
            <a:r>
              <a:rPr lang="en-US" altLang="ko-KR" dirty="0" smtClean="0"/>
              <a:t>/ </a:t>
            </a:r>
          </a:p>
          <a:p>
            <a:r>
              <a:rPr lang="ko-KR" altLang="en-US" dirty="0" err="1" smtClean="0"/>
              <a:t>소금빵</a:t>
            </a:r>
            <a:r>
              <a:rPr lang="en-US" altLang="ko-KR" dirty="0" smtClean="0"/>
              <a:t> / </a:t>
            </a:r>
            <a:r>
              <a:rPr lang="ko-KR" altLang="en-US" dirty="0" err="1" smtClean="0"/>
              <a:t>스콘</a:t>
            </a:r>
            <a:r>
              <a:rPr lang="ko-KR" altLang="en-US" dirty="0" smtClean="0"/>
              <a:t> </a:t>
            </a:r>
            <a:r>
              <a:rPr lang="en-US" altLang="ko-KR" dirty="0" smtClean="0"/>
              <a:t>/ </a:t>
            </a:r>
            <a:r>
              <a:rPr lang="ko-KR" altLang="en-US" dirty="0" smtClean="0"/>
              <a:t>초콜릿</a:t>
            </a:r>
            <a:endParaRPr lang="en-US" altLang="ko-KR" dirty="0" smtClean="0"/>
          </a:p>
          <a:p>
            <a:r>
              <a:rPr lang="ko-KR" altLang="en-US" dirty="0" smtClean="0"/>
              <a:t>여자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티라미수</a:t>
            </a:r>
            <a:r>
              <a:rPr lang="en-US" altLang="ko-KR" dirty="0"/>
              <a:t> </a:t>
            </a:r>
            <a:r>
              <a:rPr lang="en-US" altLang="ko-KR" dirty="0" smtClean="0"/>
              <a:t>/ </a:t>
            </a:r>
            <a:r>
              <a:rPr lang="ko-KR" altLang="en-US" dirty="0" err="1" smtClean="0"/>
              <a:t>마들렌</a:t>
            </a:r>
            <a:r>
              <a:rPr lang="ko-KR" altLang="en-US" dirty="0" smtClean="0"/>
              <a:t> </a:t>
            </a:r>
            <a:r>
              <a:rPr lang="en-US" altLang="ko-KR" dirty="0" smtClean="0"/>
              <a:t>/ </a:t>
            </a:r>
          </a:p>
          <a:p>
            <a:r>
              <a:rPr lang="ko-KR" altLang="en-US" dirty="0" err="1" smtClean="0"/>
              <a:t>피낭시에</a:t>
            </a:r>
            <a:r>
              <a:rPr lang="en-US" altLang="ko-KR" dirty="0" smtClean="0"/>
              <a:t> / </a:t>
            </a:r>
            <a:r>
              <a:rPr lang="ko-KR" altLang="en-US" dirty="0" err="1" smtClean="0"/>
              <a:t>에그타르트</a:t>
            </a:r>
            <a:r>
              <a:rPr lang="ko-KR" altLang="en-US" dirty="0" smtClean="0"/>
              <a:t> </a:t>
            </a:r>
            <a:r>
              <a:rPr lang="en-US" altLang="ko-KR" dirty="0" smtClean="0"/>
              <a:t>/ </a:t>
            </a:r>
            <a:r>
              <a:rPr lang="ko-KR" altLang="en-US" dirty="0" smtClean="0"/>
              <a:t>푸딩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639492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/>
          <p:cNvSpPr/>
          <p:nvPr/>
        </p:nvSpPr>
        <p:spPr>
          <a:xfrm>
            <a:off x="374470" y="0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374470" y="261257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Chemistry Oven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383176" y="1103334"/>
            <a:ext cx="2002972" cy="11434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인원 선정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708365" y="252548"/>
            <a:ext cx="268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err="1" smtClean="0"/>
              <a:t>케미스트리오븐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699659" y="734002"/>
            <a:ext cx="3074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성향 분석 및 매칭 알고리즘</a:t>
            </a:r>
            <a:endParaRPr lang="ko-KR" altLang="en-US" dirty="0"/>
          </a:p>
        </p:txBody>
      </p:sp>
      <p:sp>
        <p:nvSpPr>
          <p:cNvPr id="38" name="직사각형 37"/>
          <p:cNvSpPr/>
          <p:nvPr/>
        </p:nvSpPr>
        <p:spPr>
          <a:xfrm>
            <a:off x="383176" y="2479834"/>
            <a:ext cx="2002972" cy="350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날짜 시간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339842" y="3692264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관리자 관리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339842" y="3506900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/>
          <p:cNvSpPr/>
          <p:nvPr/>
        </p:nvSpPr>
        <p:spPr>
          <a:xfrm>
            <a:off x="6897190" y="4426267"/>
            <a:ext cx="1445624" cy="19795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신청자 일정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ID / </a:t>
            </a:r>
            <a:r>
              <a:rPr lang="ko-KR" altLang="en-US" dirty="0" smtClean="0">
                <a:solidFill>
                  <a:schemeClr val="tx1"/>
                </a:solidFill>
              </a:rPr>
              <a:t>이름 </a:t>
            </a:r>
            <a:r>
              <a:rPr lang="en-US" altLang="ko-KR" dirty="0" smtClean="0">
                <a:solidFill>
                  <a:schemeClr val="tx1"/>
                </a:solidFill>
              </a:rPr>
              <a:t>/ </a:t>
            </a:r>
            <a:r>
              <a:rPr lang="ko-KR" altLang="en-US" dirty="0" smtClean="0">
                <a:solidFill>
                  <a:schemeClr val="tx1"/>
                </a:solidFill>
              </a:rPr>
              <a:t>나이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직업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717984" y="1351907"/>
            <a:ext cx="30741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해당 일자와 시간에 대한</a:t>
            </a:r>
            <a:endParaRPr lang="en-US" altLang="ko-KR" dirty="0" smtClean="0"/>
          </a:p>
          <a:p>
            <a:r>
              <a:rPr lang="ko-KR" altLang="en-US" dirty="0" smtClean="0"/>
              <a:t>인원 선정을 누르면</a:t>
            </a:r>
            <a:endParaRPr lang="en-US" altLang="ko-KR" dirty="0" smtClean="0"/>
          </a:p>
          <a:p>
            <a:r>
              <a:rPr lang="ko-KR" altLang="en-US" dirty="0" smtClean="0"/>
              <a:t>남자</a:t>
            </a:r>
            <a:r>
              <a:rPr lang="en-US" altLang="ko-KR" dirty="0" smtClean="0"/>
              <a:t>5</a:t>
            </a:r>
            <a:r>
              <a:rPr lang="ko-KR" altLang="en-US" dirty="0" smtClean="0"/>
              <a:t>명 여자 </a:t>
            </a:r>
            <a:r>
              <a:rPr lang="en-US" altLang="ko-KR" dirty="0" smtClean="0"/>
              <a:t>5</a:t>
            </a:r>
            <a:r>
              <a:rPr lang="ko-KR" altLang="en-US" dirty="0" smtClean="0"/>
              <a:t>명을 선정</a:t>
            </a:r>
            <a:endParaRPr lang="ko-KR" alt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8490856" y="4426267"/>
            <a:ext cx="3309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엑셀표로</a:t>
            </a:r>
            <a:r>
              <a:rPr lang="ko-KR" altLang="en-US" dirty="0" smtClean="0"/>
              <a:t> 내용 정리하여 확인</a:t>
            </a:r>
            <a:endParaRPr lang="ko-KR" alt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8490855" y="5231351"/>
            <a:ext cx="3309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신청자 정보 확인 후 직접 클릭하여 대상자 선택</a:t>
            </a:r>
            <a:endParaRPr lang="ko-KR" altLang="en-US" dirty="0"/>
          </a:p>
        </p:txBody>
      </p:sp>
      <p:sp>
        <p:nvSpPr>
          <p:cNvPr id="45" name="직사각형 44"/>
          <p:cNvSpPr/>
          <p:nvPr/>
        </p:nvSpPr>
        <p:spPr>
          <a:xfrm>
            <a:off x="6357260" y="4426267"/>
            <a:ext cx="531221" cy="19795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대상자 클릭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6348549" y="6414475"/>
            <a:ext cx="1994266" cy="3519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승인 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490855" y="6110151"/>
            <a:ext cx="3309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승인을 하면 문자로 </a:t>
            </a:r>
            <a:r>
              <a:rPr lang="ko-KR" altLang="en-US" dirty="0" err="1" smtClean="0"/>
              <a:t>안내문자</a:t>
            </a:r>
            <a:r>
              <a:rPr lang="ko-KR" altLang="en-US" dirty="0" smtClean="0"/>
              <a:t> </a:t>
            </a:r>
            <a:r>
              <a:rPr lang="en-US" altLang="ko-KR" dirty="0" smtClean="0"/>
              <a:t>or </a:t>
            </a:r>
            <a:r>
              <a:rPr lang="ko-KR" altLang="en-US" dirty="0" err="1" smtClean="0"/>
              <a:t>어플로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안내내용</a:t>
            </a:r>
            <a:r>
              <a:rPr lang="ko-KR" altLang="en-US" dirty="0" smtClean="0"/>
              <a:t> 전송</a:t>
            </a:r>
            <a:endParaRPr lang="ko-KR" altLang="en-US" dirty="0"/>
          </a:p>
        </p:txBody>
      </p:sp>
      <p:sp>
        <p:nvSpPr>
          <p:cNvPr id="48" name="직사각형 47"/>
          <p:cNvSpPr/>
          <p:nvPr/>
        </p:nvSpPr>
        <p:spPr>
          <a:xfrm>
            <a:off x="6357260" y="327558"/>
            <a:ext cx="1950718" cy="5310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케미스트리</a:t>
            </a:r>
            <a:r>
              <a:rPr lang="ko-KR" altLang="en-US" dirty="0" smtClean="0">
                <a:solidFill>
                  <a:schemeClr val="tx1"/>
                </a:solidFill>
              </a:rPr>
              <a:t> 오븐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확정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6357260" y="0"/>
            <a:ext cx="1950718" cy="34403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/>
          <p:cNvSpPr/>
          <p:nvPr/>
        </p:nvSpPr>
        <p:spPr>
          <a:xfrm>
            <a:off x="6348553" y="1510884"/>
            <a:ext cx="1950719" cy="5594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입금 시 확정됨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&gt;&gt; </a:t>
            </a:r>
            <a:r>
              <a:rPr lang="ko-KR" altLang="en-US" dirty="0" smtClean="0">
                <a:solidFill>
                  <a:schemeClr val="tx1"/>
                </a:solidFill>
              </a:rPr>
              <a:t>관리자 승인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634546" y="359714"/>
            <a:ext cx="2993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개인정보가 입력되면 자동으로 </a:t>
            </a:r>
            <a:r>
              <a:rPr lang="en-US" altLang="ko-KR" dirty="0" smtClean="0"/>
              <a:t>AI</a:t>
            </a:r>
            <a:r>
              <a:rPr lang="ko-KR" altLang="en-US" dirty="0" smtClean="0"/>
              <a:t>가 성격 분석 및 키워드 정리</a:t>
            </a:r>
            <a:endParaRPr lang="en-US" altLang="ko-KR" dirty="0" smtClean="0"/>
          </a:p>
        </p:txBody>
      </p:sp>
      <p:sp>
        <p:nvSpPr>
          <p:cNvPr id="52" name="직사각형 51"/>
          <p:cNvSpPr/>
          <p:nvPr/>
        </p:nvSpPr>
        <p:spPr>
          <a:xfrm>
            <a:off x="365764" y="3457989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/>
          <p:cNvSpPr/>
          <p:nvPr/>
        </p:nvSpPr>
        <p:spPr>
          <a:xfrm>
            <a:off x="365764" y="3719246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Chemistry 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374470" y="4561323"/>
            <a:ext cx="2002972" cy="11434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인원 관리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374470" y="5937823"/>
            <a:ext cx="2002972" cy="350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상세 일정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648520" y="1556504"/>
            <a:ext cx="2993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개인정보가 입력되면 자동으로 </a:t>
            </a:r>
            <a:r>
              <a:rPr lang="en-US" altLang="ko-KR" dirty="0" smtClean="0"/>
              <a:t>AI</a:t>
            </a:r>
            <a:r>
              <a:rPr lang="ko-KR" altLang="en-US" dirty="0" smtClean="0"/>
              <a:t>가 성격 분석 및 키워드 정리</a:t>
            </a:r>
            <a:endParaRPr lang="en-US" altLang="ko-KR" dirty="0" smtClean="0"/>
          </a:p>
        </p:txBody>
      </p:sp>
      <p:sp>
        <p:nvSpPr>
          <p:cNvPr id="29" name="TextBox 28"/>
          <p:cNvSpPr txBox="1"/>
          <p:nvPr/>
        </p:nvSpPr>
        <p:spPr>
          <a:xfrm>
            <a:off x="2699658" y="2368621"/>
            <a:ext cx="32996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제미나이에</a:t>
            </a:r>
            <a:r>
              <a:rPr lang="ko-KR" altLang="en-US" dirty="0" smtClean="0"/>
              <a:t> 입력된 </a:t>
            </a:r>
            <a:r>
              <a:rPr lang="ko-KR" altLang="en-US" dirty="0" err="1" smtClean="0"/>
              <a:t>프롬포트를</a:t>
            </a:r>
            <a:r>
              <a:rPr lang="ko-KR" altLang="en-US" dirty="0" smtClean="0"/>
              <a:t> 적용하여 </a:t>
            </a:r>
            <a:endParaRPr lang="en-US" altLang="ko-KR" dirty="0"/>
          </a:p>
          <a:p>
            <a:r>
              <a:rPr lang="ko-KR" altLang="en-US" dirty="0" err="1" smtClean="0"/>
              <a:t>하드필터링</a:t>
            </a:r>
            <a:r>
              <a:rPr lang="ko-KR" altLang="en-US" dirty="0" smtClean="0"/>
              <a:t> </a:t>
            </a:r>
            <a:r>
              <a:rPr lang="en-US" altLang="ko-KR" dirty="0" smtClean="0"/>
              <a:t>+ </a:t>
            </a:r>
            <a:r>
              <a:rPr lang="ko-KR" altLang="en-US" dirty="0" smtClean="0"/>
              <a:t>소프트 </a:t>
            </a:r>
            <a:r>
              <a:rPr lang="ko-KR" altLang="en-US" dirty="0" err="1" smtClean="0"/>
              <a:t>필터링을</a:t>
            </a:r>
            <a:r>
              <a:rPr lang="ko-KR" altLang="en-US" dirty="0" smtClean="0"/>
              <a:t> 거쳐</a:t>
            </a:r>
            <a:endParaRPr lang="en-US" altLang="ko-KR" dirty="0" smtClean="0"/>
          </a:p>
          <a:p>
            <a:r>
              <a:rPr lang="en-US" altLang="ko-KR" dirty="0" smtClean="0"/>
              <a:t>STRICT </a:t>
            </a:r>
            <a:r>
              <a:rPr lang="ko-KR" altLang="en-US" dirty="0" smtClean="0"/>
              <a:t>점수 </a:t>
            </a:r>
            <a:r>
              <a:rPr lang="en-US" altLang="ko-KR" dirty="0" smtClean="0"/>
              <a:t>100</a:t>
            </a:r>
            <a:r>
              <a:rPr lang="ko-KR" altLang="en-US" dirty="0" smtClean="0"/>
              <a:t>점</a:t>
            </a:r>
            <a:endParaRPr lang="en-US" altLang="ko-KR" dirty="0" smtClean="0"/>
          </a:p>
          <a:p>
            <a:r>
              <a:rPr lang="ko-KR" altLang="en-US" dirty="0" smtClean="0"/>
              <a:t>객관 점수 </a:t>
            </a:r>
            <a:r>
              <a:rPr lang="en-US" altLang="ko-KR" dirty="0" smtClean="0"/>
              <a:t>100</a:t>
            </a:r>
            <a:r>
              <a:rPr lang="ko-KR" altLang="en-US" dirty="0" smtClean="0"/>
              <a:t>점</a:t>
            </a:r>
            <a:endParaRPr lang="en-US" altLang="ko-KR" dirty="0"/>
          </a:p>
          <a:p>
            <a:r>
              <a:rPr lang="ko-KR" altLang="en-US" dirty="0" smtClean="0"/>
              <a:t>두 점수의 평균을 내어 인원 선정</a:t>
            </a:r>
            <a:r>
              <a:rPr lang="en-US" altLang="ko-KR" dirty="0"/>
              <a:t> </a:t>
            </a:r>
            <a:r>
              <a:rPr lang="ko-KR" altLang="en-US" dirty="0" smtClean="0"/>
              <a:t>남녀 </a:t>
            </a:r>
            <a:r>
              <a:rPr lang="en-US" altLang="ko-KR" dirty="0" smtClean="0"/>
              <a:t>10</a:t>
            </a:r>
            <a:r>
              <a:rPr lang="ko-KR" altLang="en-US" dirty="0" smtClean="0"/>
              <a:t>명씩 </a:t>
            </a:r>
            <a:r>
              <a:rPr lang="en-US" altLang="ko-KR" dirty="0" smtClean="0"/>
              <a:t>20</a:t>
            </a:r>
            <a:r>
              <a:rPr lang="ko-KR" altLang="en-US" dirty="0" smtClean="0"/>
              <a:t>명</a:t>
            </a:r>
            <a:endParaRPr lang="en-US" altLang="ko-KR" dirty="0" smtClean="0"/>
          </a:p>
          <a:p>
            <a:r>
              <a:rPr lang="ko-KR" altLang="en-US" dirty="0" smtClean="0"/>
              <a:t>그 중 캐릭터를 배정하여 각각의 캐릭터 </a:t>
            </a:r>
            <a:r>
              <a:rPr lang="en-US" altLang="ko-KR" dirty="0" smtClean="0"/>
              <a:t>5</a:t>
            </a:r>
            <a:r>
              <a:rPr lang="ko-KR" altLang="en-US" dirty="0" smtClean="0"/>
              <a:t>명씩은 선정함</a:t>
            </a:r>
            <a:endParaRPr lang="en-US" altLang="ko-KR" dirty="0" smtClean="0"/>
          </a:p>
        </p:txBody>
      </p:sp>
      <p:sp>
        <p:nvSpPr>
          <p:cNvPr id="30" name="TextBox 29"/>
          <p:cNvSpPr txBox="1"/>
          <p:nvPr/>
        </p:nvSpPr>
        <p:spPr>
          <a:xfrm>
            <a:off x="2812415" y="5476158"/>
            <a:ext cx="3074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선정 완료 시 입금하면 확정되는 시스템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6728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/>
          <p:cNvSpPr/>
          <p:nvPr/>
        </p:nvSpPr>
        <p:spPr>
          <a:xfrm>
            <a:off x="374470" y="0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374470" y="261257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Chemistry Oven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프로그램 진행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83176" y="1103334"/>
            <a:ext cx="2002972" cy="11434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err="1" smtClean="0">
                <a:solidFill>
                  <a:schemeClr val="tx1"/>
                </a:solidFill>
              </a:rPr>
              <a:t>크루아상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소금빵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단팥빵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스콘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smtClean="0">
                <a:solidFill>
                  <a:schemeClr val="tx1"/>
                </a:solidFill>
              </a:rPr>
              <a:t>초콜릿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708365" y="252548"/>
            <a:ext cx="268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err="1" smtClean="0"/>
              <a:t>케미스트리오븐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699658" y="734002"/>
            <a:ext cx="33083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프로그램 진행 시 참여자만 </a:t>
            </a:r>
            <a:endParaRPr lang="en-US" altLang="ko-KR" dirty="0" smtClean="0"/>
          </a:p>
          <a:p>
            <a:r>
              <a:rPr lang="ko-KR" altLang="en-US" dirty="0" smtClean="0"/>
              <a:t>볼 수 있는 창이 당사자에게만</a:t>
            </a:r>
            <a:r>
              <a:rPr lang="ko-KR" altLang="en-US" dirty="0"/>
              <a:t> </a:t>
            </a:r>
            <a:r>
              <a:rPr lang="ko-KR" altLang="en-US" dirty="0" smtClean="0"/>
              <a:t>적용됨 </a:t>
            </a:r>
            <a:endParaRPr lang="en-US" altLang="ko-KR" dirty="0" smtClean="0"/>
          </a:p>
          <a:p>
            <a:r>
              <a:rPr lang="ko-KR" altLang="en-US" dirty="0" smtClean="0"/>
              <a:t>해당 당일에만 볼 수 있게 됨</a:t>
            </a:r>
            <a:endParaRPr lang="en-US" altLang="ko-KR" dirty="0" smtClean="0"/>
          </a:p>
        </p:txBody>
      </p:sp>
      <p:sp>
        <p:nvSpPr>
          <p:cNvPr id="38" name="직사각형 37"/>
          <p:cNvSpPr/>
          <p:nvPr/>
        </p:nvSpPr>
        <p:spPr>
          <a:xfrm>
            <a:off x="383176" y="2479834"/>
            <a:ext cx="2002972" cy="350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정보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741021" y="2766604"/>
            <a:ext cx="360739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각 캐릭터를 누르면 상대방의 기본 정보와 키워드가 뜨도록 함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남성은 여성</a:t>
            </a:r>
            <a:endParaRPr lang="en-US" altLang="ko-KR" dirty="0" smtClean="0"/>
          </a:p>
          <a:p>
            <a:r>
              <a:rPr lang="ko-KR" altLang="en-US" dirty="0" smtClean="0"/>
              <a:t>여성은 남성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오픈 정보 </a:t>
            </a:r>
            <a:endParaRPr lang="en-US" altLang="ko-KR" dirty="0" smtClean="0"/>
          </a:p>
          <a:p>
            <a:r>
              <a:rPr lang="ko-KR" altLang="en-US" dirty="0" smtClean="0"/>
              <a:t>나이</a:t>
            </a:r>
            <a:r>
              <a:rPr lang="en-US" altLang="ko-KR" dirty="0" smtClean="0"/>
              <a:t> / </a:t>
            </a:r>
            <a:r>
              <a:rPr lang="ko-KR" altLang="en-US" dirty="0" smtClean="0"/>
              <a:t>직종 </a:t>
            </a:r>
            <a:r>
              <a:rPr lang="en-US" altLang="ko-KR" dirty="0"/>
              <a:t>/</a:t>
            </a:r>
            <a:r>
              <a:rPr lang="en-US" altLang="ko-KR" dirty="0" smtClean="0"/>
              <a:t> MBTI / </a:t>
            </a:r>
            <a:r>
              <a:rPr lang="ko-KR" altLang="en-US" dirty="0" smtClean="0"/>
              <a:t>자기소개 키워드 </a:t>
            </a:r>
            <a:r>
              <a:rPr lang="en-US" altLang="ko-KR" dirty="0" smtClean="0"/>
              <a:t>/ </a:t>
            </a:r>
            <a:r>
              <a:rPr lang="ko-KR" altLang="en-US" dirty="0" smtClean="0"/>
              <a:t>이상형 키워드 </a:t>
            </a:r>
            <a:r>
              <a:rPr lang="en-US" altLang="ko-KR" dirty="0" smtClean="0"/>
              <a:t>/ </a:t>
            </a:r>
            <a:r>
              <a:rPr lang="ko-KR" altLang="en-US" dirty="0" smtClean="0"/>
              <a:t>좋아하는 여행지</a:t>
            </a:r>
            <a:r>
              <a:rPr lang="en-US" altLang="ko-KR" dirty="0"/>
              <a:t> </a:t>
            </a:r>
            <a:r>
              <a:rPr lang="en-US" altLang="ko-KR" dirty="0" smtClean="0"/>
              <a:t>/ </a:t>
            </a:r>
            <a:r>
              <a:rPr lang="ko-KR" altLang="en-US" dirty="0" smtClean="0"/>
              <a:t>인생 영화 </a:t>
            </a:r>
            <a:r>
              <a:rPr lang="en-US" altLang="ko-KR" dirty="0" smtClean="0"/>
              <a:t>/ </a:t>
            </a:r>
            <a:r>
              <a:rPr lang="ko-KR" altLang="en-US" dirty="0" smtClean="0"/>
              <a:t>맛집 </a:t>
            </a:r>
            <a:r>
              <a:rPr lang="en-US" altLang="ko-KR" dirty="0" smtClean="0"/>
              <a:t>/ </a:t>
            </a:r>
          </a:p>
          <a:p>
            <a:r>
              <a:rPr lang="ko-KR" altLang="en-US" dirty="0" smtClean="0"/>
              <a:t>나는 </a:t>
            </a:r>
            <a:r>
              <a:rPr lang="ko-KR" altLang="en-US" dirty="0" err="1" smtClean="0"/>
              <a:t>ㅁㅁ</a:t>
            </a:r>
            <a:r>
              <a:rPr lang="ko-KR" altLang="en-US" dirty="0" smtClean="0"/>
              <a:t> 하는 사람이다</a:t>
            </a:r>
            <a:endParaRPr lang="en-US" altLang="ko-KR" dirty="0" smtClean="0"/>
          </a:p>
          <a:p>
            <a:r>
              <a:rPr lang="ko-KR" altLang="en-US" dirty="0" smtClean="0"/>
              <a:t>나는 </a:t>
            </a:r>
            <a:r>
              <a:rPr lang="ko-KR" altLang="en-US" dirty="0" err="1" smtClean="0"/>
              <a:t>ㅇㅇ</a:t>
            </a:r>
            <a:r>
              <a:rPr lang="en-US" altLang="ko-KR" dirty="0"/>
              <a:t> </a:t>
            </a:r>
            <a:r>
              <a:rPr lang="ko-KR" altLang="en-US" dirty="0" smtClean="0"/>
              <a:t>하는 사람이 좋다</a:t>
            </a:r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32" name="직사각형 31"/>
          <p:cNvSpPr/>
          <p:nvPr/>
        </p:nvSpPr>
        <p:spPr>
          <a:xfrm>
            <a:off x="383176" y="3505268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/>
          <p:cNvSpPr/>
          <p:nvPr/>
        </p:nvSpPr>
        <p:spPr>
          <a:xfrm>
            <a:off x="383176" y="3766525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Chemistry Oven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프로그램 진행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391882" y="4608602"/>
            <a:ext cx="2002972" cy="11434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err="1" smtClean="0">
                <a:solidFill>
                  <a:schemeClr val="tx1"/>
                </a:solidFill>
              </a:rPr>
              <a:t>티라미수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피낭시에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마들렌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에그타르트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smtClean="0">
                <a:solidFill>
                  <a:schemeClr val="tx1"/>
                </a:solidFill>
              </a:rPr>
              <a:t>푸딩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391882" y="5985102"/>
            <a:ext cx="2002972" cy="350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정보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6613255" y="0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/>
          <p:cNvSpPr/>
          <p:nvPr/>
        </p:nvSpPr>
        <p:spPr>
          <a:xfrm>
            <a:off x="6613255" y="261257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Chemistry Oven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프로그램 진행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6621961" y="1103334"/>
            <a:ext cx="2002972" cy="11434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err="1" smtClean="0">
                <a:solidFill>
                  <a:schemeClr val="tx1"/>
                </a:solidFill>
              </a:rPr>
              <a:t>크루아상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소금빵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단팥빵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스콘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smtClean="0">
                <a:solidFill>
                  <a:schemeClr val="tx1"/>
                </a:solidFill>
              </a:rPr>
              <a:t>초콜릿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947150" y="252548"/>
            <a:ext cx="268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err="1" smtClean="0"/>
              <a:t>케미스트리오븐</a:t>
            </a:r>
            <a:endParaRPr lang="ko-KR" alt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8938444" y="734002"/>
            <a:ext cx="30741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케미스트리</a:t>
            </a:r>
            <a:r>
              <a:rPr lang="ko-KR" altLang="en-US" dirty="0" smtClean="0"/>
              <a:t> 오븐은 총 세번의 선택을 함</a:t>
            </a:r>
            <a:endParaRPr lang="en-US" altLang="ko-KR" dirty="0" smtClean="0"/>
          </a:p>
          <a:p>
            <a:r>
              <a:rPr lang="ko-KR" altLang="en-US" dirty="0" err="1" smtClean="0"/>
              <a:t>첫이상</a:t>
            </a:r>
            <a:r>
              <a:rPr lang="ko-KR" altLang="en-US" dirty="0" smtClean="0"/>
              <a:t> 선택</a:t>
            </a:r>
            <a:endParaRPr lang="en-US" altLang="ko-KR" dirty="0" smtClean="0"/>
          </a:p>
          <a:p>
            <a:r>
              <a:rPr lang="ko-KR" altLang="en-US" dirty="0" smtClean="0"/>
              <a:t>중간 선택</a:t>
            </a:r>
            <a:endParaRPr lang="en-US" altLang="ko-KR" dirty="0" smtClean="0"/>
          </a:p>
          <a:p>
            <a:r>
              <a:rPr lang="ko-KR" altLang="en-US" dirty="0" smtClean="0"/>
              <a:t>최종선택</a:t>
            </a:r>
            <a:endParaRPr lang="en-US" altLang="ko-KR" dirty="0" smtClean="0"/>
          </a:p>
        </p:txBody>
      </p:sp>
      <p:sp>
        <p:nvSpPr>
          <p:cNvPr id="64" name="직사각형 63"/>
          <p:cNvSpPr/>
          <p:nvPr/>
        </p:nvSpPr>
        <p:spPr>
          <a:xfrm>
            <a:off x="6621961" y="2479834"/>
            <a:ext cx="2002972" cy="350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선택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8954050" y="2566196"/>
            <a:ext cx="329964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각 시간이 되어 내가 선택창을</a:t>
            </a:r>
            <a:endParaRPr lang="en-US" altLang="ko-KR" dirty="0" smtClean="0"/>
          </a:p>
          <a:p>
            <a:r>
              <a:rPr lang="ko-KR" altLang="en-US" dirty="0" smtClean="0"/>
              <a:t>각자에게 보내면</a:t>
            </a:r>
            <a:endParaRPr lang="en-US" altLang="ko-KR" dirty="0" smtClean="0"/>
          </a:p>
          <a:p>
            <a:r>
              <a:rPr lang="ko-KR" altLang="en-US" dirty="0" smtClean="0"/>
              <a:t>각각 선택을 </a:t>
            </a:r>
            <a:r>
              <a:rPr lang="ko-KR" altLang="en-US" dirty="0" err="1" smtClean="0"/>
              <a:t>하게됨</a:t>
            </a:r>
            <a:endParaRPr lang="en-US" altLang="ko-KR" dirty="0" smtClean="0"/>
          </a:p>
          <a:p>
            <a:r>
              <a:rPr lang="ko-KR" altLang="en-US" dirty="0" smtClean="0"/>
              <a:t>선택은 기록이 되고</a:t>
            </a:r>
            <a:endParaRPr lang="en-US" altLang="ko-KR" dirty="0" smtClean="0"/>
          </a:p>
          <a:p>
            <a:r>
              <a:rPr lang="ko-KR" altLang="en-US" dirty="0" err="1" smtClean="0"/>
              <a:t>중간선택은</a:t>
            </a:r>
            <a:r>
              <a:rPr lang="ko-KR" altLang="en-US" dirty="0" smtClean="0"/>
              <a:t> 베이킹 </a:t>
            </a:r>
            <a:r>
              <a:rPr lang="ko-KR" altLang="en-US" dirty="0" err="1" smtClean="0"/>
              <a:t>자리매칭에</a:t>
            </a:r>
            <a:r>
              <a:rPr lang="en-US" altLang="ko-KR" dirty="0"/>
              <a:t> </a:t>
            </a:r>
            <a:r>
              <a:rPr lang="ko-KR" altLang="en-US" dirty="0" smtClean="0"/>
              <a:t>반영됨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베이킹 자리 </a:t>
            </a:r>
            <a:r>
              <a:rPr lang="ko-KR" altLang="en-US" dirty="0" err="1" smtClean="0"/>
              <a:t>배칭</a:t>
            </a:r>
            <a:r>
              <a:rPr lang="ko-KR" altLang="en-US" dirty="0" smtClean="0"/>
              <a:t> </a:t>
            </a:r>
            <a:endParaRPr lang="en-US" altLang="ko-KR" dirty="0"/>
          </a:p>
          <a:p>
            <a:r>
              <a:rPr lang="en-US" altLang="ko-KR" dirty="0" smtClean="0"/>
              <a:t>-1</a:t>
            </a:r>
            <a:r>
              <a:rPr lang="ko-KR" altLang="en-US" dirty="0" smtClean="0"/>
              <a:t>순위</a:t>
            </a:r>
            <a:r>
              <a:rPr lang="en-US" altLang="ko-KR" dirty="0" smtClean="0"/>
              <a:t> </a:t>
            </a:r>
            <a:r>
              <a:rPr lang="ko-KR" altLang="en-US" dirty="0" smtClean="0"/>
              <a:t>중간 선택 쌍방 선택</a:t>
            </a:r>
            <a:endParaRPr lang="en-US" altLang="ko-KR" dirty="0" smtClean="0"/>
          </a:p>
          <a:p>
            <a:r>
              <a:rPr lang="en-US" altLang="ko-KR" dirty="0" smtClean="0"/>
              <a:t>-2</a:t>
            </a:r>
            <a:r>
              <a:rPr lang="ko-KR" altLang="en-US" dirty="0" smtClean="0"/>
              <a:t>순위 첫인상 선택</a:t>
            </a:r>
            <a:endParaRPr lang="en-US" altLang="ko-KR" dirty="0" smtClean="0"/>
          </a:p>
          <a:p>
            <a:r>
              <a:rPr lang="en-US" altLang="ko-KR" dirty="0" smtClean="0"/>
              <a:t>-3</a:t>
            </a:r>
            <a:r>
              <a:rPr lang="ko-KR" altLang="en-US" dirty="0" smtClean="0"/>
              <a:t>순위 </a:t>
            </a:r>
            <a:r>
              <a:rPr lang="ko-KR" altLang="en-US" dirty="0" err="1" smtClean="0"/>
              <a:t>케미점수</a:t>
            </a:r>
            <a:endParaRPr lang="en-US" altLang="ko-KR" dirty="0" smtClean="0"/>
          </a:p>
        </p:txBody>
      </p:sp>
      <p:sp>
        <p:nvSpPr>
          <p:cNvPr id="67" name="직사각형 66"/>
          <p:cNvSpPr/>
          <p:nvPr/>
        </p:nvSpPr>
        <p:spPr>
          <a:xfrm>
            <a:off x="6621961" y="3505268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/>
          <p:cNvSpPr/>
          <p:nvPr/>
        </p:nvSpPr>
        <p:spPr>
          <a:xfrm>
            <a:off x="6621961" y="3766525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Chemistry Oven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프로그램 진행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6630667" y="4608602"/>
            <a:ext cx="2002972" cy="11434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err="1" smtClean="0">
                <a:solidFill>
                  <a:schemeClr val="tx1"/>
                </a:solidFill>
              </a:rPr>
              <a:t>티라미수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피낭시에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마들렌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에그타르트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smtClean="0">
                <a:solidFill>
                  <a:schemeClr val="tx1"/>
                </a:solidFill>
              </a:rPr>
              <a:t>푸딩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6630667" y="5985102"/>
            <a:ext cx="2002972" cy="350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선택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538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/>
          <p:cNvSpPr/>
          <p:nvPr/>
        </p:nvSpPr>
        <p:spPr>
          <a:xfrm>
            <a:off x="374470" y="0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374470" y="261257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Chemistry Oven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프로그램 진행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83176" y="1103334"/>
            <a:ext cx="2002972" cy="11434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>
                <a:solidFill>
                  <a:schemeClr val="tx1"/>
                </a:solidFill>
              </a:rPr>
              <a:t>크루아상</a:t>
            </a:r>
            <a:r>
              <a:rPr lang="ko-KR" altLang="en-US" sz="1400" dirty="0" smtClean="0">
                <a:solidFill>
                  <a:schemeClr val="tx1"/>
                </a:solidFill>
              </a:rPr>
              <a:t> </a:t>
            </a:r>
            <a:r>
              <a:rPr lang="en-US" altLang="ko-KR" sz="1400" dirty="0" smtClean="0">
                <a:solidFill>
                  <a:schemeClr val="tx1"/>
                </a:solidFill>
              </a:rPr>
              <a:t>X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티라미수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708365" y="252548"/>
            <a:ext cx="268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err="1" smtClean="0"/>
              <a:t>케미스트리오븐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699658" y="734002"/>
            <a:ext cx="3308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중간선택</a:t>
            </a:r>
            <a:r>
              <a:rPr lang="ko-KR" altLang="en-US" dirty="0" smtClean="0"/>
              <a:t> 후 베이킹 </a:t>
            </a:r>
            <a:r>
              <a:rPr lang="ko-KR" altLang="en-US" dirty="0" err="1" smtClean="0"/>
              <a:t>자리매칭이</a:t>
            </a:r>
            <a:r>
              <a:rPr lang="ko-KR" altLang="en-US" dirty="0" smtClean="0"/>
              <a:t> 뜨도록 해줌</a:t>
            </a:r>
            <a:endParaRPr lang="en-US" altLang="ko-KR" dirty="0" smtClean="0"/>
          </a:p>
        </p:txBody>
      </p:sp>
      <p:sp>
        <p:nvSpPr>
          <p:cNvPr id="38" name="직사각형 37"/>
          <p:cNvSpPr/>
          <p:nvPr/>
        </p:nvSpPr>
        <p:spPr>
          <a:xfrm>
            <a:off x="383176" y="2479834"/>
            <a:ext cx="2002972" cy="350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>
                <a:solidFill>
                  <a:schemeClr val="tx1"/>
                </a:solidFill>
              </a:rPr>
              <a:t>케미점수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743200" y="3505268"/>
            <a:ext cx="360739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최종 선택을 했을 시엔</a:t>
            </a:r>
            <a:endParaRPr lang="en-US" altLang="ko-KR" dirty="0" smtClean="0"/>
          </a:p>
          <a:p>
            <a:r>
              <a:rPr lang="ko-KR" altLang="en-US" dirty="0" smtClean="0"/>
              <a:t>매칭이 된 사람들은</a:t>
            </a:r>
            <a:endParaRPr lang="en-US" altLang="ko-KR" dirty="0" smtClean="0"/>
          </a:p>
          <a:p>
            <a:r>
              <a:rPr lang="ko-KR" altLang="en-US" dirty="0" smtClean="0"/>
              <a:t>내가 검토하고 승인해줬을 시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err="1" smtClean="0"/>
              <a:t>멘트와</a:t>
            </a:r>
            <a:r>
              <a:rPr lang="ko-KR" altLang="en-US" dirty="0" smtClean="0"/>
              <a:t> 함께 상대방의 </a:t>
            </a:r>
            <a:endParaRPr lang="en-US" altLang="ko-KR" dirty="0" smtClean="0"/>
          </a:p>
          <a:p>
            <a:r>
              <a:rPr lang="ko-KR" altLang="en-US" dirty="0" smtClean="0"/>
              <a:t>이름과 연락처가 전달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매칭이 안됐을 시 </a:t>
            </a:r>
            <a:r>
              <a:rPr lang="ko-KR" altLang="en-US" dirty="0" err="1" smtClean="0"/>
              <a:t>케미가</a:t>
            </a:r>
            <a:r>
              <a:rPr lang="ko-KR" altLang="en-US" dirty="0" smtClean="0"/>
              <a:t> 이루어지지 않았다는 </a:t>
            </a:r>
            <a:r>
              <a:rPr lang="ko-KR" altLang="en-US" dirty="0" err="1" smtClean="0"/>
              <a:t>멘트</a:t>
            </a:r>
            <a:r>
              <a:rPr lang="ko-KR" altLang="en-US" dirty="0" smtClean="0"/>
              <a:t> 전달</a:t>
            </a:r>
            <a:endParaRPr lang="en-US" altLang="ko-KR" dirty="0" smtClean="0"/>
          </a:p>
        </p:txBody>
      </p:sp>
      <p:sp>
        <p:nvSpPr>
          <p:cNvPr id="32" name="직사각형 31"/>
          <p:cNvSpPr/>
          <p:nvPr/>
        </p:nvSpPr>
        <p:spPr>
          <a:xfrm>
            <a:off x="383176" y="3505268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/>
          <p:cNvSpPr/>
          <p:nvPr/>
        </p:nvSpPr>
        <p:spPr>
          <a:xfrm>
            <a:off x="383176" y="3766525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Chemistry Oven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프로그램 진행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391882" y="4608602"/>
            <a:ext cx="2002972" cy="11434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err="1" smtClean="0">
                <a:solidFill>
                  <a:schemeClr val="tx1"/>
                </a:solidFill>
              </a:rPr>
              <a:t>티라미수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피낭시에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마들렌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에그타르트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smtClean="0">
                <a:solidFill>
                  <a:schemeClr val="tx1"/>
                </a:solidFill>
              </a:rPr>
              <a:t>푸딩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391882" y="5985102"/>
            <a:ext cx="2002972" cy="350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정보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6613255" y="0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/>
          <p:cNvSpPr/>
          <p:nvPr/>
        </p:nvSpPr>
        <p:spPr>
          <a:xfrm>
            <a:off x="6613255" y="261257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Chemistry Oven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프로그램 종료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6621961" y="1103334"/>
            <a:ext cx="2002972" cy="11434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>
                <a:solidFill>
                  <a:schemeClr val="tx1"/>
                </a:solidFill>
              </a:rPr>
              <a:t>케미</a:t>
            </a:r>
            <a:r>
              <a:rPr lang="ko-KR" altLang="en-US" sz="1400" dirty="0" smtClean="0">
                <a:solidFill>
                  <a:schemeClr val="tx1"/>
                </a:solidFill>
              </a:rPr>
              <a:t> 리포트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947150" y="252548"/>
            <a:ext cx="268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err="1" smtClean="0"/>
              <a:t>케미스트리오븐</a:t>
            </a:r>
            <a:endParaRPr lang="ko-KR" alt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8938444" y="734002"/>
            <a:ext cx="307412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케미</a:t>
            </a:r>
            <a:r>
              <a:rPr lang="ko-KR" altLang="en-US" dirty="0" smtClean="0"/>
              <a:t> 리포트</a:t>
            </a:r>
            <a:endParaRPr lang="en-US" altLang="ko-KR" dirty="0" smtClean="0"/>
          </a:p>
          <a:p>
            <a:r>
              <a:rPr lang="ko-KR" altLang="en-US" dirty="0" smtClean="0"/>
              <a:t>그날의 선택을 기반으로</a:t>
            </a:r>
            <a:endParaRPr lang="en-US" altLang="ko-KR" dirty="0" smtClean="0"/>
          </a:p>
          <a:p>
            <a:r>
              <a:rPr lang="ko-KR" altLang="en-US" dirty="0" smtClean="0"/>
              <a:t>나의 코멘트와</a:t>
            </a:r>
            <a:endParaRPr lang="en-US" altLang="ko-KR" dirty="0" smtClean="0"/>
          </a:p>
          <a:p>
            <a:r>
              <a:rPr lang="ko-KR" altLang="en-US" dirty="0" smtClean="0"/>
              <a:t>사람들의 소개를 기반으로</a:t>
            </a:r>
            <a:endParaRPr lang="en-US" altLang="ko-KR" dirty="0"/>
          </a:p>
          <a:p>
            <a:r>
              <a:rPr lang="en-US" altLang="ko-KR" dirty="0" smtClean="0"/>
              <a:t>AI</a:t>
            </a:r>
            <a:r>
              <a:rPr lang="ko-KR" altLang="en-US" dirty="0" smtClean="0"/>
              <a:t>가 </a:t>
            </a:r>
            <a:r>
              <a:rPr lang="ko-KR" altLang="en-US" dirty="0" err="1" smtClean="0"/>
              <a:t>케미리포트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작성해줌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각 인원에게 </a:t>
            </a:r>
            <a:r>
              <a:rPr lang="ko-KR" altLang="en-US" dirty="0" err="1" smtClean="0"/>
              <a:t>케미리포트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r>
              <a:rPr lang="ko-KR" altLang="en-US" dirty="0" smtClean="0"/>
              <a:t>전송해주고 후기 링크 전달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err="1" smtClean="0"/>
              <a:t>제미나이</a:t>
            </a:r>
            <a:r>
              <a:rPr lang="ko-KR" altLang="en-US" dirty="0" smtClean="0"/>
              <a:t> 기반으로 </a:t>
            </a:r>
            <a:r>
              <a:rPr lang="ko-KR" altLang="en-US" dirty="0" err="1" smtClean="0"/>
              <a:t>케미리포트</a:t>
            </a:r>
            <a:r>
              <a:rPr lang="ko-KR" altLang="en-US" dirty="0" smtClean="0"/>
              <a:t> 작성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내가 한 선택</a:t>
            </a:r>
            <a:endParaRPr lang="en-US" altLang="ko-KR" dirty="0" smtClean="0"/>
          </a:p>
          <a:p>
            <a:r>
              <a:rPr lang="ko-KR" altLang="en-US" dirty="0" smtClean="0"/>
              <a:t>나를 선택한 사람들</a:t>
            </a:r>
            <a:endParaRPr lang="en-US" altLang="ko-KR" dirty="0"/>
          </a:p>
          <a:p>
            <a:r>
              <a:rPr lang="en-US" altLang="ko-KR" dirty="0" smtClean="0"/>
              <a:t>MBTI</a:t>
            </a:r>
            <a:r>
              <a:rPr lang="ko-KR" altLang="en-US" dirty="0" smtClean="0"/>
              <a:t>적 해석</a:t>
            </a:r>
            <a:endParaRPr lang="en-US" altLang="ko-KR" dirty="0" smtClean="0"/>
          </a:p>
          <a:p>
            <a:r>
              <a:rPr lang="ko-KR" altLang="en-US" dirty="0" smtClean="0"/>
              <a:t>드라마틱 해석</a:t>
            </a:r>
            <a:endParaRPr lang="en-US" altLang="ko-KR" dirty="0" smtClean="0"/>
          </a:p>
          <a:p>
            <a:r>
              <a:rPr lang="ko-KR" altLang="en-US" dirty="0" smtClean="0"/>
              <a:t>베이킹 파트너</a:t>
            </a:r>
            <a:endParaRPr lang="en-US" altLang="ko-KR" dirty="0" smtClean="0"/>
          </a:p>
          <a:p>
            <a:r>
              <a:rPr lang="ko-KR" altLang="en-US" dirty="0" smtClean="0"/>
              <a:t>관계 스냅샷</a:t>
            </a:r>
            <a:endParaRPr lang="en-US" altLang="ko-KR" dirty="0" smtClean="0"/>
          </a:p>
          <a:p>
            <a:r>
              <a:rPr lang="ko-KR" altLang="en-US" dirty="0" smtClean="0"/>
              <a:t>총평 </a:t>
            </a:r>
            <a:endParaRPr lang="en-US" altLang="ko-KR" dirty="0" smtClean="0"/>
          </a:p>
          <a:p>
            <a:r>
              <a:rPr lang="ko-KR" altLang="en-US" dirty="0" smtClean="0"/>
              <a:t>기준으로 작성</a:t>
            </a:r>
            <a:endParaRPr lang="en-US" altLang="ko-KR" dirty="0" smtClean="0"/>
          </a:p>
        </p:txBody>
      </p:sp>
      <p:sp>
        <p:nvSpPr>
          <p:cNvPr id="64" name="직사각형 63"/>
          <p:cNvSpPr/>
          <p:nvPr/>
        </p:nvSpPr>
        <p:spPr>
          <a:xfrm>
            <a:off x="6621961" y="2479834"/>
            <a:ext cx="2002972" cy="350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전송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43200" y="1675073"/>
            <a:ext cx="3308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자리 배치된 사람들은 </a:t>
            </a:r>
            <a:endParaRPr lang="en-US" altLang="ko-KR" dirty="0" smtClean="0"/>
          </a:p>
          <a:p>
            <a:r>
              <a:rPr lang="ko-KR" altLang="en-US" dirty="0" err="1" smtClean="0"/>
              <a:t>케미점수가</a:t>
            </a:r>
            <a:r>
              <a:rPr lang="ko-KR" altLang="en-US" dirty="0" smtClean="0"/>
              <a:t> 뜨게 해줌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4075723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DF2E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817</Words>
  <Application>Microsoft Office PowerPoint</Application>
  <PresentationFormat>와이드스크린</PresentationFormat>
  <Paragraphs>275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Curlz MT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DB400TFA</dc:creator>
  <cp:lastModifiedBy>DB400TFA</cp:lastModifiedBy>
  <cp:revision>14</cp:revision>
  <dcterms:created xsi:type="dcterms:W3CDTF">2026-03-24T04:43:05Z</dcterms:created>
  <dcterms:modified xsi:type="dcterms:W3CDTF">2026-04-28T07:45:06Z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