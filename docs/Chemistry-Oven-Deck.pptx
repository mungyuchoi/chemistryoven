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42" y="48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17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7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5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1.png"/><Relationship Id="rId5" Type="http://schemas.openxmlformats.org/officeDocument/2006/relationships/image" Target="../media/image42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7.png"/><Relationship Id="rId10" Type="http://schemas.openxmlformats.org/officeDocument/2006/relationships/image" Target="../media/image50.png"/><Relationship Id="rId4" Type="http://schemas.openxmlformats.org/officeDocument/2006/relationships/image" Target="../media/image2.png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44.png"/><Relationship Id="rId3" Type="http://schemas.openxmlformats.org/officeDocument/2006/relationships/image" Target="../media/image1.png"/><Relationship Id="rId21" Type="http://schemas.openxmlformats.org/officeDocument/2006/relationships/image" Target="../media/image40.png"/><Relationship Id="rId7" Type="http://schemas.openxmlformats.org/officeDocument/2006/relationships/image" Target="../media/image4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61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6.png"/><Relationship Id="rId5" Type="http://schemas.openxmlformats.org/officeDocument/2006/relationships/image" Target="../media/image51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19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38.png"/><Relationship Id="rId18" Type="http://schemas.openxmlformats.org/officeDocument/2006/relationships/image" Target="../media/image72.png"/><Relationship Id="rId3" Type="http://schemas.openxmlformats.org/officeDocument/2006/relationships/image" Target="../media/image1.png"/><Relationship Id="rId7" Type="http://schemas.openxmlformats.org/officeDocument/2006/relationships/image" Target="../media/image66.png"/><Relationship Id="rId12" Type="http://schemas.openxmlformats.org/officeDocument/2006/relationships/image" Target="../media/image44.png"/><Relationship Id="rId17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40.png"/><Relationship Id="rId10" Type="http://schemas.openxmlformats.org/officeDocument/2006/relationships/image" Target="../media/image69.png"/><Relationship Id="rId4" Type="http://schemas.openxmlformats.org/officeDocument/2006/relationships/image" Target="../media/image2.png"/><Relationship Id="rId9" Type="http://schemas.openxmlformats.org/officeDocument/2006/relationships/image" Target="../media/image68.png"/><Relationship Id="rId1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77.png"/><Relationship Id="rId18" Type="http://schemas.openxmlformats.org/officeDocument/2006/relationships/image" Target="../media/image79.png"/><Relationship Id="rId3" Type="http://schemas.openxmlformats.org/officeDocument/2006/relationships/image" Target="../media/image1.png"/><Relationship Id="rId21" Type="http://schemas.openxmlformats.org/officeDocument/2006/relationships/image" Target="../media/image81.png"/><Relationship Id="rId7" Type="http://schemas.openxmlformats.org/officeDocument/2006/relationships/image" Target="../media/image75.png"/><Relationship Id="rId12" Type="http://schemas.openxmlformats.org/officeDocument/2006/relationships/image" Target="../media/image39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47.pn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38.png"/><Relationship Id="rId5" Type="http://schemas.openxmlformats.org/officeDocument/2006/relationships/image" Target="../media/image74.png"/><Relationship Id="rId15" Type="http://schemas.openxmlformats.org/officeDocument/2006/relationships/image" Target="../media/image78.png"/><Relationship Id="rId10" Type="http://schemas.openxmlformats.org/officeDocument/2006/relationships/image" Target="../media/image44.png"/><Relationship Id="rId19" Type="http://schemas.openxmlformats.org/officeDocument/2006/relationships/image" Target="../media/image80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41.png"/><Relationship Id="rId22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41.png"/><Relationship Id="rId5" Type="http://schemas.openxmlformats.org/officeDocument/2006/relationships/image" Target="../media/image80.png"/><Relationship Id="rId10" Type="http://schemas.openxmlformats.org/officeDocument/2006/relationships/image" Target="../media/image77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41.png"/><Relationship Id="rId5" Type="http://schemas.openxmlformats.org/officeDocument/2006/relationships/image" Target="../media/image81.png"/><Relationship Id="rId10" Type="http://schemas.openxmlformats.org/officeDocument/2006/relationships/image" Target="../media/image77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57.png"/><Relationship Id="rId3" Type="http://schemas.openxmlformats.org/officeDocument/2006/relationships/image" Target="../media/image82.png"/><Relationship Id="rId7" Type="http://schemas.openxmlformats.org/officeDocument/2006/relationships/image" Target="../media/image25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86.png"/><Relationship Id="rId4" Type="http://schemas.openxmlformats.org/officeDocument/2006/relationships/image" Target="../media/image83.png"/><Relationship Id="rId9" Type="http://schemas.openxmlformats.org/officeDocument/2006/relationships/image" Target="../media/image85.png"/><Relationship Id="rId14" Type="http://schemas.openxmlformats.org/officeDocument/2006/relationships/image" Target="../media/image8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8.png"/><Relationship Id="rId7" Type="http://schemas.openxmlformats.org/officeDocument/2006/relationships/image" Target="../media/image84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58.png"/><Relationship Id="rId5" Type="http://schemas.openxmlformats.org/officeDocument/2006/relationships/image" Target="../media/image49.png"/><Relationship Id="rId10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8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60896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 OVEN · APP DESIGN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333500" y="1647825"/>
            <a:ext cx="16089630" cy="283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0" kern="0" spc="-52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디저트보다 더 달콤한 순간.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1333500" y="4752975"/>
            <a:ext cx="10791825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베이킹 매칭 앱 · 전체 UI 시안 홈 · 일정 · 케미Lab · 오브닝 · 마이 · 온보딩 · 관리자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33500" y="9353550"/>
            <a:ext cx="10505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2026.05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86545" y="9353550"/>
            <a:ext cx="326299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Pretendard · Cormorant Garamond · #BC031D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844605"/>
          </a:xfrm>
          <a:prstGeom prst="rect">
            <a:avLst/>
          </a:prstGeom>
          <a:solidFill>
            <a:srgbClr val="8A0214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143000"/>
            <a:ext cx="160896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ONBOARDING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333500" y="1619250"/>
            <a:ext cx="16089630" cy="283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0" kern="0" spc="-5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회원가입 · 케미 분석 9단계 플로우</a:t>
            </a:r>
            <a:endParaRPr lang="en-US" sz="10500" dirty="0"/>
          </a:p>
        </p:txBody>
      </p:sp>
      <p:sp>
        <p:nvSpPr>
          <p:cNvPr id="5" name="Text 3"/>
          <p:cNvSpPr/>
          <p:nvPr/>
        </p:nvSpPr>
        <p:spPr>
          <a:xfrm>
            <a:off x="1333500" y="4686300"/>
            <a:ext cx="1079182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5DFA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설문 대신 카드 · 칩 · 슬라이더로. 마지막엔 나만의 케미 캐릭터로 마무리.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438893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온보딩 9개 화면 한눈에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6573054" y="923925"/>
            <a:ext cx="83864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 → 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400175" y="1619250"/>
            <a:ext cx="2914650" cy="5981700"/>
          </a:xfrm>
          <a:prstGeom prst="roundRect">
            <a:avLst>
              <a:gd name="adj" fmla="val 11765"/>
            </a:avLst>
          </a:prstGeom>
          <a:solidFill>
            <a:srgbClr val="0F0A07"/>
          </a:solidFill>
          <a:ln/>
          <a:effectLst>
            <a:outerShdw blurRad="571500" dist="285750" dir="5400000" algn="bl" rotWithShape="0">
              <a:srgbClr val="3A1E14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28875" y="171450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6" name="Shape 4"/>
          <p:cNvSpPr/>
          <p:nvPr/>
        </p:nvSpPr>
        <p:spPr>
          <a:xfrm>
            <a:off x="1476375" y="1695450"/>
            <a:ext cx="2762250" cy="5829300"/>
          </a:xfrm>
          <a:prstGeom prst="roundRect">
            <a:avLst>
              <a:gd name="adj" fmla="val 9655"/>
            </a:avLst>
          </a:prstGeom>
          <a:solidFill>
            <a:srgbClr val="FFF7EC"/>
          </a:solidFill>
          <a:ln/>
        </p:spPr>
      </p:sp>
      <p:sp>
        <p:nvSpPr>
          <p:cNvPr id="7" name="Shape 5"/>
          <p:cNvSpPr/>
          <p:nvPr/>
        </p:nvSpPr>
        <p:spPr>
          <a:xfrm>
            <a:off x="1476375" y="1695450"/>
            <a:ext cx="2762250" cy="582930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8" name="Text 6"/>
          <p:cNvSpPr/>
          <p:nvPr/>
        </p:nvSpPr>
        <p:spPr>
          <a:xfrm>
            <a:off x="1704975" y="1828800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75" y="1852612"/>
            <a:ext cx="161925" cy="104775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425" y="1852612"/>
            <a:ext cx="228600" cy="10477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6875" y="2247900"/>
            <a:ext cx="190500" cy="190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33575" y="2262188"/>
            <a:ext cx="101679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Chemistry Oven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3569940" y="2281238"/>
            <a:ext cx="55438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3분 소요</a:t>
            </a:r>
            <a:endParaRPr lang="en-US" sz="825" dirty="0"/>
          </a:p>
        </p:txBody>
      </p:sp>
      <p:sp>
        <p:nvSpPr>
          <p:cNvPr id="14" name="Shape 9"/>
          <p:cNvSpPr/>
          <p:nvPr/>
        </p:nvSpPr>
        <p:spPr>
          <a:xfrm>
            <a:off x="1666875" y="2628900"/>
            <a:ext cx="2381250" cy="2857500"/>
          </a:xfrm>
          <a:prstGeom prst="roundRect">
            <a:avLst>
              <a:gd name="adj" fmla="val 11200"/>
            </a:avLst>
          </a:prstGeom>
          <a:solidFill>
            <a:srgbClr val="FBE6D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676400" y="2638425"/>
            <a:ext cx="2362200" cy="2838450"/>
          </a:xfrm>
          <a:prstGeom prst="rect">
            <a:avLst/>
          </a:prstGeom>
          <a:solidFill>
            <a:srgbClr val="FFEED2">
              <a:alpha val="90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1847850" y="2809875"/>
            <a:ext cx="2019300" cy="2495550"/>
          </a:xfrm>
          <a:prstGeom prst="roundRect">
            <a:avLst>
              <a:gd name="adj" fmla="val 10377"/>
            </a:avLst>
          </a:prstGeom>
          <a:ln w="9525">
            <a:solidFill>
              <a:srgbClr val="D9C5AA"/>
            </a:solidFill>
            <a:prstDash val="dash"/>
          </a:ln>
        </p:spPr>
      </p:sp>
      <p:sp>
        <p:nvSpPr>
          <p:cNvPr id="17" name="Text 12"/>
          <p:cNvSpPr/>
          <p:nvPr/>
        </p:nvSpPr>
        <p:spPr>
          <a:xfrm>
            <a:off x="2101900" y="3914775"/>
            <a:ext cx="151120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825" kern="0" spc="41" dirty="0">
                <a:solidFill>
                  <a:srgbClr val="7A1F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ONBOARDING ILLUSTRATION</a:t>
            </a:r>
            <a:endParaRPr lang="en-US" sz="825" dirty="0"/>
          </a:p>
        </p:txBody>
      </p:sp>
      <p:sp>
        <p:nvSpPr>
          <p:cNvPr id="18" name="Text 13"/>
          <p:cNvSpPr/>
          <p:nvPr/>
        </p:nvSpPr>
        <p:spPr>
          <a:xfrm>
            <a:off x="2101900" y="4076700"/>
            <a:ext cx="151120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오븐 앞에서 함께 웃는 한 컷</a:t>
            </a:r>
            <a:endParaRPr lang="en-US" sz="825" dirty="0"/>
          </a:p>
        </p:txBody>
      </p:sp>
      <p:sp>
        <p:nvSpPr>
          <p:cNvPr id="19" name="Text 14"/>
          <p:cNvSpPr/>
          <p:nvPr/>
        </p:nvSpPr>
        <p:spPr>
          <a:xfrm>
            <a:off x="1704975" y="5924550"/>
            <a:ext cx="2381250" cy="782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kern="0" spc="-25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나의 케미를 알아볼까요?</a:t>
            </a:r>
            <a:endParaRPr lang="en-US" sz="2550" dirty="0"/>
          </a:p>
        </p:txBody>
      </p:sp>
      <p:sp>
        <p:nvSpPr>
          <p:cNvPr id="20" name="Text 15"/>
          <p:cNvSpPr/>
          <p:nvPr/>
        </p:nvSpPr>
        <p:spPr>
          <a:xfrm>
            <a:off x="1704975" y="6802636"/>
            <a:ext cx="2381250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0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 가지 질문으로 나의 성향과 잘 맞는 오브닝을 추천해드려요.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1704975" y="743872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0700" y="7524452"/>
            <a:ext cx="171450" cy="1714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162175" y="7472065"/>
            <a:ext cx="13570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케미 분석</a:t>
            </a:r>
            <a:endParaRPr lang="en-US" sz="975" dirty="0"/>
          </a:p>
        </p:txBody>
      </p:sp>
      <p:sp>
        <p:nvSpPr>
          <p:cNvPr id="24" name="Text 18"/>
          <p:cNvSpPr/>
          <p:nvPr/>
        </p:nvSpPr>
        <p:spPr>
          <a:xfrm>
            <a:off x="2162175" y="7614940"/>
            <a:ext cx="135701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케미 캐릭터를 찾아드려요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1704975" y="789592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0700" y="7981652"/>
            <a:ext cx="171450" cy="1714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162175" y="7929265"/>
            <a:ext cx="14556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 우선</a:t>
            </a:r>
            <a:endParaRPr lang="en-US" sz="975" dirty="0"/>
          </a:p>
        </p:txBody>
      </p:sp>
      <p:sp>
        <p:nvSpPr>
          <p:cNvPr id="28" name="Text 21"/>
          <p:cNvSpPr/>
          <p:nvPr/>
        </p:nvSpPr>
        <p:spPr>
          <a:xfrm>
            <a:off x="2162175" y="8072140"/>
            <a:ext cx="14556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연락처/직장 인증으로 안전하게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1704975" y="835312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0700" y="8438852"/>
            <a:ext cx="171450" cy="1714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162175" y="8386465"/>
            <a:ext cx="14875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간편한 입력</a:t>
            </a:r>
            <a:endParaRPr lang="en-US" sz="975" dirty="0"/>
          </a:p>
        </p:txBody>
      </p:sp>
      <p:sp>
        <p:nvSpPr>
          <p:cNvPr id="32" name="Text 24"/>
          <p:cNvSpPr/>
          <p:nvPr/>
        </p:nvSpPr>
        <p:spPr>
          <a:xfrm>
            <a:off x="2162175" y="8529340"/>
            <a:ext cx="148753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대부분 카드와 칩 선택으로 진행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1666875" y="6438900"/>
            <a:ext cx="238125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2542729" y="6610350"/>
            <a:ext cx="6295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1275" dirty="0"/>
          </a:p>
        </p:txBody>
      </p:sp>
      <p:sp>
        <p:nvSpPr>
          <p:cNvPr id="35" name="Text 27"/>
          <p:cNvSpPr/>
          <p:nvPr/>
        </p:nvSpPr>
        <p:spPr>
          <a:xfrm>
            <a:off x="1628775" y="7086600"/>
            <a:ext cx="2457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나중에 입력하기</a:t>
            </a:r>
            <a:endParaRPr lang="en-US" sz="975" dirty="0"/>
          </a:p>
        </p:txBody>
      </p:sp>
      <p:sp>
        <p:nvSpPr>
          <p:cNvPr id="36" name="Shape 28"/>
          <p:cNvSpPr/>
          <p:nvPr/>
        </p:nvSpPr>
        <p:spPr>
          <a:xfrm>
            <a:off x="2219325" y="74009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37" name="Text 29"/>
          <p:cNvSpPr/>
          <p:nvPr/>
        </p:nvSpPr>
        <p:spPr>
          <a:xfrm>
            <a:off x="2608362" y="7734300"/>
            <a:ext cx="49827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b="1" kern="0" spc="83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</a:t>
            </a:r>
            <a:endParaRPr lang="en-US" sz="825" dirty="0"/>
          </a:p>
        </p:txBody>
      </p:sp>
      <p:sp>
        <p:nvSpPr>
          <p:cNvPr id="38" name="Text 30"/>
          <p:cNvSpPr/>
          <p:nvPr/>
        </p:nvSpPr>
        <p:spPr>
          <a:xfrm>
            <a:off x="2734717" y="7896225"/>
            <a:ext cx="3216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4543425" y="1619250"/>
            <a:ext cx="2914650" cy="5981700"/>
          </a:xfrm>
          <a:prstGeom prst="roundRect">
            <a:avLst>
              <a:gd name="adj" fmla="val 11765"/>
            </a:avLst>
          </a:prstGeom>
          <a:solidFill>
            <a:srgbClr val="0F0A07"/>
          </a:solidFill>
          <a:ln/>
          <a:effectLst>
            <a:outerShdw blurRad="571500" dist="285750" dir="5400000" algn="bl" rotWithShape="0">
              <a:srgbClr val="3A1E14">
                <a:alpha val="2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5572125" y="171450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1" name="Shape 33"/>
          <p:cNvSpPr/>
          <p:nvPr/>
        </p:nvSpPr>
        <p:spPr>
          <a:xfrm>
            <a:off x="4619625" y="1695450"/>
            <a:ext cx="2762250" cy="5829300"/>
          </a:xfrm>
          <a:prstGeom prst="roundRect">
            <a:avLst>
              <a:gd name="adj" fmla="val 9655"/>
            </a:avLst>
          </a:prstGeom>
          <a:solidFill>
            <a:srgbClr val="FFF7EC"/>
          </a:solidFill>
          <a:ln/>
        </p:spPr>
      </p:sp>
      <p:sp>
        <p:nvSpPr>
          <p:cNvPr id="42" name="Shape 34"/>
          <p:cNvSpPr/>
          <p:nvPr/>
        </p:nvSpPr>
        <p:spPr>
          <a:xfrm>
            <a:off x="4619625" y="1695450"/>
            <a:ext cx="2762250" cy="582930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43" name="Text 35"/>
          <p:cNvSpPr/>
          <p:nvPr/>
        </p:nvSpPr>
        <p:spPr>
          <a:xfrm>
            <a:off x="4848225" y="1828800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5" y="1852612"/>
            <a:ext cx="161925" cy="104775"/>
          </a:xfrm>
          <a:prstGeom prst="rect">
            <a:avLst/>
          </a:prstGeom>
        </p:spPr>
      </p:pic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675" y="1852612"/>
            <a:ext cx="228600" cy="104775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4772025" y="217170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7275" y="2266950"/>
            <a:ext cx="152400" cy="152400"/>
          </a:xfrm>
          <a:prstGeom prst="rect">
            <a:avLst/>
          </a:prstGeom>
        </p:spPr>
      </p:pic>
      <p:sp>
        <p:nvSpPr>
          <p:cNvPr id="48" name="Shape 37"/>
          <p:cNvSpPr/>
          <p:nvPr/>
        </p:nvSpPr>
        <p:spPr>
          <a:xfrm>
            <a:off x="5229225" y="2314575"/>
            <a:ext cx="1740545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49" name="Shape 38"/>
          <p:cNvSpPr/>
          <p:nvPr/>
        </p:nvSpPr>
        <p:spPr>
          <a:xfrm>
            <a:off x="5229225" y="2314575"/>
            <a:ext cx="243632" cy="5715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50" name="Text 39"/>
          <p:cNvSpPr/>
          <p:nvPr/>
        </p:nvSpPr>
        <p:spPr>
          <a:xfrm>
            <a:off x="7084070" y="2281238"/>
            <a:ext cx="2216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1/7</a:t>
            </a:r>
            <a:endParaRPr lang="en-US" sz="825" dirty="0"/>
          </a:p>
        </p:txBody>
      </p:sp>
      <p:sp>
        <p:nvSpPr>
          <p:cNvPr id="51" name="Text 40"/>
          <p:cNvSpPr/>
          <p:nvPr/>
        </p:nvSpPr>
        <p:spPr>
          <a:xfrm>
            <a:off x="4848225" y="2686050"/>
            <a:ext cx="23812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kern="0" spc="-10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기본 정보를 알려주세요.</a:t>
            </a:r>
            <a:endParaRPr lang="en-US" sz="1950" dirty="0"/>
          </a:p>
        </p:txBody>
      </p:sp>
      <p:sp>
        <p:nvSpPr>
          <p:cNvPr id="52" name="Text 41"/>
          <p:cNvSpPr/>
          <p:nvPr/>
        </p:nvSpPr>
        <p:spPr>
          <a:xfrm>
            <a:off x="4848225" y="3381375"/>
            <a:ext cx="2381250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정확한 회차 추천과 인원 구성에 사용돼요.</a:t>
            </a:r>
            <a:endParaRPr lang="en-US" sz="975" dirty="0"/>
          </a:p>
        </p:txBody>
      </p:sp>
      <p:sp>
        <p:nvSpPr>
          <p:cNvPr id="53" name="Text 42"/>
          <p:cNvSpPr/>
          <p:nvPr/>
        </p:nvSpPr>
        <p:spPr>
          <a:xfrm>
            <a:off x="4810125" y="3954214"/>
            <a:ext cx="3067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</a:t>
            </a:r>
            <a:endParaRPr lang="en-US" sz="1050" dirty="0"/>
          </a:p>
        </p:txBody>
      </p:sp>
      <p:sp>
        <p:nvSpPr>
          <p:cNvPr id="54" name="Shape 43"/>
          <p:cNvSpPr/>
          <p:nvPr/>
        </p:nvSpPr>
        <p:spPr>
          <a:xfrm>
            <a:off x="4810125" y="4201864"/>
            <a:ext cx="238125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4810125" y="4878139"/>
            <a:ext cx="3067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성별</a:t>
            </a:r>
            <a:endParaRPr lang="en-US" sz="1050" dirty="0"/>
          </a:p>
        </p:txBody>
      </p:sp>
      <p:sp>
        <p:nvSpPr>
          <p:cNvPr id="56" name="Shape 45"/>
          <p:cNvSpPr/>
          <p:nvPr/>
        </p:nvSpPr>
        <p:spPr>
          <a:xfrm>
            <a:off x="4810125" y="5125789"/>
            <a:ext cx="1084808" cy="685800"/>
          </a:xfrm>
          <a:prstGeom prst="roundRect">
            <a:avLst>
              <a:gd name="adj" fmla="val 25000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4972050" y="529723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7775" y="5382964"/>
            <a:ext cx="171450" cy="171450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5429250" y="5392489"/>
            <a:ext cx="3799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남성</a:t>
            </a:r>
            <a:endParaRPr lang="en-US" sz="1050" dirty="0"/>
          </a:p>
        </p:txBody>
      </p:sp>
      <p:sp>
        <p:nvSpPr>
          <p:cNvPr id="60" name="Shape 48"/>
          <p:cNvSpPr/>
          <p:nvPr/>
        </p:nvSpPr>
        <p:spPr>
          <a:xfrm>
            <a:off x="5990183" y="5125789"/>
            <a:ext cx="1201192" cy="685800"/>
          </a:xfrm>
          <a:prstGeom prst="roundRect">
            <a:avLst>
              <a:gd name="adj" fmla="val 25000"/>
            </a:avLst>
          </a:prstGeom>
          <a:solidFill>
            <a:srgbClr val="7A1F2B"/>
          </a:solidFill>
          <a:ln w="19050">
            <a:solidFill>
              <a:srgbClr val="F5DFA8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6161633" y="529723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5DFA8">
              <a:alpha val="18000"/>
            </a:srgbClr>
          </a:solidFill>
          <a:ln/>
        </p:spPr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7358" y="5382964"/>
            <a:ext cx="171450" cy="171450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6618833" y="5316289"/>
            <a:ext cx="1915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여성</a:t>
            </a:r>
            <a:endParaRPr lang="en-US" sz="1050" dirty="0"/>
          </a:p>
        </p:txBody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8475" y="5382964"/>
            <a:ext cx="171450" cy="171450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4810125" y="6021139"/>
            <a:ext cx="537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생년월일</a:t>
            </a:r>
            <a:endParaRPr lang="en-US" sz="1050" dirty="0"/>
          </a:p>
        </p:txBody>
      </p:sp>
      <p:sp>
        <p:nvSpPr>
          <p:cNvPr id="66" name="Shape 52"/>
          <p:cNvSpPr/>
          <p:nvPr/>
        </p:nvSpPr>
        <p:spPr>
          <a:xfrm>
            <a:off x="4810125" y="6268789"/>
            <a:ext cx="219075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7" name="Shape 53"/>
          <p:cNvSpPr/>
          <p:nvPr/>
        </p:nvSpPr>
        <p:spPr>
          <a:xfrm>
            <a:off x="7077075" y="6268789"/>
            <a:ext cx="219075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8" name="Shape 54"/>
          <p:cNvSpPr/>
          <p:nvPr/>
        </p:nvSpPr>
        <p:spPr>
          <a:xfrm>
            <a:off x="9344025" y="6268789"/>
            <a:ext cx="219075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9" name="Text 55"/>
          <p:cNvSpPr/>
          <p:nvPr/>
        </p:nvSpPr>
        <p:spPr>
          <a:xfrm>
            <a:off x="4810125" y="6945064"/>
            <a:ext cx="1915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</a:t>
            </a:r>
            <a:endParaRPr lang="en-US" sz="1050" dirty="0"/>
          </a:p>
        </p:txBody>
      </p:sp>
      <p:sp>
        <p:nvSpPr>
          <p:cNvPr id="70" name="Text 56"/>
          <p:cNvSpPr/>
          <p:nvPr/>
        </p:nvSpPr>
        <p:spPr>
          <a:xfrm>
            <a:off x="7051625" y="6973639"/>
            <a:ext cx="2159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</a:t>
            </a:r>
            <a:endParaRPr lang="en-US" sz="825" dirty="0"/>
          </a:p>
        </p:txBody>
      </p:sp>
      <p:sp>
        <p:nvSpPr>
          <p:cNvPr id="71" name="Shape 57"/>
          <p:cNvSpPr/>
          <p:nvPr/>
        </p:nvSpPr>
        <p:spPr>
          <a:xfrm>
            <a:off x="4810125" y="7192714"/>
            <a:ext cx="238125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2" name="Text 58"/>
          <p:cNvSpPr/>
          <p:nvPr/>
        </p:nvSpPr>
        <p:spPr>
          <a:xfrm>
            <a:off x="6915150" y="7354639"/>
            <a:ext cx="2413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</a:t>
            </a:r>
            <a:endParaRPr lang="en-US" sz="975" dirty="0"/>
          </a:p>
        </p:txBody>
      </p:sp>
      <p:sp>
        <p:nvSpPr>
          <p:cNvPr id="73" name="Text 59"/>
          <p:cNvSpPr/>
          <p:nvPr/>
        </p:nvSpPr>
        <p:spPr>
          <a:xfrm>
            <a:off x="4810125" y="7868989"/>
            <a:ext cx="56792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거주 지역</a:t>
            </a:r>
            <a:endParaRPr lang="en-US" sz="1050" dirty="0"/>
          </a:p>
        </p:txBody>
      </p:sp>
      <p:sp>
        <p:nvSpPr>
          <p:cNvPr id="74" name="Text 60"/>
          <p:cNvSpPr/>
          <p:nvPr/>
        </p:nvSpPr>
        <p:spPr>
          <a:xfrm>
            <a:off x="6589812" y="7897564"/>
            <a:ext cx="6777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복수 선택 가능</a:t>
            </a:r>
            <a:endParaRPr lang="en-US" sz="825" dirty="0"/>
          </a:p>
        </p:txBody>
      </p:sp>
      <p:sp>
        <p:nvSpPr>
          <p:cNvPr id="75" name="Shape 61"/>
          <p:cNvSpPr/>
          <p:nvPr/>
        </p:nvSpPr>
        <p:spPr>
          <a:xfrm>
            <a:off x="4810125" y="8116639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76" name="Text 62"/>
          <p:cNvSpPr/>
          <p:nvPr/>
        </p:nvSpPr>
        <p:spPr>
          <a:xfrm>
            <a:off x="4914900" y="8221414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강남권</a:t>
            </a:r>
            <a:endParaRPr lang="en-US" sz="975" dirty="0"/>
          </a:p>
        </p:txBody>
      </p:sp>
      <p:sp>
        <p:nvSpPr>
          <p:cNvPr id="77" name="Shape 63"/>
          <p:cNvSpPr/>
          <p:nvPr/>
        </p:nvSpPr>
        <p:spPr>
          <a:xfrm>
            <a:off x="5736580" y="8116639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8" name="Text 64"/>
          <p:cNvSpPr/>
          <p:nvPr/>
        </p:nvSpPr>
        <p:spPr>
          <a:xfrm>
            <a:off x="5841355" y="8221414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강북권</a:t>
            </a:r>
            <a:endParaRPr lang="en-US" sz="975" dirty="0"/>
          </a:p>
        </p:txBody>
      </p:sp>
      <p:sp>
        <p:nvSpPr>
          <p:cNvPr id="79" name="Shape 65"/>
          <p:cNvSpPr/>
          <p:nvPr/>
        </p:nvSpPr>
        <p:spPr>
          <a:xfrm>
            <a:off x="4810125" y="8545264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0" name="Text 66"/>
          <p:cNvSpPr/>
          <p:nvPr/>
        </p:nvSpPr>
        <p:spPr>
          <a:xfrm>
            <a:off x="4914900" y="8650039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서남권</a:t>
            </a:r>
            <a:endParaRPr lang="en-US" sz="975" dirty="0"/>
          </a:p>
        </p:txBody>
      </p:sp>
      <p:sp>
        <p:nvSpPr>
          <p:cNvPr id="81" name="Shape 67"/>
          <p:cNvSpPr/>
          <p:nvPr/>
        </p:nvSpPr>
        <p:spPr>
          <a:xfrm>
            <a:off x="5736580" y="8545264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2" name="Text 68"/>
          <p:cNvSpPr/>
          <p:nvPr/>
        </p:nvSpPr>
        <p:spPr>
          <a:xfrm>
            <a:off x="5841355" y="8650039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동북권</a:t>
            </a:r>
            <a:endParaRPr lang="en-US" sz="975" dirty="0"/>
          </a:p>
        </p:txBody>
      </p:sp>
      <p:sp>
        <p:nvSpPr>
          <p:cNvPr id="83" name="Shape 69"/>
          <p:cNvSpPr/>
          <p:nvPr/>
        </p:nvSpPr>
        <p:spPr>
          <a:xfrm>
            <a:off x="4810125" y="8973889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4" name="Text 70"/>
          <p:cNvSpPr/>
          <p:nvPr/>
        </p:nvSpPr>
        <p:spPr>
          <a:xfrm>
            <a:off x="4914900" y="9078664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 동부</a:t>
            </a:r>
            <a:endParaRPr lang="en-US" sz="975" dirty="0"/>
          </a:p>
        </p:txBody>
      </p:sp>
      <p:sp>
        <p:nvSpPr>
          <p:cNvPr id="85" name="Shape 71"/>
          <p:cNvSpPr/>
          <p:nvPr/>
        </p:nvSpPr>
        <p:spPr>
          <a:xfrm>
            <a:off x="5629573" y="8973889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6" name="Text 72"/>
          <p:cNvSpPr/>
          <p:nvPr/>
        </p:nvSpPr>
        <p:spPr>
          <a:xfrm>
            <a:off x="5734348" y="9078664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 서부</a:t>
            </a:r>
            <a:endParaRPr lang="en-US" sz="975" dirty="0"/>
          </a:p>
        </p:txBody>
      </p:sp>
      <p:sp>
        <p:nvSpPr>
          <p:cNvPr id="87" name="Shape 73"/>
          <p:cNvSpPr/>
          <p:nvPr/>
        </p:nvSpPr>
        <p:spPr>
          <a:xfrm>
            <a:off x="6449020" y="89738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8" name="Text 74"/>
          <p:cNvSpPr/>
          <p:nvPr/>
        </p:nvSpPr>
        <p:spPr>
          <a:xfrm>
            <a:off x="6553795" y="90786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인천</a:t>
            </a:r>
            <a:endParaRPr lang="en-US" sz="975" dirty="0"/>
          </a:p>
        </p:txBody>
      </p:sp>
      <p:sp>
        <p:nvSpPr>
          <p:cNvPr id="89" name="Shape 75"/>
          <p:cNvSpPr/>
          <p:nvPr/>
        </p:nvSpPr>
        <p:spPr>
          <a:xfrm>
            <a:off x="4810125" y="940251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0" name="Text 76"/>
          <p:cNvSpPr/>
          <p:nvPr/>
        </p:nvSpPr>
        <p:spPr>
          <a:xfrm>
            <a:off x="4914900" y="950728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</a:t>
            </a:r>
            <a:endParaRPr lang="en-US" sz="975" dirty="0"/>
          </a:p>
        </p:txBody>
      </p:sp>
      <p:sp>
        <p:nvSpPr>
          <p:cNvPr id="91" name="Shape 77"/>
          <p:cNvSpPr/>
          <p:nvPr/>
        </p:nvSpPr>
        <p:spPr>
          <a:xfrm>
            <a:off x="4810125" y="6724650"/>
            <a:ext cx="238125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92" name="Text 78"/>
          <p:cNvSpPr/>
          <p:nvPr/>
        </p:nvSpPr>
        <p:spPr>
          <a:xfrm>
            <a:off x="4962525" y="6724650"/>
            <a:ext cx="2076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1275" dirty="0"/>
          </a:p>
        </p:txBody>
      </p:sp>
      <p:sp>
        <p:nvSpPr>
          <p:cNvPr id="93" name="Shape 79"/>
          <p:cNvSpPr/>
          <p:nvPr/>
        </p:nvSpPr>
        <p:spPr>
          <a:xfrm>
            <a:off x="5362575" y="74009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94" name="Text 80"/>
          <p:cNvSpPr/>
          <p:nvPr/>
        </p:nvSpPr>
        <p:spPr>
          <a:xfrm>
            <a:off x="5698703" y="7734300"/>
            <a:ext cx="6040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b="1" kern="0" spc="83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25" dirty="0"/>
          </a:p>
        </p:txBody>
      </p:sp>
      <p:sp>
        <p:nvSpPr>
          <p:cNvPr id="95" name="Text 81"/>
          <p:cNvSpPr/>
          <p:nvPr/>
        </p:nvSpPr>
        <p:spPr>
          <a:xfrm>
            <a:off x="5736803" y="7896225"/>
            <a:ext cx="6040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정보</a:t>
            </a:r>
            <a:endParaRPr lang="en-US" sz="1050" dirty="0"/>
          </a:p>
        </p:txBody>
      </p:sp>
      <p:sp>
        <p:nvSpPr>
          <p:cNvPr id="96" name="Shape 82"/>
          <p:cNvSpPr/>
          <p:nvPr/>
        </p:nvSpPr>
        <p:spPr>
          <a:xfrm>
            <a:off x="7686675" y="1619250"/>
            <a:ext cx="2914650" cy="5981700"/>
          </a:xfrm>
          <a:prstGeom prst="roundRect">
            <a:avLst>
              <a:gd name="adj" fmla="val 11765"/>
            </a:avLst>
          </a:prstGeom>
          <a:solidFill>
            <a:srgbClr val="0F0A07"/>
          </a:solidFill>
          <a:ln/>
          <a:effectLst>
            <a:outerShdw blurRad="571500" dist="285750" dir="5400000" algn="bl" rotWithShape="0">
              <a:srgbClr val="3A1E14">
                <a:alpha val="20000"/>
              </a:srgbClr>
            </a:outerShdw>
          </a:effectLst>
        </p:spPr>
      </p:sp>
      <p:sp>
        <p:nvSpPr>
          <p:cNvPr id="97" name="Shape 83"/>
          <p:cNvSpPr/>
          <p:nvPr/>
        </p:nvSpPr>
        <p:spPr>
          <a:xfrm>
            <a:off x="8715375" y="171450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98" name="Shape 84"/>
          <p:cNvSpPr/>
          <p:nvPr/>
        </p:nvSpPr>
        <p:spPr>
          <a:xfrm>
            <a:off x="7762875" y="1695450"/>
            <a:ext cx="2762250" cy="5829300"/>
          </a:xfrm>
          <a:prstGeom prst="roundRect">
            <a:avLst>
              <a:gd name="adj" fmla="val 9655"/>
            </a:avLst>
          </a:prstGeom>
          <a:solidFill>
            <a:srgbClr val="FFF7EC"/>
          </a:solidFill>
          <a:ln/>
        </p:spPr>
      </p:sp>
      <p:sp>
        <p:nvSpPr>
          <p:cNvPr id="99" name="Shape 85"/>
          <p:cNvSpPr/>
          <p:nvPr/>
        </p:nvSpPr>
        <p:spPr>
          <a:xfrm>
            <a:off x="7762875" y="1695450"/>
            <a:ext cx="2762250" cy="582930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100" name="Text 86"/>
          <p:cNvSpPr/>
          <p:nvPr/>
        </p:nvSpPr>
        <p:spPr>
          <a:xfrm>
            <a:off x="7991475" y="1828800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101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5" y="1852612"/>
            <a:ext cx="161925" cy="104775"/>
          </a:xfrm>
          <a:prstGeom prst="rect">
            <a:avLst/>
          </a:prstGeom>
        </p:spPr>
      </p:pic>
      <p:pic>
        <p:nvPicPr>
          <p:cNvPr id="10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7925" y="1852612"/>
            <a:ext cx="228600" cy="104775"/>
          </a:xfrm>
          <a:prstGeom prst="rect">
            <a:avLst/>
          </a:prstGeom>
        </p:spPr>
      </p:pic>
      <p:sp>
        <p:nvSpPr>
          <p:cNvPr id="103" name="Shape 87"/>
          <p:cNvSpPr/>
          <p:nvPr/>
        </p:nvSpPr>
        <p:spPr>
          <a:xfrm>
            <a:off x="7915275" y="217170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04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0525" y="2266950"/>
            <a:ext cx="152400" cy="152400"/>
          </a:xfrm>
          <a:prstGeom prst="rect">
            <a:avLst/>
          </a:prstGeom>
        </p:spPr>
      </p:pic>
      <p:sp>
        <p:nvSpPr>
          <p:cNvPr id="105" name="Shape 88"/>
          <p:cNvSpPr/>
          <p:nvPr/>
        </p:nvSpPr>
        <p:spPr>
          <a:xfrm>
            <a:off x="8372475" y="2314575"/>
            <a:ext cx="1725513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06" name="Shape 89"/>
          <p:cNvSpPr/>
          <p:nvPr/>
        </p:nvSpPr>
        <p:spPr>
          <a:xfrm>
            <a:off x="8372475" y="2314575"/>
            <a:ext cx="500360" cy="5715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07" name="Text 90"/>
          <p:cNvSpPr/>
          <p:nvPr/>
        </p:nvSpPr>
        <p:spPr>
          <a:xfrm>
            <a:off x="10212288" y="2281238"/>
            <a:ext cx="23663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2/7</a:t>
            </a:r>
            <a:endParaRPr lang="en-US" sz="825" dirty="0"/>
          </a:p>
        </p:txBody>
      </p:sp>
      <p:sp>
        <p:nvSpPr>
          <p:cNvPr id="108" name="Text 91"/>
          <p:cNvSpPr/>
          <p:nvPr/>
        </p:nvSpPr>
        <p:spPr>
          <a:xfrm>
            <a:off x="7991475" y="2686050"/>
            <a:ext cx="23812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kern="0" spc="-10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나의 일상 리듬을 알려주세요.</a:t>
            </a:r>
            <a:endParaRPr lang="en-US" sz="1950" dirty="0"/>
          </a:p>
        </p:txBody>
      </p:sp>
      <p:sp>
        <p:nvSpPr>
          <p:cNvPr id="109" name="Text 92"/>
          <p:cNvSpPr/>
          <p:nvPr/>
        </p:nvSpPr>
        <p:spPr>
          <a:xfrm>
            <a:off x="7991475" y="3381375"/>
            <a:ext cx="2381250" cy="42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비슷한 시간대에 편하게 참여할 수 있는 회차를 추천해드려요.</a:t>
            </a:r>
            <a:endParaRPr lang="en-US" sz="975" dirty="0"/>
          </a:p>
        </p:txBody>
      </p:sp>
      <p:sp>
        <p:nvSpPr>
          <p:cNvPr id="110" name="Text 93"/>
          <p:cNvSpPr/>
          <p:nvPr/>
        </p:nvSpPr>
        <p:spPr>
          <a:xfrm>
            <a:off x="7953375" y="4146054"/>
            <a:ext cx="4220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직업군</a:t>
            </a:r>
            <a:endParaRPr lang="en-US" sz="1050" dirty="0"/>
          </a:p>
        </p:txBody>
      </p:sp>
      <p:sp>
        <p:nvSpPr>
          <p:cNvPr id="111" name="Shape 94"/>
          <p:cNvSpPr/>
          <p:nvPr/>
        </p:nvSpPr>
        <p:spPr>
          <a:xfrm>
            <a:off x="7953375" y="4393704"/>
            <a:ext cx="75827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12" name="Text 95"/>
          <p:cNvSpPr/>
          <p:nvPr/>
        </p:nvSpPr>
        <p:spPr>
          <a:xfrm>
            <a:off x="8058150" y="4498479"/>
            <a:ext cx="54872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의료/보건</a:t>
            </a:r>
            <a:endParaRPr lang="en-US" sz="975" dirty="0"/>
          </a:p>
        </p:txBody>
      </p:sp>
      <p:sp>
        <p:nvSpPr>
          <p:cNvPr id="113" name="Shape 96"/>
          <p:cNvSpPr/>
          <p:nvPr/>
        </p:nvSpPr>
        <p:spPr>
          <a:xfrm>
            <a:off x="8787854" y="4393704"/>
            <a:ext cx="645021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114" name="Text 97"/>
          <p:cNvSpPr/>
          <p:nvPr/>
        </p:nvSpPr>
        <p:spPr>
          <a:xfrm>
            <a:off x="8892629" y="4498479"/>
            <a:ext cx="4354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IT/개발</a:t>
            </a:r>
            <a:endParaRPr lang="en-US" sz="975" dirty="0"/>
          </a:p>
        </p:txBody>
      </p:sp>
      <p:sp>
        <p:nvSpPr>
          <p:cNvPr id="115" name="Shape 98"/>
          <p:cNvSpPr/>
          <p:nvPr/>
        </p:nvSpPr>
        <p:spPr>
          <a:xfrm>
            <a:off x="9509075" y="439370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16" name="Text 99"/>
          <p:cNvSpPr/>
          <p:nvPr/>
        </p:nvSpPr>
        <p:spPr>
          <a:xfrm>
            <a:off x="9613850" y="449847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</a:t>
            </a:r>
            <a:endParaRPr lang="en-US" sz="975" dirty="0"/>
          </a:p>
        </p:txBody>
      </p:sp>
      <p:sp>
        <p:nvSpPr>
          <p:cNvPr id="117" name="Shape 100"/>
          <p:cNvSpPr/>
          <p:nvPr/>
        </p:nvSpPr>
        <p:spPr>
          <a:xfrm>
            <a:off x="7953375" y="4822329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18" name="Text 101"/>
          <p:cNvSpPr/>
          <p:nvPr/>
        </p:nvSpPr>
        <p:spPr>
          <a:xfrm>
            <a:off x="8058150" y="4927104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공공기관</a:t>
            </a:r>
            <a:endParaRPr lang="en-US" sz="975" dirty="0"/>
          </a:p>
        </p:txBody>
      </p:sp>
      <p:sp>
        <p:nvSpPr>
          <p:cNvPr id="119" name="Shape 102"/>
          <p:cNvSpPr/>
          <p:nvPr/>
        </p:nvSpPr>
        <p:spPr>
          <a:xfrm>
            <a:off x="8743504" y="482232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20" name="Text 103"/>
          <p:cNvSpPr/>
          <p:nvPr/>
        </p:nvSpPr>
        <p:spPr>
          <a:xfrm>
            <a:off x="8848279" y="492710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</a:t>
            </a:r>
            <a:endParaRPr lang="en-US" sz="975" dirty="0"/>
          </a:p>
        </p:txBody>
      </p:sp>
      <p:sp>
        <p:nvSpPr>
          <p:cNvPr id="121" name="Shape 104"/>
          <p:cNvSpPr/>
          <p:nvPr/>
        </p:nvSpPr>
        <p:spPr>
          <a:xfrm>
            <a:off x="9319617" y="4822329"/>
            <a:ext cx="97229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22" name="Text 105"/>
          <p:cNvSpPr/>
          <p:nvPr/>
        </p:nvSpPr>
        <p:spPr>
          <a:xfrm>
            <a:off x="9424392" y="4927104"/>
            <a:ext cx="76274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디자인/콘텐츠</a:t>
            </a:r>
            <a:endParaRPr lang="en-US" sz="975" dirty="0"/>
          </a:p>
        </p:txBody>
      </p:sp>
      <p:sp>
        <p:nvSpPr>
          <p:cNvPr id="123" name="Shape 106"/>
          <p:cNvSpPr/>
          <p:nvPr/>
        </p:nvSpPr>
        <p:spPr>
          <a:xfrm>
            <a:off x="7953375" y="5250954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24" name="Text 107"/>
          <p:cNvSpPr/>
          <p:nvPr/>
        </p:nvSpPr>
        <p:spPr>
          <a:xfrm>
            <a:off x="8058150" y="5355729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</a:t>
            </a:r>
            <a:endParaRPr lang="en-US" sz="975" dirty="0"/>
          </a:p>
        </p:txBody>
      </p:sp>
      <p:sp>
        <p:nvSpPr>
          <p:cNvPr id="125" name="Shape 108"/>
          <p:cNvSpPr/>
          <p:nvPr/>
        </p:nvSpPr>
        <p:spPr>
          <a:xfrm>
            <a:off x="8636496" y="5250954"/>
            <a:ext cx="865287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26" name="Text 109"/>
          <p:cNvSpPr/>
          <p:nvPr/>
        </p:nvSpPr>
        <p:spPr>
          <a:xfrm>
            <a:off x="8741271" y="5355729"/>
            <a:ext cx="6557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자영업/사업</a:t>
            </a:r>
            <a:endParaRPr lang="en-US" sz="975" dirty="0"/>
          </a:p>
        </p:txBody>
      </p:sp>
      <p:sp>
        <p:nvSpPr>
          <p:cNvPr id="127" name="Shape 110"/>
          <p:cNvSpPr/>
          <p:nvPr/>
        </p:nvSpPr>
        <p:spPr>
          <a:xfrm>
            <a:off x="9577983" y="5250954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28" name="Text 111"/>
          <p:cNvSpPr/>
          <p:nvPr/>
        </p:nvSpPr>
        <p:spPr>
          <a:xfrm>
            <a:off x="9682758" y="5355729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프리랜서</a:t>
            </a:r>
            <a:endParaRPr lang="en-US" sz="975" dirty="0"/>
          </a:p>
        </p:txBody>
      </p:sp>
      <p:sp>
        <p:nvSpPr>
          <p:cNvPr id="129" name="Shape 112"/>
          <p:cNvSpPr/>
          <p:nvPr/>
        </p:nvSpPr>
        <p:spPr>
          <a:xfrm>
            <a:off x="7953375" y="567957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30" name="Text 113"/>
          <p:cNvSpPr/>
          <p:nvPr/>
        </p:nvSpPr>
        <p:spPr>
          <a:xfrm>
            <a:off x="8058150" y="578435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</a:t>
            </a:r>
            <a:endParaRPr lang="en-US" sz="975" dirty="0"/>
          </a:p>
        </p:txBody>
      </p:sp>
      <p:sp>
        <p:nvSpPr>
          <p:cNvPr id="131" name="Shape 114"/>
          <p:cNvSpPr/>
          <p:nvPr/>
        </p:nvSpPr>
        <p:spPr>
          <a:xfrm>
            <a:off x="8529489" y="567957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32" name="Text 115"/>
          <p:cNvSpPr/>
          <p:nvPr/>
        </p:nvSpPr>
        <p:spPr>
          <a:xfrm>
            <a:off x="8634264" y="578435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</a:t>
            </a:r>
            <a:endParaRPr lang="en-US" sz="975" dirty="0"/>
          </a:p>
        </p:txBody>
      </p:sp>
      <p:sp>
        <p:nvSpPr>
          <p:cNvPr id="133" name="Text 116"/>
          <p:cNvSpPr/>
          <p:nvPr/>
        </p:nvSpPr>
        <p:spPr>
          <a:xfrm>
            <a:off x="7953375" y="6241554"/>
            <a:ext cx="64814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직장 / 파트</a:t>
            </a:r>
            <a:endParaRPr lang="en-US" sz="1050" dirty="0"/>
          </a:p>
        </p:txBody>
      </p:sp>
      <p:sp>
        <p:nvSpPr>
          <p:cNvPr id="134" name="Text 117"/>
          <p:cNvSpPr/>
          <p:nvPr/>
        </p:nvSpPr>
        <p:spPr>
          <a:xfrm>
            <a:off x="9671596" y="6270129"/>
            <a:ext cx="7392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공개되지 않아요</a:t>
            </a:r>
            <a:endParaRPr lang="en-US" sz="825" dirty="0"/>
          </a:p>
        </p:txBody>
      </p:sp>
      <p:sp>
        <p:nvSpPr>
          <p:cNvPr id="135" name="Shape 118"/>
          <p:cNvSpPr/>
          <p:nvPr/>
        </p:nvSpPr>
        <p:spPr>
          <a:xfrm>
            <a:off x="7953375" y="6489204"/>
            <a:ext cx="238125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36" name="Text 119"/>
          <p:cNvSpPr/>
          <p:nvPr/>
        </p:nvSpPr>
        <p:spPr>
          <a:xfrm>
            <a:off x="7953375" y="7165479"/>
            <a:ext cx="56792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근무 패턴</a:t>
            </a:r>
            <a:endParaRPr lang="en-US" sz="1050" dirty="0"/>
          </a:p>
        </p:txBody>
      </p:sp>
      <p:sp>
        <p:nvSpPr>
          <p:cNvPr id="137" name="Shape 120"/>
          <p:cNvSpPr/>
          <p:nvPr/>
        </p:nvSpPr>
        <p:spPr>
          <a:xfrm>
            <a:off x="7953375" y="7413129"/>
            <a:ext cx="1201192" cy="1819275"/>
          </a:xfrm>
          <a:prstGeom prst="roundRect">
            <a:avLst>
              <a:gd name="adj" fmla="val 14273"/>
            </a:avLst>
          </a:prstGeom>
          <a:solidFill>
            <a:srgbClr val="7A1F2B"/>
          </a:solidFill>
          <a:ln w="19050">
            <a:solidFill>
              <a:srgbClr val="F5DFA8"/>
            </a:solidFill>
            <a:prstDash val="solid"/>
          </a:ln>
        </p:spPr>
      </p:sp>
      <p:sp>
        <p:nvSpPr>
          <p:cNvPr id="138" name="Shape 121"/>
          <p:cNvSpPr/>
          <p:nvPr/>
        </p:nvSpPr>
        <p:spPr>
          <a:xfrm>
            <a:off x="8124825" y="8151316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5DFA8">
              <a:alpha val="18000"/>
            </a:srgbClr>
          </a:solidFill>
          <a:ln/>
        </p:spPr>
      </p:sp>
      <p:pic>
        <p:nvPicPr>
          <p:cNvPr id="139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0550" y="8237041"/>
            <a:ext cx="171450" cy="171450"/>
          </a:xfrm>
          <a:prstGeom prst="rect">
            <a:avLst/>
          </a:prstGeom>
        </p:spPr>
      </p:pic>
      <p:sp>
        <p:nvSpPr>
          <p:cNvPr id="140" name="Text 122"/>
          <p:cNvSpPr/>
          <p:nvPr/>
        </p:nvSpPr>
        <p:spPr>
          <a:xfrm>
            <a:off x="8582025" y="7584579"/>
            <a:ext cx="19154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평일 주간</a:t>
            </a:r>
            <a:endParaRPr lang="en-US" sz="1050" dirty="0"/>
          </a:p>
        </p:txBody>
      </p:sp>
      <p:sp>
        <p:nvSpPr>
          <p:cNvPr id="141" name="Text 123"/>
          <p:cNvSpPr/>
          <p:nvPr/>
        </p:nvSpPr>
        <p:spPr>
          <a:xfrm>
            <a:off x="8582025" y="8222754"/>
            <a:ext cx="191542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9시 — 6시 근무</a:t>
            </a:r>
            <a:endParaRPr lang="en-US" sz="825" dirty="0"/>
          </a:p>
        </p:txBody>
      </p:sp>
      <p:pic>
        <p:nvPicPr>
          <p:cNvPr id="142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11667" y="8237041"/>
            <a:ext cx="171450" cy="171450"/>
          </a:xfrm>
          <a:prstGeom prst="rect">
            <a:avLst/>
          </a:prstGeom>
        </p:spPr>
      </p:pic>
      <p:sp>
        <p:nvSpPr>
          <p:cNvPr id="143" name="Shape 124"/>
          <p:cNvSpPr/>
          <p:nvPr/>
        </p:nvSpPr>
        <p:spPr>
          <a:xfrm>
            <a:off x="9249817" y="7413129"/>
            <a:ext cx="1084808" cy="1819275"/>
          </a:xfrm>
          <a:prstGeom prst="roundRect">
            <a:avLst>
              <a:gd name="adj" fmla="val 15805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44" name="Shape 125"/>
          <p:cNvSpPr/>
          <p:nvPr/>
        </p:nvSpPr>
        <p:spPr>
          <a:xfrm>
            <a:off x="9411742" y="8151316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145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97467" y="8237041"/>
            <a:ext cx="171450" cy="171450"/>
          </a:xfrm>
          <a:prstGeom prst="rect">
            <a:avLst/>
          </a:prstGeom>
        </p:spPr>
      </p:pic>
      <p:sp>
        <p:nvSpPr>
          <p:cNvPr id="146" name="Text 126"/>
          <p:cNvSpPr/>
          <p:nvPr/>
        </p:nvSpPr>
        <p:spPr>
          <a:xfrm>
            <a:off x="9868942" y="8032254"/>
            <a:ext cx="3799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교대근무</a:t>
            </a:r>
            <a:endParaRPr lang="en-US" sz="1050" dirty="0"/>
          </a:p>
        </p:txBody>
      </p:sp>
      <p:sp>
        <p:nvSpPr>
          <p:cNvPr id="147" name="Text 127"/>
          <p:cNvSpPr/>
          <p:nvPr/>
        </p:nvSpPr>
        <p:spPr>
          <a:xfrm>
            <a:off x="9868942" y="8365629"/>
            <a:ext cx="3799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주야 교대</a:t>
            </a:r>
            <a:endParaRPr lang="en-US" sz="825" dirty="0"/>
          </a:p>
        </p:txBody>
      </p:sp>
      <p:sp>
        <p:nvSpPr>
          <p:cNvPr id="148" name="Shape 128"/>
          <p:cNvSpPr/>
          <p:nvPr/>
        </p:nvSpPr>
        <p:spPr>
          <a:xfrm>
            <a:off x="7953375" y="9327654"/>
            <a:ext cx="1201192" cy="1057275"/>
          </a:xfrm>
          <a:prstGeom prst="roundRect">
            <a:avLst>
              <a:gd name="adj" fmla="val 16216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49" name="Shape 129"/>
          <p:cNvSpPr/>
          <p:nvPr/>
        </p:nvSpPr>
        <p:spPr>
          <a:xfrm>
            <a:off x="8115300" y="9684841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15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01025" y="9770566"/>
            <a:ext cx="171450" cy="171450"/>
          </a:xfrm>
          <a:prstGeom prst="rect">
            <a:avLst/>
          </a:prstGeom>
        </p:spPr>
      </p:pic>
      <p:sp>
        <p:nvSpPr>
          <p:cNvPr id="151" name="Text 130"/>
          <p:cNvSpPr/>
          <p:nvPr/>
        </p:nvSpPr>
        <p:spPr>
          <a:xfrm>
            <a:off x="8572500" y="9565779"/>
            <a:ext cx="4963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주말근무</a:t>
            </a:r>
            <a:endParaRPr lang="en-US" sz="1050" dirty="0"/>
          </a:p>
        </p:txBody>
      </p:sp>
      <p:sp>
        <p:nvSpPr>
          <p:cNvPr id="152" name="Text 131"/>
          <p:cNvSpPr/>
          <p:nvPr/>
        </p:nvSpPr>
        <p:spPr>
          <a:xfrm>
            <a:off x="8572500" y="9899154"/>
            <a:ext cx="4963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평일 휴무형</a:t>
            </a:r>
            <a:endParaRPr lang="en-US" sz="825" dirty="0"/>
          </a:p>
        </p:txBody>
      </p:sp>
      <p:sp>
        <p:nvSpPr>
          <p:cNvPr id="153" name="Shape 132"/>
          <p:cNvSpPr/>
          <p:nvPr/>
        </p:nvSpPr>
        <p:spPr>
          <a:xfrm>
            <a:off x="9249817" y="9327654"/>
            <a:ext cx="1084808" cy="1057275"/>
          </a:xfrm>
          <a:prstGeom prst="roundRect">
            <a:avLst>
              <a:gd name="adj" fmla="val 16216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54" name="Shape 133"/>
          <p:cNvSpPr/>
          <p:nvPr/>
        </p:nvSpPr>
        <p:spPr>
          <a:xfrm>
            <a:off x="9411742" y="9684841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155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97467" y="9770566"/>
            <a:ext cx="171450" cy="171450"/>
          </a:xfrm>
          <a:prstGeom prst="rect">
            <a:avLst/>
          </a:prstGeom>
        </p:spPr>
      </p:pic>
      <p:sp>
        <p:nvSpPr>
          <p:cNvPr id="156" name="Text 134"/>
          <p:cNvSpPr/>
          <p:nvPr/>
        </p:nvSpPr>
        <p:spPr>
          <a:xfrm>
            <a:off x="9868942" y="9489579"/>
            <a:ext cx="37995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프리랜서형</a:t>
            </a:r>
            <a:endParaRPr lang="en-US" sz="1050" dirty="0"/>
          </a:p>
        </p:txBody>
      </p:sp>
      <p:sp>
        <p:nvSpPr>
          <p:cNvPr id="157" name="Text 135"/>
          <p:cNvSpPr/>
          <p:nvPr/>
        </p:nvSpPr>
        <p:spPr>
          <a:xfrm>
            <a:off x="9868942" y="9975354"/>
            <a:ext cx="3799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유연 근무</a:t>
            </a:r>
            <a:endParaRPr lang="en-US" sz="825" dirty="0"/>
          </a:p>
        </p:txBody>
      </p:sp>
      <p:sp>
        <p:nvSpPr>
          <p:cNvPr id="158" name="Text 136"/>
          <p:cNvSpPr/>
          <p:nvPr/>
        </p:nvSpPr>
        <p:spPr>
          <a:xfrm>
            <a:off x="7953375" y="10594479"/>
            <a:ext cx="7984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가능한 시간대</a:t>
            </a:r>
            <a:endParaRPr lang="en-US" sz="1050" dirty="0"/>
          </a:p>
        </p:txBody>
      </p:sp>
      <p:sp>
        <p:nvSpPr>
          <p:cNvPr id="159" name="Text 137"/>
          <p:cNvSpPr/>
          <p:nvPr/>
        </p:nvSpPr>
        <p:spPr>
          <a:xfrm>
            <a:off x="9823549" y="10623054"/>
            <a:ext cx="58727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개 선택</a:t>
            </a:r>
            <a:endParaRPr lang="en-US" sz="825" dirty="0"/>
          </a:p>
        </p:txBody>
      </p:sp>
      <p:sp>
        <p:nvSpPr>
          <p:cNvPr id="160" name="Shape 138"/>
          <p:cNvSpPr/>
          <p:nvPr/>
        </p:nvSpPr>
        <p:spPr>
          <a:xfrm>
            <a:off x="7953375" y="10842129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61" name="Text 139"/>
          <p:cNvSpPr/>
          <p:nvPr/>
        </p:nvSpPr>
        <p:spPr>
          <a:xfrm>
            <a:off x="8058150" y="10946904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평일 저녁</a:t>
            </a:r>
            <a:endParaRPr lang="en-US" sz="975" dirty="0"/>
          </a:p>
        </p:txBody>
      </p:sp>
      <p:sp>
        <p:nvSpPr>
          <p:cNvPr id="162" name="Shape 140"/>
          <p:cNvSpPr/>
          <p:nvPr/>
        </p:nvSpPr>
        <p:spPr>
          <a:xfrm>
            <a:off x="8772823" y="10842129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63" name="Text 141"/>
          <p:cNvSpPr/>
          <p:nvPr/>
        </p:nvSpPr>
        <p:spPr>
          <a:xfrm>
            <a:off x="8877598" y="10946904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토요일 오전</a:t>
            </a:r>
            <a:endParaRPr lang="en-US" sz="975" dirty="0"/>
          </a:p>
        </p:txBody>
      </p:sp>
      <p:sp>
        <p:nvSpPr>
          <p:cNvPr id="164" name="Shape 142"/>
          <p:cNvSpPr/>
          <p:nvPr/>
        </p:nvSpPr>
        <p:spPr>
          <a:xfrm>
            <a:off x="7953375" y="11270754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165" name="Text 143"/>
          <p:cNvSpPr/>
          <p:nvPr/>
        </p:nvSpPr>
        <p:spPr>
          <a:xfrm>
            <a:off x="8058150" y="11375529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토요일 오후</a:t>
            </a:r>
            <a:endParaRPr lang="en-US" sz="975" dirty="0"/>
          </a:p>
        </p:txBody>
      </p:sp>
      <p:sp>
        <p:nvSpPr>
          <p:cNvPr id="166" name="Shape 144"/>
          <p:cNvSpPr/>
          <p:nvPr/>
        </p:nvSpPr>
        <p:spPr>
          <a:xfrm>
            <a:off x="8879830" y="11270754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67" name="Text 145"/>
          <p:cNvSpPr/>
          <p:nvPr/>
        </p:nvSpPr>
        <p:spPr>
          <a:xfrm>
            <a:off x="8984605" y="11375529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토요일 저녁</a:t>
            </a:r>
            <a:endParaRPr lang="en-US" sz="975" dirty="0"/>
          </a:p>
        </p:txBody>
      </p:sp>
      <p:sp>
        <p:nvSpPr>
          <p:cNvPr id="168" name="Shape 146"/>
          <p:cNvSpPr/>
          <p:nvPr/>
        </p:nvSpPr>
        <p:spPr>
          <a:xfrm>
            <a:off x="7953375" y="11699379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69" name="Text 147"/>
          <p:cNvSpPr/>
          <p:nvPr/>
        </p:nvSpPr>
        <p:spPr>
          <a:xfrm>
            <a:off x="8058150" y="11804154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일요일 오전</a:t>
            </a:r>
            <a:endParaRPr lang="en-US" sz="975" dirty="0"/>
          </a:p>
        </p:txBody>
      </p:sp>
      <p:sp>
        <p:nvSpPr>
          <p:cNvPr id="170" name="Shape 148"/>
          <p:cNvSpPr/>
          <p:nvPr/>
        </p:nvSpPr>
        <p:spPr>
          <a:xfrm>
            <a:off x="8879830" y="11699379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171" name="Text 149"/>
          <p:cNvSpPr/>
          <p:nvPr/>
        </p:nvSpPr>
        <p:spPr>
          <a:xfrm>
            <a:off x="8984605" y="11804154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일요일 오후</a:t>
            </a:r>
            <a:endParaRPr lang="en-US" sz="975" dirty="0"/>
          </a:p>
        </p:txBody>
      </p:sp>
      <p:sp>
        <p:nvSpPr>
          <p:cNvPr id="172" name="Shape 150"/>
          <p:cNvSpPr/>
          <p:nvPr/>
        </p:nvSpPr>
        <p:spPr>
          <a:xfrm>
            <a:off x="7953375" y="6724650"/>
            <a:ext cx="238125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173" name="Text 151"/>
          <p:cNvSpPr/>
          <p:nvPr/>
        </p:nvSpPr>
        <p:spPr>
          <a:xfrm>
            <a:off x="8105775" y="6724650"/>
            <a:ext cx="2076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1275" dirty="0"/>
          </a:p>
        </p:txBody>
      </p:sp>
      <p:sp>
        <p:nvSpPr>
          <p:cNvPr id="174" name="Shape 152"/>
          <p:cNvSpPr/>
          <p:nvPr/>
        </p:nvSpPr>
        <p:spPr>
          <a:xfrm>
            <a:off x="8505825" y="74009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175" name="Text 153"/>
          <p:cNvSpPr/>
          <p:nvPr/>
        </p:nvSpPr>
        <p:spPr>
          <a:xfrm>
            <a:off x="8801249" y="7734300"/>
            <a:ext cx="6855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b="1" kern="0" spc="83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25" dirty="0"/>
          </a:p>
        </p:txBody>
      </p:sp>
      <p:sp>
        <p:nvSpPr>
          <p:cNvPr id="176" name="Text 154"/>
          <p:cNvSpPr/>
          <p:nvPr/>
        </p:nvSpPr>
        <p:spPr>
          <a:xfrm>
            <a:off x="8839349" y="7896225"/>
            <a:ext cx="6855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직업 · 리듬</a:t>
            </a:r>
            <a:endParaRPr lang="en-US" sz="1050" dirty="0"/>
          </a:p>
        </p:txBody>
      </p:sp>
      <p:sp>
        <p:nvSpPr>
          <p:cNvPr id="177" name="Shape 155"/>
          <p:cNvSpPr/>
          <p:nvPr/>
        </p:nvSpPr>
        <p:spPr>
          <a:xfrm>
            <a:off x="10829925" y="1619250"/>
            <a:ext cx="2914650" cy="5981700"/>
          </a:xfrm>
          <a:prstGeom prst="roundRect">
            <a:avLst>
              <a:gd name="adj" fmla="val 11765"/>
            </a:avLst>
          </a:prstGeom>
          <a:solidFill>
            <a:srgbClr val="0F0A07"/>
          </a:solidFill>
          <a:ln/>
          <a:effectLst>
            <a:outerShdw blurRad="571500" dist="285750" dir="5400000" algn="bl" rotWithShape="0">
              <a:srgbClr val="3A1E14">
                <a:alpha val="20000"/>
              </a:srgbClr>
            </a:outerShdw>
          </a:effectLst>
        </p:spPr>
      </p:sp>
      <p:sp>
        <p:nvSpPr>
          <p:cNvPr id="178" name="Shape 156"/>
          <p:cNvSpPr/>
          <p:nvPr/>
        </p:nvSpPr>
        <p:spPr>
          <a:xfrm>
            <a:off x="11858625" y="171450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179" name="Shape 157"/>
          <p:cNvSpPr/>
          <p:nvPr/>
        </p:nvSpPr>
        <p:spPr>
          <a:xfrm>
            <a:off x="10906125" y="1695450"/>
            <a:ext cx="2762250" cy="5829300"/>
          </a:xfrm>
          <a:prstGeom prst="roundRect">
            <a:avLst>
              <a:gd name="adj" fmla="val 9655"/>
            </a:avLst>
          </a:prstGeom>
          <a:solidFill>
            <a:srgbClr val="FFF7EC"/>
          </a:solidFill>
          <a:ln/>
        </p:spPr>
      </p:sp>
      <p:sp>
        <p:nvSpPr>
          <p:cNvPr id="180" name="Shape 158"/>
          <p:cNvSpPr/>
          <p:nvPr/>
        </p:nvSpPr>
        <p:spPr>
          <a:xfrm>
            <a:off x="10906125" y="1695450"/>
            <a:ext cx="2762250" cy="582930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181" name="Text 159"/>
          <p:cNvSpPr/>
          <p:nvPr/>
        </p:nvSpPr>
        <p:spPr>
          <a:xfrm>
            <a:off x="11134725" y="1828800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182" name="Image 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1625" y="1852612"/>
            <a:ext cx="161925" cy="104775"/>
          </a:xfrm>
          <a:prstGeom prst="rect">
            <a:avLst/>
          </a:prstGeom>
        </p:spPr>
      </p:pic>
      <p:pic>
        <p:nvPicPr>
          <p:cNvPr id="183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1175" y="1852612"/>
            <a:ext cx="228600" cy="104775"/>
          </a:xfrm>
          <a:prstGeom prst="rect">
            <a:avLst/>
          </a:prstGeom>
        </p:spPr>
      </p:pic>
      <p:sp>
        <p:nvSpPr>
          <p:cNvPr id="184" name="Shape 160"/>
          <p:cNvSpPr/>
          <p:nvPr/>
        </p:nvSpPr>
        <p:spPr>
          <a:xfrm>
            <a:off x="11058525" y="217170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85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3775" y="2266950"/>
            <a:ext cx="152400" cy="152400"/>
          </a:xfrm>
          <a:prstGeom prst="rect">
            <a:avLst/>
          </a:prstGeom>
        </p:spPr>
      </p:pic>
      <p:sp>
        <p:nvSpPr>
          <p:cNvPr id="186" name="Shape 161"/>
          <p:cNvSpPr/>
          <p:nvPr/>
        </p:nvSpPr>
        <p:spPr>
          <a:xfrm>
            <a:off x="11515725" y="2314575"/>
            <a:ext cx="1722537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87" name="Shape 162"/>
          <p:cNvSpPr/>
          <p:nvPr/>
        </p:nvSpPr>
        <p:spPr>
          <a:xfrm>
            <a:off x="11515725" y="2314575"/>
            <a:ext cx="740569" cy="5715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88" name="Text 163"/>
          <p:cNvSpPr/>
          <p:nvPr/>
        </p:nvSpPr>
        <p:spPr>
          <a:xfrm>
            <a:off x="13352562" y="2281238"/>
            <a:ext cx="23961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3/7</a:t>
            </a:r>
            <a:endParaRPr lang="en-US" sz="825" dirty="0"/>
          </a:p>
        </p:txBody>
      </p:sp>
      <p:sp>
        <p:nvSpPr>
          <p:cNvPr id="189" name="Text 164"/>
          <p:cNvSpPr/>
          <p:nvPr/>
        </p:nvSpPr>
        <p:spPr>
          <a:xfrm>
            <a:off x="11134725" y="2686050"/>
            <a:ext cx="2381250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kern="0" spc="-10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내가 편안해지는 대화 방식을 골라주세요.</a:t>
            </a:r>
            <a:endParaRPr lang="en-US" sz="1950" dirty="0"/>
          </a:p>
        </p:txBody>
      </p:sp>
      <p:sp>
        <p:nvSpPr>
          <p:cNvPr id="190" name="Text 165"/>
          <p:cNvSpPr/>
          <p:nvPr/>
        </p:nvSpPr>
        <p:spPr>
          <a:xfrm>
            <a:off x="11134725" y="3690937"/>
            <a:ext cx="2381250" cy="42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정답은 없어요. 자연스러운 케미를 찾기 위한 질문이에요.</a:t>
            </a:r>
            <a:endParaRPr lang="en-US" sz="975" dirty="0"/>
          </a:p>
        </p:txBody>
      </p:sp>
      <p:sp>
        <p:nvSpPr>
          <p:cNvPr id="191" name="Text 166"/>
          <p:cNvSpPr/>
          <p:nvPr/>
        </p:nvSpPr>
        <p:spPr>
          <a:xfrm>
            <a:off x="11096625" y="4455616"/>
            <a:ext cx="4000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MBTI</a:t>
            </a:r>
            <a:endParaRPr lang="en-US" sz="1050" dirty="0"/>
          </a:p>
        </p:txBody>
      </p:sp>
      <p:sp>
        <p:nvSpPr>
          <p:cNvPr id="192" name="Text 167"/>
          <p:cNvSpPr/>
          <p:nvPr/>
        </p:nvSpPr>
        <p:spPr>
          <a:xfrm>
            <a:off x="12785675" y="4484191"/>
            <a:ext cx="7684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모를 땐 건너뛰기</a:t>
            </a:r>
            <a:endParaRPr lang="en-US" sz="825" dirty="0"/>
          </a:p>
        </p:txBody>
      </p:sp>
      <p:sp>
        <p:nvSpPr>
          <p:cNvPr id="193" name="Shape 168"/>
          <p:cNvSpPr/>
          <p:nvPr/>
        </p:nvSpPr>
        <p:spPr>
          <a:xfrm>
            <a:off x="11096625" y="47032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94" name="Text 169"/>
          <p:cNvSpPr/>
          <p:nvPr/>
        </p:nvSpPr>
        <p:spPr>
          <a:xfrm>
            <a:off x="11068050" y="48175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INTJ</a:t>
            </a:r>
            <a:endParaRPr lang="en-US" sz="900" dirty="0"/>
          </a:p>
        </p:txBody>
      </p:sp>
      <p:sp>
        <p:nvSpPr>
          <p:cNvPr id="195" name="Shape 170"/>
          <p:cNvSpPr/>
          <p:nvPr/>
        </p:nvSpPr>
        <p:spPr>
          <a:xfrm>
            <a:off x="11706225" y="47032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96" name="Text 171"/>
          <p:cNvSpPr/>
          <p:nvPr/>
        </p:nvSpPr>
        <p:spPr>
          <a:xfrm>
            <a:off x="11677650" y="48175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INTP</a:t>
            </a:r>
            <a:endParaRPr lang="en-US" sz="900" dirty="0"/>
          </a:p>
        </p:txBody>
      </p:sp>
      <p:sp>
        <p:nvSpPr>
          <p:cNvPr id="197" name="Shape 172"/>
          <p:cNvSpPr/>
          <p:nvPr/>
        </p:nvSpPr>
        <p:spPr>
          <a:xfrm>
            <a:off x="12315825" y="47032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98" name="Text 173"/>
          <p:cNvSpPr/>
          <p:nvPr/>
        </p:nvSpPr>
        <p:spPr>
          <a:xfrm>
            <a:off x="12287250" y="48175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ENTJ</a:t>
            </a:r>
            <a:endParaRPr lang="en-US" sz="900" dirty="0"/>
          </a:p>
        </p:txBody>
      </p:sp>
      <p:sp>
        <p:nvSpPr>
          <p:cNvPr id="199" name="Shape 174"/>
          <p:cNvSpPr/>
          <p:nvPr/>
        </p:nvSpPr>
        <p:spPr>
          <a:xfrm>
            <a:off x="12925425" y="47032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00" name="Text 175"/>
          <p:cNvSpPr/>
          <p:nvPr/>
        </p:nvSpPr>
        <p:spPr>
          <a:xfrm>
            <a:off x="12896850" y="48175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ENTP</a:t>
            </a:r>
            <a:endParaRPr lang="en-US" sz="900" dirty="0"/>
          </a:p>
        </p:txBody>
      </p:sp>
      <p:sp>
        <p:nvSpPr>
          <p:cNvPr id="201" name="Shape 176"/>
          <p:cNvSpPr/>
          <p:nvPr/>
        </p:nvSpPr>
        <p:spPr>
          <a:xfrm>
            <a:off x="11096625" y="51223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202" name="Text 177"/>
          <p:cNvSpPr/>
          <p:nvPr/>
        </p:nvSpPr>
        <p:spPr>
          <a:xfrm>
            <a:off x="11068050" y="52366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INFJ</a:t>
            </a:r>
            <a:endParaRPr lang="en-US" sz="900" dirty="0"/>
          </a:p>
        </p:txBody>
      </p:sp>
      <p:sp>
        <p:nvSpPr>
          <p:cNvPr id="203" name="Shape 178"/>
          <p:cNvSpPr/>
          <p:nvPr/>
        </p:nvSpPr>
        <p:spPr>
          <a:xfrm>
            <a:off x="11706225" y="51223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04" name="Text 179"/>
          <p:cNvSpPr/>
          <p:nvPr/>
        </p:nvSpPr>
        <p:spPr>
          <a:xfrm>
            <a:off x="11677650" y="52366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INFP</a:t>
            </a:r>
            <a:endParaRPr lang="en-US" sz="900" dirty="0"/>
          </a:p>
        </p:txBody>
      </p:sp>
      <p:sp>
        <p:nvSpPr>
          <p:cNvPr id="205" name="Shape 180"/>
          <p:cNvSpPr/>
          <p:nvPr/>
        </p:nvSpPr>
        <p:spPr>
          <a:xfrm>
            <a:off x="12315825" y="51223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06" name="Text 181"/>
          <p:cNvSpPr/>
          <p:nvPr/>
        </p:nvSpPr>
        <p:spPr>
          <a:xfrm>
            <a:off x="12287250" y="52366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ENFJ</a:t>
            </a:r>
            <a:endParaRPr lang="en-US" sz="900" dirty="0"/>
          </a:p>
        </p:txBody>
      </p:sp>
      <p:sp>
        <p:nvSpPr>
          <p:cNvPr id="207" name="Shape 182"/>
          <p:cNvSpPr/>
          <p:nvPr/>
        </p:nvSpPr>
        <p:spPr>
          <a:xfrm>
            <a:off x="12925425" y="51223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08" name="Text 183"/>
          <p:cNvSpPr/>
          <p:nvPr/>
        </p:nvSpPr>
        <p:spPr>
          <a:xfrm>
            <a:off x="12896850" y="52366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ENFP</a:t>
            </a:r>
            <a:endParaRPr lang="en-US" sz="900" dirty="0"/>
          </a:p>
        </p:txBody>
      </p:sp>
      <p:sp>
        <p:nvSpPr>
          <p:cNvPr id="209" name="Shape 184"/>
          <p:cNvSpPr/>
          <p:nvPr/>
        </p:nvSpPr>
        <p:spPr>
          <a:xfrm>
            <a:off x="11096625" y="55414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10" name="Text 185"/>
          <p:cNvSpPr/>
          <p:nvPr/>
        </p:nvSpPr>
        <p:spPr>
          <a:xfrm>
            <a:off x="11068050" y="56557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ISTJ</a:t>
            </a:r>
            <a:endParaRPr lang="en-US" sz="900" dirty="0"/>
          </a:p>
        </p:txBody>
      </p:sp>
      <p:sp>
        <p:nvSpPr>
          <p:cNvPr id="211" name="Shape 186"/>
          <p:cNvSpPr/>
          <p:nvPr/>
        </p:nvSpPr>
        <p:spPr>
          <a:xfrm>
            <a:off x="11706225" y="55414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12" name="Text 187"/>
          <p:cNvSpPr/>
          <p:nvPr/>
        </p:nvSpPr>
        <p:spPr>
          <a:xfrm>
            <a:off x="11677650" y="56557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ISFJ</a:t>
            </a:r>
            <a:endParaRPr lang="en-US" sz="900" dirty="0"/>
          </a:p>
        </p:txBody>
      </p:sp>
      <p:sp>
        <p:nvSpPr>
          <p:cNvPr id="213" name="Shape 188"/>
          <p:cNvSpPr/>
          <p:nvPr/>
        </p:nvSpPr>
        <p:spPr>
          <a:xfrm>
            <a:off x="12315825" y="55414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14" name="Text 189"/>
          <p:cNvSpPr/>
          <p:nvPr/>
        </p:nvSpPr>
        <p:spPr>
          <a:xfrm>
            <a:off x="12287250" y="56557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ESTJ</a:t>
            </a:r>
            <a:endParaRPr lang="en-US" sz="900" dirty="0"/>
          </a:p>
        </p:txBody>
      </p:sp>
      <p:sp>
        <p:nvSpPr>
          <p:cNvPr id="215" name="Shape 190"/>
          <p:cNvSpPr/>
          <p:nvPr/>
        </p:nvSpPr>
        <p:spPr>
          <a:xfrm>
            <a:off x="12925425" y="55414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16" name="Text 191"/>
          <p:cNvSpPr/>
          <p:nvPr/>
        </p:nvSpPr>
        <p:spPr>
          <a:xfrm>
            <a:off x="12896850" y="56557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ESFJ</a:t>
            </a:r>
            <a:endParaRPr lang="en-US" sz="900" dirty="0"/>
          </a:p>
        </p:txBody>
      </p:sp>
      <p:sp>
        <p:nvSpPr>
          <p:cNvPr id="217" name="Shape 192"/>
          <p:cNvSpPr/>
          <p:nvPr/>
        </p:nvSpPr>
        <p:spPr>
          <a:xfrm>
            <a:off x="11096625" y="59605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18" name="Text 193"/>
          <p:cNvSpPr/>
          <p:nvPr/>
        </p:nvSpPr>
        <p:spPr>
          <a:xfrm>
            <a:off x="11068050" y="60748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ISTP</a:t>
            </a:r>
            <a:endParaRPr lang="en-US" sz="900" dirty="0"/>
          </a:p>
        </p:txBody>
      </p:sp>
      <p:sp>
        <p:nvSpPr>
          <p:cNvPr id="219" name="Shape 194"/>
          <p:cNvSpPr/>
          <p:nvPr/>
        </p:nvSpPr>
        <p:spPr>
          <a:xfrm>
            <a:off x="11706225" y="59605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20" name="Text 195"/>
          <p:cNvSpPr/>
          <p:nvPr/>
        </p:nvSpPr>
        <p:spPr>
          <a:xfrm>
            <a:off x="11677650" y="60748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ISFP</a:t>
            </a:r>
            <a:endParaRPr lang="en-US" sz="900" dirty="0"/>
          </a:p>
        </p:txBody>
      </p:sp>
      <p:sp>
        <p:nvSpPr>
          <p:cNvPr id="221" name="Shape 196"/>
          <p:cNvSpPr/>
          <p:nvPr/>
        </p:nvSpPr>
        <p:spPr>
          <a:xfrm>
            <a:off x="12315825" y="59605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22" name="Text 197"/>
          <p:cNvSpPr/>
          <p:nvPr/>
        </p:nvSpPr>
        <p:spPr>
          <a:xfrm>
            <a:off x="12287250" y="60748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ESTP</a:t>
            </a:r>
            <a:endParaRPr lang="en-US" sz="900" dirty="0"/>
          </a:p>
        </p:txBody>
      </p:sp>
      <p:sp>
        <p:nvSpPr>
          <p:cNvPr id="223" name="Shape 198"/>
          <p:cNvSpPr/>
          <p:nvPr/>
        </p:nvSpPr>
        <p:spPr>
          <a:xfrm>
            <a:off x="12925425" y="5960566"/>
            <a:ext cx="552450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24" name="Text 199"/>
          <p:cNvSpPr/>
          <p:nvPr/>
        </p:nvSpPr>
        <p:spPr>
          <a:xfrm>
            <a:off x="12896850" y="6074866"/>
            <a:ext cx="609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ESFP</a:t>
            </a:r>
            <a:endParaRPr lang="en-US" sz="900" dirty="0"/>
          </a:p>
        </p:txBody>
      </p:sp>
      <p:sp>
        <p:nvSpPr>
          <p:cNvPr id="225" name="Text 200"/>
          <p:cNvSpPr/>
          <p:nvPr/>
        </p:nvSpPr>
        <p:spPr>
          <a:xfrm>
            <a:off x="11058525" y="6398716"/>
            <a:ext cx="2457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 모르겠어요</a:t>
            </a:r>
            <a:endParaRPr lang="en-US" sz="900" dirty="0"/>
          </a:p>
        </p:txBody>
      </p:sp>
      <p:sp>
        <p:nvSpPr>
          <p:cNvPr id="226" name="Text 201"/>
          <p:cNvSpPr/>
          <p:nvPr/>
        </p:nvSpPr>
        <p:spPr>
          <a:xfrm>
            <a:off x="11096625" y="6779716"/>
            <a:ext cx="683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스타일</a:t>
            </a:r>
            <a:endParaRPr lang="en-US" sz="1050" dirty="0"/>
          </a:p>
        </p:txBody>
      </p:sp>
      <p:sp>
        <p:nvSpPr>
          <p:cNvPr id="227" name="Text 202"/>
          <p:cNvSpPr/>
          <p:nvPr/>
        </p:nvSpPr>
        <p:spPr>
          <a:xfrm>
            <a:off x="12966799" y="6808291"/>
            <a:ext cx="58727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개 선택</a:t>
            </a:r>
            <a:endParaRPr lang="en-US" sz="825" dirty="0"/>
          </a:p>
        </p:txBody>
      </p:sp>
      <p:sp>
        <p:nvSpPr>
          <p:cNvPr id="228" name="Shape 203"/>
          <p:cNvSpPr/>
          <p:nvPr/>
        </p:nvSpPr>
        <p:spPr>
          <a:xfrm>
            <a:off x="11096625" y="7027366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229" name="Text 204"/>
          <p:cNvSpPr/>
          <p:nvPr/>
        </p:nvSpPr>
        <p:spPr>
          <a:xfrm>
            <a:off x="11201400" y="7132141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차분한 대화</a:t>
            </a:r>
            <a:endParaRPr lang="en-US" sz="975" dirty="0"/>
          </a:p>
        </p:txBody>
      </p:sp>
      <p:sp>
        <p:nvSpPr>
          <p:cNvPr id="230" name="Shape 205"/>
          <p:cNvSpPr/>
          <p:nvPr/>
        </p:nvSpPr>
        <p:spPr>
          <a:xfrm>
            <a:off x="12023080" y="7027366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31" name="Text 206"/>
          <p:cNvSpPr/>
          <p:nvPr/>
        </p:nvSpPr>
        <p:spPr>
          <a:xfrm>
            <a:off x="12127855" y="7132141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유쾌한 농담</a:t>
            </a:r>
            <a:endParaRPr lang="en-US" sz="975" dirty="0"/>
          </a:p>
        </p:txBody>
      </p:sp>
      <p:sp>
        <p:nvSpPr>
          <p:cNvPr id="232" name="Shape 207"/>
          <p:cNvSpPr/>
          <p:nvPr/>
        </p:nvSpPr>
        <p:spPr>
          <a:xfrm>
            <a:off x="11096625" y="7455991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33" name="Text 208"/>
          <p:cNvSpPr/>
          <p:nvPr/>
        </p:nvSpPr>
        <p:spPr>
          <a:xfrm>
            <a:off x="11201400" y="7560766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깊은 이야기</a:t>
            </a:r>
            <a:endParaRPr lang="en-US" sz="975" dirty="0"/>
          </a:p>
        </p:txBody>
      </p:sp>
      <p:sp>
        <p:nvSpPr>
          <p:cNvPr id="234" name="Shape 209"/>
          <p:cNvSpPr/>
          <p:nvPr/>
        </p:nvSpPr>
        <p:spPr>
          <a:xfrm>
            <a:off x="12023080" y="7455991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235" name="Text 210"/>
          <p:cNvSpPr/>
          <p:nvPr/>
        </p:nvSpPr>
        <p:spPr>
          <a:xfrm>
            <a:off x="12127855" y="7560766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취향 공유</a:t>
            </a:r>
            <a:endParaRPr lang="en-US" sz="975" dirty="0"/>
          </a:p>
        </p:txBody>
      </p:sp>
      <p:sp>
        <p:nvSpPr>
          <p:cNvPr id="236" name="Shape 211"/>
          <p:cNvSpPr/>
          <p:nvPr/>
        </p:nvSpPr>
        <p:spPr>
          <a:xfrm>
            <a:off x="11096625" y="7884616"/>
            <a:ext cx="109373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37" name="Text 212"/>
          <p:cNvSpPr/>
          <p:nvPr/>
        </p:nvSpPr>
        <p:spPr>
          <a:xfrm>
            <a:off x="11201400" y="7989391"/>
            <a:ext cx="8841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질문을 잘하는 편</a:t>
            </a:r>
            <a:endParaRPr lang="en-US" sz="975" dirty="0"/>
          </a:p>
        </p:txBody>
      </p:sp>
      <p:sp>
        <p:nvSpPr>
          <p:cNvPr id="238" name="Shape 213"/>
          <p:cNvSpPr/>
          <p:nvPr/>
        </p:nvSpPr>
        <p:spPr>
          <a:xfrm>
            <a:off x="12266563" y="7884616"/>
            <a:ext cx="109373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39" name="Text 214"/>
          <p:cNvSpPr/>
          <p:nvPr/>
        </p:nvSpPr>
        <p:spPr>
          <a:xfrm>
            <a:off x="12371338" y="7989391"/>
            <a:ext cx="8841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리액션이 좋은 편</a:t>
            </a:r>
            <a:endParaRPr lang="en-US" sz="975" dirty="0"/>
          </a:p>
        </p:txBody>
      </p:sp>
      <p:sp>
        <p:nvSpPr>
          <p:cNvPr id="240" name="Shape 215"/>
          <p:cNvSpPr/>
          <p:nvPr/>
        </p:nvSpPr>
        <p:spPr>
          <a:xfrm>
            <a:off x="11096625" y="8313241"/>
            <a:ext cx="1200745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241" name="Text 216"/>
          <p:cNvSpPr/>
          <p:nvPr/>
        </p:nvSpPr>
        <p:spPr>
          <a:xfrm>
            <a:off x="11201400" y="8418016"/>
            <a:ext cx="9911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천천히 친해지는 편</a:t>
            </a:r>
            <a:endParaRPr lang="en-US" sz="975" dirty="0"/>
          </a:p>
        </p:txBody>
      </p:sp>
      <p:sp>
        <p:nvSpPr>
          <p:cNvPr id="242" name="Text 217"/>
          <p:cNvSpPr/>
          <p:nvPr/>
        </p:nvSpPr>
        <p:spPr>
          <a:xfrm>
            <a:off x="11096625" y="8875216"/>
            <a:ext cx="116219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처음 만났을 때 나는?</a:t>
            </a:r>
            <a:endParaRPr lang="en-US" sz="1050" dirty="0"/>
          </a:p>
        </p:txBody>
      </p:sp>
      <p:sp>
        <p:nvSpPr>
          <p:cNvPr id="243" name="Shape 218"/>
          <p:cNvSpPr/>
          <p:nvPr/>
        </p:nvSpPr>
        <p:spPr>
          <a:xfrm>
            <a:off x="11096625" y="9122866"/>
            <a:ext cx="238125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44" name="Shape 219"/>
          <p:cNvSpPr/>
          <p:nvPr/>
        </p:nvSpPr>
        <p:spPr>
          <a:xfrm>
            <a:off x="11258550" y="9284791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245" name="Image 2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4275" y="9370516"/>
            <a:ext cx="171450" cy="171450"/>
          </a:xfrm>
          <a:prstGeom prst="rect">
            <a:avLst/>
          </a:prstGeom>
        </p:spPr>
      </p:pic>
      <p:sp>
        <p:nvSpPr>
          <p:cNvPr id="246" name="Text 220"/>
          <p:cNvSpPr/>
          <p:nvPr/>
        </p:nvSpPr>
        <p:spPr>
          <a:xfrm>
            <a:off x="11715750" y="9380041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 말을 거는 편</a:t>
            </a:r>
            <a:endParaRPr lang="en-US" sz="1050" dirty="0"/>
          </a:p>
        </p:txBody>
      </p:sp>
      <p:sp>
        <p:nvSpPr>
          <p:cNvPr id="247" name="Shape 221"/>
          <p:cNvSpPr/>
          <p:nvPr/>
        </p:nvSpPr>
        <p:spPr>
          <a:xfrm>
            <a:off x="11096625" y="9884866"/>
            <a:ext cx="2381250" cy="685800"/>
          </a:xfrm>
          <a:prstGeom prst="roundRect">
            <a:avLst>
              <a:gd name="adj" fmla="val 25000"/>
            </a:avLst>
          </a:prstGeom>
          <a:solidFill>
            <a:srgbClr val="7A1F2B"/>
          </a:solidFill>
          <a:ln w="19050">
            <a:solidFill>
              <a:srgbClr val="F5DFA8"/>
            </a:solidFill>
            <a:prstDash val="solid"/>
          </a:ln>
        </p:spPr>
      </p:sp>
      <p:sp>
        <p:nvSpPr>
          <p:cNvPr id="248" name="Shape 222"/>
          <p:cNvSpPr/>
          <p:nvPr/>
        </p:nvSpPr>
        <p:spPr>
          <a:xfrm>
            <a:off x="11268075" y="10056316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5DFA8">
              <a:alpha val="18000"/>
            </a:srgbClr>
          </a:solidFill>
          <a:ln/>
        </p:spPr>
      </p:sp>
      <p:pic>
        <p:nvPicPr>
          <p:cNvPr id="249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53800" y="10142041"/>
            <a:ext cx="171450" cy="171450"/>
          </a:xfrm>
          <a:prstGeom prst="rect">
            <a:avLst/>
          </a:prstGeom>
        </p:spPr>
      </p:pic>
      <p:sp>
        <p:nvSpPr>
          <p:cNvPr id="250" name="Text 223"/>
          <p:cNvSpPr/>
          <p:nvPr/>
        </p:nvSpPr>
        <p:spPr>
          <a:xfrm>
            <a:off x="11725275" y="10075366"/>
            <a:ext cx="1371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상대가 편해지면 말이 많아지는 편</a:t>
            </a:r>
            <a:endParaRPr lang="en-US" sz="1050" dirty="0"/>
          </a:p>
        </p:txBody>
      </p:sp>
      <p:pic>
        <p:nvPicPr>
          <p:cNvPr id="251" name="Image 2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34975" y="10142041"/>
            <a:ext cx="171450" cy="171450"/>
          </a:xfrm>
          <a:prstGeom prst="rect">
            <a:avLst/>
          </a:prstGeom>
        </p:spPr>
      </p:pic>
      <p:sp>
        <p:nvSpPr>
          <p:cNvPr id="252" name="Shape 224"/>
          <p:cNvSpPr/>
          <p:nvPr/>
        </p:nvSpPr>
        <p:spPr>
          <a:xfrm>
            <a:off x="11096625" y="10665916"/>
            <a:ext cx="238125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53" name="Shape 225"/>
          <p:cNvSpPr/>
          <p:nvPr/>
        </p:nvSpPr>
        <p:spPr>
          <a:xfrm>
            <a:off x="11258550" y="10827841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254" name="Image 2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4275" y="10913566"/>
            <a:ext cx="171450" cy="171450"/>
          </a:xfrm>
          <a:prstGeom prst="rect">
            <a:avLst/>
          </a:prstGeom>
        </p:spPr>
      </p:pic>
      <p:sp>
        <p:nvSpPr>
          <p:cNvPr id="255" name="Text 226"/>
          <p:cNvSpPr/>
          <p:nvPr/>
        </p:nvSpPr>
        <p:spPr>
          <a:xfrm>
            <a:off x="11715750" y="10923091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분위기를 살피는 편</a:t>
            </a:r>
            <a:endParaRPr lang="en-US" sz="1050" dirty="0"/>
          </a:p>
        </p:txBody>
      </p:sp>
      <p:sp>
        <p:nvSpPr>
          <p:cNvPr id="256" name="Shape 227"/>
          <p:cNvSpPr/>
          <p:nvPr/>
        </p:nvSpPr>
        <p:spPr>
          <a:xfrm>
            <a:off x="11096625" y="11427916"/>
            <a:ext cx="238125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57" name="Shape 228"/>
          <p:cNvSpPr/>
          <p:nvPr/>
        </p:nvSpPr>
        <p:spPr>
          <a:xfrm>
            <a:off x="11258550" y="11589841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258" name="Image 2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4275" y="11675566"/>
            <a:ext cx="171450" cy="171450"/>
          </a:xfrm>
          <a:prstGeom prst="rect">
            <a:avLst/>
          </a:prstGeom>
        </p:spPr>
      </p:pic>
      <p:sp>
        <p:nvSpPr>
          <p:cNvPr id="259" name="Text 229"/>
          <p:cNvSpPr/>
          <p:nvPr/>
        </p:nvSpPr>
        <p:spPr>
          <a:xfrm>
            <a:off x="11715750" y="11685091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자연스럽게 맞춰가는 편</a:t>
            </a:r>
            <a:endParaRPr lang="en-US" sz="1050" dirty="0"/>
          </a:p>
        </p:txBody>
      </p:sp>
      <p:sp>
        <p:nvSpPr>
          <p:cNvPr id="260" name="Text 230"/>
          <p:cNvSpPr/>
          <p:nvPr/>
        </p:nvSpPr>
        <p:spPr>
          <a:xfrm>
            <a:off x="11096625" y="12304216"/>
            <a:ext cx="10596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관계에서 중요한 것</a:t>
            </a:r>
            <a:endParaRPr lang="en-US" sz="1050" dirty="0"/>
          </a:p>
        </p:txBody>
      </p:sp>
      <p:sp>
        <p:nvSpPr>
          <p:cNvPr id="261" name="Text 231"/>
          <p:cNvSpPr/>
          <p:nvPr/>
        </p:nvSpPr>
        <p:spPr>
          <a:xfrm>
            <a:off x="13118753" y="12332791"/>
            <a:ext cx="43532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2개</a:t>
            </a:r>
            <a:endParaRPr lang="en-US" sz="825" dirty="0"/>
          </a:p>
        </p:txBody>
      </p:sp>
      <p:sp>
        <p:nvSpPr>
          <p:cNvPr id="262" name="Shape 232"/>
          <p:cNvSpPr/>
          <p:nvPr/>
        </p:nvSpPr>
        <p:spPr>
          <a:xfrm>
            <a:off x="11096625" y="12551866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263" name="Text 233"/>
          <p:cNvSpPr/>
          <p:nvPr/>
        </p:nvSpPr>
        <p:spPr>
          <a:xfrm>
            <a:off x="11201400" y="12656641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안정감</a:t>
            </a:r>
            <a:endParaRPr lang="en-US" sz="975" dirty="0"/>
          </a:p>
        </p:txBody>
      </p:sp>
      <p:sp>
        <p:nvSpPr>
          <p:cNvPr id="264" name="Shape 234"/>
          <p:cNvSpPr/>
          <p:nvPr/>
        </p:nvSpPr>
        <p:spPr>
          <a:xfrm>
            <a:off x="11779746" y="12551866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65" name="Text 235"/>
          <p:cNvSpPr/>
          <p:nvPr/>
        </p:nvSpPr>
        <p:spPr>
          <a:xfrm>
            <a:off x="11884521" y="12656641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유머</a:t>
            </a:r>
            <a:endParaRPr lang="en-US" sz="975" dirty="0"/>
          </a:p>
        </p:txBody>
      </p:sp>
      <p:sp>
        <p:nvSpPr>
          <p:cNvPr id="266" name="Shape 236"/>
          <p:cNvSpPr/>
          <p:nvPr/>
        </p:nvSpPr>
        <p:spPr>
          <a:xfrm>
            <a:off x="12355860" y="12551866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67" name="Text 237"/>
          <p:cNvSpPr/>
          <p:nvPr/>
        </p:nvSpPr>
        <p:spPr>
          <a:xfrm>
            <a:off x="12460635" y="12656641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배려</a:t>
            </a:r>
            <a:endParaRPr lang="en-US" sz="975" dirty="0"/>
          </a:p>
        </p:txBody>
      </p:sp>
      <p:sp>
        <p:nvSpPr>
          <p:cNvPr id="268" name="Shape 238"/>
          <p:cNvSpPr/>
          <p:nvPr/>
        </p:nvSpPr>
        <p:spPr>
          <a:xfrm>
            <a:off x="12931973" y="12551866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269" name="Text 239"/>
          <p:cNvSpPr/>
          <p:nvPr/>
        </p:nvSpPr>
        <p:spPr>
          <a:xfrm>
            <a:off x="13036748" y="12656641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</a:t>
            </a:r>
            <a:endParaRPr lang="en-US" sz="975" dirty="0"/>
          </a:p>
        </p:txBody>
      </p:sp>
      <p:sp>
        <p:nvSpPr>
          <p:cNvPr id="270" name="Shape 240"/>
          <p:cNvSpPr/>
          <p:nvPr/>
        </p:nvSpPr>
        <p:spPr>
          <a:xfrm>
            <a:off x="11096625" y="12980491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71" name="Text 241"/>
          <p:cNvSpPr/>
          <p:nvPr/>
        </p:nvSpPr>
        <p:spPr>
          <a:xfrm>
            <a:off x="11201400" y="13085266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</a:t>
            </a:r>
            <a:endParaRPr lang="en-US" sz="975" dirty="0"/>
          </a:p>
        </p:txBody>
      </p:sp>
      <p:sp>
        <p:nvSpPr>
          <p:cNvPr id="272" name="Shape 242"/>
          <p:cNvSpPr/>
          <p:nvPr/>
        </p:nvSpPr>
        <p:spPr>
          <a:xfrm>
            <a:off x="11672739" y="12980491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73" name="Text 243"/>
          <p:cNvSpPr/>
          <p:nvPr/>
        </p:nvSpPr>
        <p:spPr>
          <a:xfrm>
            <a:off x="11777514" y="13085266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취향 공유</a:t>
            </a:r>
            <a:endParaRPr lang="en-US" sz="975" dirty="0"/>
          </a:p>
        </p:txBody>
      </p:sp>
      <p:sp>
        <p:nvSpPr>
          <p:cNvPr id="274" name="Shape 244"/>
          <p:cNvSpPr/>
          <p:nvPr/>
        </p:nvSpPr>
        <p:spPr>
          <a:xfrm>
            <a:off x="12492186" y="12980491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75" name="Text 245"/>
          <p:cNvSpPr/>
          <p:nvPr/>
        </p:nvSpPr>
        <p:spPr>
          <a:xfrm>
            <a:off x="12596961" y="13085266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</a:t>
            </a:r>
            <a:endParaRPr lang="en-US" sz="975" dirty="0"/>
          </a:p>
        </p:txBody>
      </p:sp>
      <p:sp>
        <p:nvSpPr>
          <p:cNvPr id="276" name="Shape 246"/>
          <p:cNvSpPr/>
          <p:nvPr/>
        </p:nvSpPr>
        <p:spPr>
          <a:xfrm>
            <a:off x="11096625" y="13409116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77" name="Text 247"/>
          <p:cNvSpPr/>
          <p:nvPr/>
        </p:nvSpPr>
        <p:spPr>
          <a:xfrm>
            <a:off x="11201400" y="13513891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설렘</a:t>
            </a:r>
            <a:endParaRPr lang="en-US" sz="975" dirty="0"/>
          </a:p>
        </p:txBody>
      </p:sp>
      <p:sp>
        <p:nvSpPr>
          <p:cNvPr id="278" name="Shape 248"/>
          <p:cNvSpPr/>
          <p:nvPr/>
        </p:nvSpPr>
        <p:spPr>
          <a:xfrm>
            <a:off x="11096625" y="6724650"/>
            <a:ext cx="238125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279" name="Text 249"/>
          <p:cNvSpPr/>
          <p:nvPr/>
        </p:nvSpPr>
        <p:spPr>
          <a:xfrm>
            <a:off x="11249025" y="6724650"/>
            <a:ext cx="2076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1275" dirty="0"/>
          </a:p>
        </p:txBody>
      </p:sp>
      <p:sp>
        <p:nvSpPr>
          <p:cNvPr id="280" name="Shape 250"/>
          <p:cNvSpPr/>
          <p:nvPr/>
        </p:nvSpPr>
        <p:spPr>
          <a:xfrm>
            <a:off x="11649075" y="74009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281" name="Text 251"/>
          <p:cNvSpPr/>
          <p:nvPr/>
        </p:nvSpPr>
        <p:spPr>
          <a:xfrm>
            <a:off x="12038112" y="7734300"/>
            <a:ext cx="49827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b="1" kern="0" spc="83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25" dirty="0"/>
          </a:p>
        </p:txBody>
      </p:sp>
      <p:sp>
        <p:nvSpPr>
          <p:cNvPr id="282" name="Text 252"/>
          <p:cNvSpPr/>
          <p:nvPr/>
        </p:nvSpPr>
        <p:spPr>
          <a:xfrm>
            <a:off x="12164467" y="7896225"/>
            <a:ext cx="3216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성향</a:t>
            </a:r>
            <a:endParaRPr lang="en-US" sz="1050" dirty="0"/>
          </a:p>
        </p:txBody>
      </p:sp>
      <p:sp>
        <p:nvSpPr>
          <p:cNvPr id="283" name="Shape 253"/>
          <p:cNvSpPr/>
          <p:nvPr/>
        </p:nvSpPr>
        <p:spPr>
          <a:xfrm>
            <a:off x="13973175" y="1619250"/>
            <a:ext cx="2914650" cy="5981700"/>
          </a:xfrm>
          <a:prstGeom prst="roundRect">
            <a:avLst>
              <a:gd name="adj" fmla="val 11765"/>
            </a:avLst>
          </a:prstGeom>
          <a:solidFill>
            <a:srgbClr val="0F0A07"/>
          </a:solidFill>
          <a:ln/>
          <a:effectLst>
            <a:outerShdw blurRad="571500" dist="285750" dir="5400000" algn="bl" rotWithShape="0">
              <a:srgbClr val="3A1E14">
                <a:alpha val="20000"/>
              </a:srgbClr>
            </a:outerShdw>
          </a:effectLst>
        </p:spPr>
      </p:sp>
      <p:sp>
        <p:nvSpPr>
          <p:cNvPr id="284" name="Shape 254"/>
          <p:cNvSpPr/>
          <p:nvPr/>
        </p:nvSpPr>
        <p:spPr>
          <a:xfrm>
            <a:off x="15001875" y="171450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285" name="Shape 255"/>
          <p:cNvSpPr/>
          <p:nvPr/>
        </p:nvSpPr>
        <p:spPr>
          <a:xfrm>
            <a:off x="14049375" y="1695450"/>
            <a:ext cx="2762250" cy="5829300"/>
          </a:xfrm>
          <a:prstGeom prst="roundRect">
            <a:avLst>
              <a:gd name="adj" fmla="val 9655"/>
            </a:avLst>
          </a:prstGeom>
          <a:solidFill>
            <a:srgbClr val="FFF7EC"/>
          </a:solidFill>
          <a:ln/>
        </p:spPr>
      </p:sp>
      <p:sp>
        <p:nvSpPr>
          <p:cNvPr id="286" name="Shape 256"/>
          <p:cNvSpPr/>
          <p:nvPr/>
        </p:nvSpPr>
        <p:spPr>
          <a:xfrm>
            <a:off x="14049375" y="1695450"/>
            <a:ext cx="2762250" cy="582930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287" name="Text 257"/>
          <p:cNvSpPr/>
          <p:nvPr/>
        </p:nvSpPr>
        <p:spPr>
          <a:xfrm>
            <a:off x="14277975" y="1828800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288" name="Image 2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4875" y="1852612"/>
            <a:ext cx="161925" cy="104775"/>
          </a:xfrm>
          <a:prstGeom prst="rect">
            <a:avLst/>
          </a:prstGeom>
        </p:spPr>
      </p:pic>
      <p:pic>
        <p:nvPicPr>
          <p:cNvPr id="289" name="Image 2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54425" y="1852612"/>
            <a:ext cx="228600" cy="104775"/>
          </a:xfrm>
          <a:prstGeom prst="rect">
            <a:avLst/>
          </a:prstGeom>
        </p:spPr>
      </p:pic>
      <p:sp>
        <p:nvSpPr>
          <p:cNvPr id="290" name="Shape 258"/>
          <p:cNvSpPr/>
          <p:nvPr/>
        </p:nvSpPr>
        <p:spPr>
          <a:xfrm>
            <a:off x="14201775" y="217170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291" name="Image 3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97025" y="2266950"/>
            <a:ext cx="152400" cy="152400"/>
          </a:xfrm>
          <a:prstGeom prst="rect">
            <a:avLst/>
          </a:prstGeom>
        </p:spPr>
      </p:pic>
      <p:sp>
        <p:nvSpPr>
          <p:cNvPr id="292" name="Shape 259"/>
          <p:cNvSpPr/>
          <p:nvPr/>
        </p:nvSpPr>
        <p:spPr>
          <a:xfrm>
            <a:off x="14658975" y="2314575"/>
            <a:ext cx="1721048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293" name="Shape 260"/>
          <p:cNvSpPr/>
          <p:nvPr/>
        </p:nvSpPr>
        <p:spPr>
          <a:xfrm>
            <a:off x="14658975" y="2314575"/>
            <a:ext cx="980926" cy="5715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294" name="Text 261"/>
          <p:cNvSpPr/>
          <p:nvPr/>
        </p:nvSpPr>
        <p:spPr>
          <a:xfrm>
            <a:off x="16494323" y="2281238"/>
            <a:ext cx="24110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4/7</a:t>
            </a:r>
            <a:endParaRPr lang="en-US" sz="825" dirty="0"/>
          </a:p>
        </p:txBody>
      </p:sp>
      <p:sp>
        <p:nvSpPr>
          <p:cNvPr id="295" name="Text 262"/>
          <p:cNvSpPr/>
          <p:nvPr/>
        </p:nvSpPr>
        <p:spPr>
          <a:xfrm>
            <a:off x="14277975" y="2686050"/>
            <a:ext cx="2381250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kern="0" spc="-10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대화가 자연스럽게 시작될 취향을 알려주세요.</a:t>
            </a:r>
            <a:endParaRPr lang="en-US" sz="1950" dirty="0"/>
          </a:p>
        </p:txBody>
      </p:sp>
      <p:sp>
        <p:nvSpPr>
          <p:cNvPr id="296" name="Text 263"/>
          <p:cNvSpPr/>
          <p:nvPr/>
        </p:nvSpPr>
        <p:spPr>
          <a:xfrm>
            <a:off x="14277975" y="3690937"/>
            <a:ext cx="2381250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대화와 케미 분석에 활용돼요.</a:t>
            </a:r>
            <a:endParaRPr lang="en-US" sz="975" dirty="0"/>
          </a:p>
        </p:txBody>
      </p:sp>
      <p:sp>
        <p:nvSpPr>
          <p:cNvPr id="297" name="Text 264"/>
          <p:cNvSpPr/>
          <p:nvPr/>
        </p:nvSpPr>
        <p:spPr>
          <a:xfrm>
            <a:off x="14239875" y="4263777"/>
            <a:ext cx="56792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인생 영화</a:t>
            </a:r>
            <a:endParaRPr lang="en-US" sz="1050" dirty="0"/>
          </a:p>
        </p:txBody>
      </p:sp>
      <p:sp>
        <p:nvSpPr>
          <p:cNvPr id="298" name="Text 265"/>
          <p:cNvSpPr/>
          <p:nvPr/>
        </p:nvSpPr>
        <p:spPr>
          <a:xfrm>
            <a:off x="16410831" y="4292352"/>
            <a:ext cx="28649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</a:t>
            </a:r>
            <a:endParaRPr lang="en-US" sz="825" dirty="0"/>
          </a:p>
        </p:txBody>
      </p:sp>
      <p:sp>
        <p:nvSpPr>
          <p:cNvPr id="299" name="Shape 266"/>
          <p:cNvSpPr/>
          <p:nvPr/>
        </p:nvSpPr>
        <p:spPr>
          <a:xfrm>
            <a:off x="14239875" y="4511427"/>
            <a:ext cx="238125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00" name="Text 267"/>
          <p:cNvSpPr/>
          <p:nvPr/>
        </p:nvSpPr>
        <p:spPr>
          <a:xfrm>
            <a:off x="14239875" y="5187702"/>
            <a:ext cx="3067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취미</a:t>
            </a:r>
            <a:endParaRPr lang="en-US" sz="1050" dirty="0"/>
          </a:p>
        </p:txBody>
      </p:sp>
      <p:sp>
        <p:nvSpPr>
          <p:cNvPr id="301" name="Text 268"/>
          <p:cNvSpPr/>
          <p:nvPr/>
        </p:nvSpPr>
        <p:spPr>
          <a:xfrm>
            <a:off x="16110049" y="5216277"/>
            <a:ext cx="58727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개 선택</a:t>
            </a:r>
            <a:endParaRPr lang="en-US" sz="825" dirty="0"/>
          </a:p>
        </p:txBody>
      </p:sp>
      <p:sp>
        <p:nvSpPr>
          <p:cNvPr id="302" name="Shape 269"/>
          <p:cNvSpPr/>
          <p:nvPr/>
        </p:nvSpPr>
        <p:spPr>
          <a:xfrm>
            <a:off x="14239875" y="5435352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03" name="Text 270"/>
          <p:cNvSpPr/>
          <p:nvPr/>
        </p:nvSpPr>
        <p:spPr>
          <a:xfrm>
            <a:off x="14344650" y="5540127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영화</a:t>
            </a:r>
            <a:endParaRPr lang="en-US" sz="975" dirty="0"/>
          </a:p>
        </p:txBody>
      </p:sp>
      <p:sp>
        <p:nvSpPr>
          <p:cNvPr id="304" name="Shape 271"/>
          <p:cNvSpPr/>
          <p:nvPr/>
        </p:nvSpPr>
        <p:spPr>
          <a:xfrm>
            <a:off x="14815989" y="5435352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305" name="Text 272"/>
          <p:cNvSpPr/>
          <p:nvPr/>
        </p:nvSpPr>
        <p:spPr>
          <a:xfrm>
            <a:off x="14920764" y="5540127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전시</a:t>
            </a:r>
            <a:endParaRPr lang="en-US" sz="975" dirty="0"/>
          </a:p>
        </p:txBody>
      </p:sp>
      <p:sp>
        <p:nvSpPr>
          <p:cNvPr id="306" name="Shape 273"/>
          <p:cNvSpPr/>
          <p:nvPr/>
        </p:nvSpPr>
        <p:spPr>
          <a:xfrm>
            <a:off x="15392102" y="5435352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07" name="Text 274"/>
          <p:cNvSpPr/>
          <p:nvPr/>
        </p:nvSpPr>
        <p:spPr>
          <a:xfrm>
            <a:off x="15496877" y="5540127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</a:t>
            </a:r>
            <a:endParaRPr lang="en-US" sz="975" dirty="0"/>
          </a:p>
        </p:txBody>
      </p:sp>
      <p:sp>
        <p:nvSpPr>
          <p:cNvPr id="308" name="Shape 275"/>
          <p:cNvSpPr/>
          <p:nvPr/>
        </p:nvSpPr>
        <p:spPr>
          <a:xfrm>
            <a:off x="15968216" y="5435352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09" name="Text 276"/>
          <p:cNvSpPr/>
          <p:nvPr/>
        </p:nvSpPr>
        <p:spPr>
          <a:xfrm>
            <a:off x="16072991" y="5540127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맛집</a:t>
            </a:r>
            <a:endParaRPr lang="en-US" sz="975" dirty="0"/>
          </a:p>
        </p:txBody>
      </p:sp>
      <p:sp>
        <p:nvSpPr>
          <p:cNvPr id="310" name="Shape 277"/>
          <p:cNvSpPr/>
          <p:nvPr/>
        </p:nvSpPr>
        <p:spPr>
          <a:xfrm>
            <a:off x="14239875" y="5863977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11" name="Text 278"/>
          <p:cNvSpPr/>
          <p:nvPr/>
        </p:nvSpPr>
        <p:spPr>
          <a:xfrm>
            <a:off x="14344650" y="5968752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</a:t>
            </a:r>
            <a:endParaRPr lang="en-US" sz="975" dirty="0"/>
          </a:p>
        </p:txBody>
      </p:sp>
      <p:sp>
        <p:nvSpPr>
          <p:cNvPr id="312" name="Shape 279"/>
          <p:cNvSpPr/>
          <p:nvPr/>
        </p:nvSpPr>
        <p:spPr>
          <a:xfrm>
            <a:off x="14815989" y="5863977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13" name="Text 280"/>
          <p:cNvSpPr/>
          <p:nvPr/>
        </p:nvSpPr>
        <p:spPr>
          <a:xfrm>
            <a:off x="14920764" y="5968752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독서</a:t>
            </a:r>
            <a:endParaRPr lang="en-US" sz="975" dirty="0"/>
          </a:p>
        </p:txBody>
      </p:sp>
      <p:sp>
        <p:nvSpPr>
          <p:cNvPr id="314" name="Shape 281"/>
          <p:cNvSpPr/>
          <p:nvPr/>
        </p:nvSpPr>
        <p:spPr>
          <a:xfrm>
            <a:off x="15392102" y="5863977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15" name="Text 282"/>
          <p:cNvSpPr/>
          <p:nvPr/>
        </p:nvSpPr>
        <p:spPr>
          <a:xfrm>
            <a:off x="15496877" y="5968752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음악</a:t>
            </a:r>
            <a:endParaRPr lang="en-US" sz="975" dirty="0"/>
          </a:p>
        </p:txBody>
      </p:sp>
      <p:sp>
        <p:nvSpPr>
          <p:cNvPr id="316" name="Shape 283"/>
          <p:cNvSpPr/>
          <p:nvPr/>
        </p:nvSpPr>
        <p:spPr>
          <a:xfrm>
            <a:off x="15968216" y="5863977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317" name="Text 284"/>
          <p:cNvSpPr/>
          <p:nvPr/>
        </p:nvSpPr>
        <p:spPr>
          <a:xfrm>
            <a:off x="16072991" y="5968752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카페</a:t>
            </a:r>
            <a:endParaRPr lang="en-US" sz="975" dirty="0"/>
          </a:p>
        </p:txBody>
      </p:sp>
      <p:sp>
        <p:nvSpPr>
          <p:cNvPr id="318" name="Shape 285"/>
          <p:cNvSpPr/>
          <p:nvPr/>
        </p:nvSpPr>
        <p:spPr>
          <a:xfrm>
            <a:off x="14239875" y="6292602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19" name="Text 286"/>
          <p:cNvSpPr/>
          <p:nvPr/>
        </p:nvSpPr>
        <p:spPr>
          <a:xfrm>
            <a:off x="14344650" y="6397377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산책</a:t>
            </a:r>
            <a:endParaRPr lang="en-US" sz="975" dirty="0"/>
          </a:p>
        </p:txBody>
      </p:sp>
      <p:sp>
        <p:nvSpPr>
          <p:cNvPr id="320" name="Shape 287"/>
          <p:cNvSpPr/>
          <p:nvPr/>
        </p:nvSpPr>
        <p:spPr>
          <a:xfrm>
            <a:off x="14815989" y="6292602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321" name="Text 288"/>
          <p:cNvSpPr/>
          <p:nvPr/>
        </p:nvSpPr>
        <p:spPr>
          <a:xfrm>
            <a:off x="14920764" y="6397377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요리</a:t>
            </a:r>
            <a:endParaRPr lang="en-US" sz="975" dirty="0"/>
          </a:p>
        </p:txBody>
      </p:sp>
      <p:sp>
        <p:nvSpPr>
          <p:cNvPr id="322" name="Shape 289"/>
          <p:cNvSpPr/>
          <p:nvPr/>
        </p:nvSpPr>
        <p:spPr>
          <a:xfrm>
            <a:off x="15392102" y="6292602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23" name="Text 290"/>
          <p:cNvSpPr/>
          <p:nvPr/>
        </p:nvSpPr>
        <p:spPr>
          <a:xfrm>
            <a:off x="15496877" y="6397377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</a:t>
            </a:r>
            <a:endParaRPr lang="en-US" sz="975" dirty="0"/>
          </a:p>
        </p:txBody>
      </p:sp>
      <p:sp>
        <p:nvSpPr>
          <p:cNvPr id="324" name="Shape 291"/>
          <p:cNvSpPr/>
          <p:nvPr/>
        </p:nvSpPr>
        <p:spPr>
          <a:xfrm>
            <a:off x="15968216" y="6292602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25" name="Text 292"/>
          <p:cNvSpPr/>
          <p:nvPr/>
        </p:nvSpPr>
        <p:spPr>
          <a:xfrm>
            <a:off x="16072991" y="6397377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</a:t>
            </a:r>
            <a:endParaRPr lang="en-US" sz="975" dirty="0"/>
          </a:p>
        </p:txBody>
      </p:sp>
      <p:sp>
        <p:nvSpPr>
          <p:cNvPr id="326" name="Shape 293"/>
          <p:cNvSpPr/>
          <p:nvPr/>
        </p:nvSpPr>
        <p:spPr>
          <a:xfrm>
            <a:off x="14239875" y="6721227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27" name="Text 294"/>
          <p:cNvSpPr/>
          <p:nvPr/>
        </p:nvSpPr>
        <p:spPr>
          <a:xfrm>
            <a:off x="14344650" y="6826002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반려동물</a:t>
            </a:r>
            <a:endParaRPr lang="en-US" sz="975" dirty="0"/>
          </a:p>
        </p:txBody>
      </p:sp>
      <p:sp>
        <p:nvSpPr>
          <p:cNvPr id="328" name="Shape 295"/>
          <p:cNvSpPr/>
          <p:nvPr/>
        </p:nvSpPr>
        <p:spPr>
          <a:xfrm>
            <a:off x="15030004" y="6721227"/>
            <a:ext cx="91469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329" name="Image 3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172879" y="6840289"/>
            <a:ext cx="114300" cy="114300"/>
          </a:xfrm>
          <a:prstGeom prst="rect">
            <a:avLst/>
          </a:prstGeom>
        </p:spPr>
      </p:pic>
      <p:sp>
        <p:nvSpPr>
          <p:cNvPr id="330" name="Text 296"/>
          <p:cNvSpPr/>
          <p:nvPr/>
        </p:nvSpPr>
        <p:spPr>
          <a:xfrm>
            <a:off x="15306229" y="6826002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입력</a:t>
            </a:r>
            <a:endParaRPr lang="en-US" sz="975" dirty="0"/>
          </a:p>
        </p:txBody>
      </p:sp>
      <p:sp>
        <p:nvSpPr>
          <p:cNvPr id="331" name="Text 297"/>
          <p:cNvSpPr/>
          <p:nvPr/>
        </p:nvSpPr>
        <p:spPr>
          <a:xfrm>
            <a:off x="14239875" y="7283202"/>
            <a:ext cx="7984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좋아하는 음식</a:t>
            </a:r>
            <a:endParaRPr lang="en-US" sz="1050" dirty="0"/>
          </a:p>
        </p:txBody>
      </p:sp>
      <p:sp>
        <p:nvSpPr>
          <p:cNvPr id="332" name="Shape 298"/>
          <p:cNvSpPr/>
          <p:nvPr/>
        </p:nvSpPr>
        <p:spPr>
          <a:xfrm>
            <a:off x="14239875" y="7530852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33" name="Text 299"/>
          <p:cNvSpPr/>
          <p:nvPr/>
        </p:nvSpPr>
        <p:spPr>
          <a:xfrm>
            <a:off x="14344650" y="7635627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한식</a:t>
            </a:r>
            <a:endParaRPr lang="en-US" sz="975" dirty="0"/>
          </a:p>
        </p:txBody>
      </p:sp>
      <p:sp>
        <p:nvSpPr>
          <p:cNvPr id="334" name="Shape 300"/>
          <p:cNvSpPr/>
          <p:nvPr/>
        </p:nvSpPr>
        <p:spPr>
          <a:xfrm>
            <a:off x="14815989" y="7530852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35" name="Text 301"/>
          <p:cNvSpPr/>
          <p:nvPr/>
        </p:nvSpPr>
        <p:spPr>
          <a:xfrm>
            <a:off x="14920764" y="7635627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양식</a:t>
            </a:r>
            <a:endParaRPr lang="en-US" sz="975" dirty="0"/>
          </a:p>
        </p:txBody>
      </p:sp>
      <p:sp>
        <p:nvSpPr>
          <p:cNvPr id="336" name="Shape 302"/>
          <p:cNvSpPr/>
          <p:nvPr/>
        </p:nvSpPr>
        <p:spPr>
          <a:xfrm>
            <a:off x="15392102" y="7530852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37" name="Text 303"/>
          <p:cNvSpPr/>
          <p:nvPr/>
        </p:nvSpPr>
        <p:spPr>
          <a:xfrm>
            <a:off x="15496877" y="7635627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일식</a:t>
            </a:r>
            <a:endParaRPr lang="en-US" sz="975" dirty="0"/>
          </a:p>
        </p:txBody>
      </p:sp>
      <p:sp>
        <p:nvSpPr>
          <p:cNvPr id="338" name="Shape 304"/>
          <p:cNvSpPr/>
          <p:nvPr/>
        </p:nvSpPr>
        <p:spPr>
          <a:xfrm>
            <a:off x="15968216" y="7530852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39" name="Text 305"/>
          <p:cNvSpPr/>
          <p:nvPr/>
        </p:nvSpPr>
        <p:spPr>
          <a:xfrm>
            <a:off x="16072991" y="7635627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중식</a:t>
            </a:r>
            <a:endParaRPr lang="en-US" sz="975" dirty="0"/>
          </a:p>
        </p:txBody>
      </p:sp>
      <p:sp>
        <p:nvSpPr>
          <p:cNvPr id="340" name="Shape 306"/>
          <p:cNvSpPr/>
          <p:nvPr/>
        </p:nvSpPr>
        <p:spPr>
          <a:xfrm>
            <a:off x="14239875" y="7959477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341" name="Text 307"/>
          <p:cNvSpPr/>
          <p:nvPr/>
        </p:nvSpPr>
        <p:spPr>
          <a:xfrm>
            <a:off x="14344650" y="8064252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디저트</a:t>
            </a:r>
            <a:endParaRPr lang="en-US" sz="975" dirty="0"/>
          </a:p>
        </p:txBody>
      </p:sp>
      <p:sp>
        <p:nvSpPr>
          <p:cNvPr id="342" name="Shape 308"/>
          <p:cNvSpPr/>
          <p:nvPr/>
        </p:nvSpPr>
        <p:spPr>
          <a:xfrm>
            <a:off x="14922996" y="7959477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43" name="Text 309"/>
          <p:cNvSpPr/>
          <p:nvPr/>
        </p:nvSpPr>
        <p:spPr>
          <a:xfrm>
            <a:off x="15027771" y="8064252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고기</a:t>
            </a:r>
            <a:endParaRPr lang="en-US" sz="975" dirty="0"/>
          </a:p>
        </p:txBody>
      </p:sp>
      <p:sp>
        <p:nvSpPr>
          <p:cNvPr id="344" name="Shape 310"/>
          <p:cNvSpPr/>
          <p:nvPr/>
        </p:nvSpPr>
        <p:spPr>
          <a:xfrm>
            <a:off x="15499110" y="7959477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45" name="Text 311"/>
          <p:cNvSpPr/>
          <p:nvPr/>
        </p:nvSpPr>
        <p:spPr>
          <a:xfrm>
            <a:off x="15603885" y="8064252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해산물</a:t>
            </a:r>
            <a:endParaRPr lang="en-US" sz="975" dirty="0"/>
          </a:p>
        </p:txBody>
      </p:sp>
      <p:sp>
        <p:nvSpPr>
          <p:cNvPr id="346" name="Shape 312"/>
          <p:cNvSpPr/>
          <p:nvPr/>
        </p:nvSpPr>
        <p:spPr>
          <a:xfrm>
            <a:off x="14239875" y="8388102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47" name="Text 313"/>
          <p:cNvSpPr/>
          <p:nvPr/>
        </p:nvSpPr>
        <p:spPr>
          <a:xfrm>
            <a:off x="14344650" y="8492877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매운 음식</a:t>
            </a:r>
            <a:endParaRPr lang="en-US" sz="975" dirty="0"/>
          </a:p>
        </p:txBody>
      </p:sp>
      <p:sp>
        <p:nvSpPr>
          <p:cNvPr id="348" name="Shape 314"/>
          <p:cNvSpPr/>
          <p:nvPr/>
        </p:nvSpPr>
        <p:spPr>
          <a:xfrm>
            <a:off x="15059323" y="8388102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349" name="Text 315"/>
          <p:cNvSpPr/>
          <p:nvPr/>
        </p:nvSpPr>
        <p:spPr>
          <a:xfrm>
            <a:off x="15164098" y="8492877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커피</a:t>
            </a:r>
            <a:endParaRPr lang="en-US" sz="975" dirty="0"/>
          </a:p>
        </p:txBody>
      </p:sp>
      <p:sp>
        <p:nvSpPr>
          <p:cNvPr id="350" name="Shape 316"/>
          <p:cNvSpPr/>
          <p:nvPr/>
        </p:nvSpPr>
        <p:spPr>
          <a:xfrm>
            <a:off x="15635436" y="8388102"/>
            <a:ext cx="865287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51" name="Text 317"/>
          <p:cNvSpPr/>
          <p:nvPr/>
        </p:nvSpPr>
        <p:spPr>
          <a:xfrm>
            <a:off x="15740211" y="8492877"/>
            <a:ext cx="6557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와인/논알콜</a:t>
            </a:r>
            <a:endParaRPr lang="en-US" sz="975" dirty="0"/>
          </a:p>
        </p:txBody>
      </p:sp>
      <p:sp>
        <p:nvSpPr>
          <p:cNvPr id="352" name="Text 318"/>
          <p:cNvSpPr/>
          <p:nvPr/>
        </p:nvSpPr>
        <p:spPr>
          <a:xfrm>
            <a:off x="14239875" y="8950077"/>
            <a:ext cx="11749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주말에 좋아하는 활동</a:t>
            </a:r>
            <a:endParaRPr lang="en-US" sz="1050" dirty="0"/>
          </a:p>
        </p:txBody>
      </p:sp>
      <p:sp>
        <p:nvSpPr>
          <p:cNvPr id="353" name="Shape 319"/>
          <p:cNvSpPr/>
          <p:nvPr/>
        </p:nvSpPr>
        <p:spPr>
          <a:xfrm>
            <a:off x="14239875" y="9197727"/>
            <a:ext cx="1084808" cy="1104900"/>
          </a:xfrm>
          <a:prstGeom prst="roundRect">
            <a:avLst>
              <a:gd name="adj" fmla="val 15805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54" name="Shape 320"/>
          <p:cNvSpPr/>
          <p:nvPr/>
        </p:nvSpPr>
        <p:spPr>
          <a:xfrm>
            <a:off x="14401800" y="957872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355" name="Image 3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87525" y="9664452"/>
            <a:ext cx="171450" cy="171450"/>
          </a:xfrm>
          <a:prstGeom prst="rect">
            <a:avLst/>
          </a:prstGeom>
        </p:spPr>
      </p:pic>
      <p:sp>
        <p:nvSpPr>
          <p:cNvPr id="356" name="Text 321"/>
          <p:cNvSpPr/>
          <p:nvPr/>
        </p:nvSpPr>
        <p:spPr>
          <a:xfrm>
            <a:off x="14859000" y="9445377"/>
            <a:ext cx="37995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밖에서 에너지 충전</a:t>
            </a:r>
            <a:endParaRPr lang="en-US" sz="1050" dirty="0"/>
          </a:p>
        </p:txBody>
      </p:sp>
      <p:sp>
        <p:nvSpPr>
          <p:cNvPr id="357" name="Shape 322"/>
          <p:cNvSpPr/>
          <p:nvPr/>
        </p:nvSpPr>
        <p:spPr>
          <a:xfrm>
            <a:off x="15419933" y="9197727"/>
            <a:ext cx="1201192" cy="1104900"/>
          </a:xfrm>
          <a:prstGeom prst="roundRect">
            <a:avLst>
              <a:gd name="adj" fmla="val 15517"/>
            </a:avLst>
          </a:prstGeom>
          <a:solidFill>
            <a:srgbClr val="7A1F2B"/>
          </a:solidFill>
          <a:ln w="19050">
            <a:solidFill>
              <a:srgbClr val="F5DFA8"/>
            </a:solidFill>
            <a:prstDash val="solid"/>
          </a:ln>
        </p:spPr>
      </p:sp>
      <p:sp>
        <p:nvSpPr>
          <p:cNvPr id="358" name="Shape 323"/>
          <p:cNvSpPr/>
          <p:nvPr/>
        </p:nvSpPr>
        <p:spPr>
          <a:xfrm>
            <a:off x="15591383" y="957872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5DFA8">
              <a:alpha val="18000"/>
            </a:srgbClr>
          </a:solidFill>
          <a:ln/>
        </p:spPr>
      </p:sp>
      <p:pic>
        <p:nvPicPr>
          <p:cNvPr id="359" name="Image 3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677108" y="9664452"/>
            <a:ext cx="171450" cy="171450"/>
          </a:xfrm>
          <a:prstGeom prst="rect">
            <a:avLst/>
          </a:prstGeom>
        </p:spPr>
      </p:pic>
      <p:sp>
        <p:nvSpPr>
          <p:cNvPr id="360" name="Text 324"/>
          <p:cNvSpPr/>
          <p:nvPr/>
        </p:nvSpPr>
        <p:spPr>
          <a:xfrm>
            <a:off x="16048583" y="9369177"/>
            <a:ext cx="19154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조용한 휴식</a:t>
            </a:r>
            <a:endParaRPr lang="en-US" sz="1050" dirty="0"/>
          </a:p>
        </p:txBody>
      </p:sp>
      <p:pic>
        <p:nvPicPr>
          <p:cNvPr id="361" name="Image 3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278225" y="9664452"/>
            <a:ext cx="171450" cy="171450"/>
          </a:xfrm>
          <a:prstGeom prst="rect">
            <a:avLst/>
          </a:prstGeom>
        </p:spPr>
      </p:pic>
      <p:sp>
        <p:nvSpPr>
          <p:cNvPr id="362" name="Shape 325"/>
          <p:cNvSpPr/>
          <p:nvPr/>
        </p:nvSpPr>
        <p:spPr>
          <a:xfrm>
            <a:off x="14239875" y="10397877"/>
            <a:ext cx="1084808" cy="781050"/>
          </a:xfrm>
          <a:prstGeom prst="roundRect">
            <a:avLst>
              <a:gd name="adj" fmla="val 21951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63" name="Shape 326"/>
          <p:cNvSpPr/>
          <p:nvPr/>
        </p:nvSpPr>
        <p:spPr>
          <a:xfrm>
            <a:off x="14401800" y="10616952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364" name="Image 3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487525" y="10702677"/>
            <a:ext cx="171450" cy="171450"/>
          </a:xfrm>
          <a:prstGeom prst="rect">
            <a:avLst/>
          </a:prstGeom>
        </p:spPr>
      </p:pic>
      <p:sp>
        <p:nvSpPr>
          <p:cNvPr id="365" name="Text 327"/>
          <p:cNvSpPr/>
          <p:nvPr/>
        </p:nvSpPr>
        <p:spPr>
          <a:xfrm>
            <a:off x="14859000" y="10559802"/>
            <a:ext cx="37995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맛집·카페 탐방</a:t>
            </a:r>
            <a:endParaRPr lang="en-US" sz="1050" dirty="0"/>
          </a:p>
        </p:txBody>
      </p:sp>
      <p:sp>
        <p:nvSpPr>
          <p:cNvPr id="366" name="Shape 328"/>
          <p:cNvSpPr/>
          <p:nvPr/>
        </p:nvSpPr>
        <p:spPr>
          <a:xfrm>
            <a:off x="15419933" y="10397877"/>
            <a:ext cx="1201192" cy="781050"/>
          </a:xfrm>
          <a:prstGeom prst="roundRect">
            <a:avLst>
              <a:gd name="adj" fmla="val 21951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67" name="Shape 329"/>
          <p:cNvSpPr/>
          <p:nvPr/>
        </p:nvSpPr>
        <p:spPr>
          <a:xfrm>
            <a:off x="15581858" y="10616952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368" name="Image 3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667583" y="10702677"/>
            <a:ext cx="171450" cy="171450"/>
          </a:xfrm>
          <a:prstGeom prst="rect">
            <a:avLst/>
          </a:prstGeom>
        </p:spPr>
      </p:pic>
      <p:sp>
        <p:nvSpPr>
          <p:cNvPr id="369" name="Text 330"/>
          <p:cNvSpPr/>
          <p:nvPr/>
        </p:nvSpPr>
        <p:spPr>
          <a:xfrm>
            <a:off x="16039058" y="10636002"/>
            <a:ext cx="4963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경험</a:t>
            </a:r>
            <a:endParaRPr lang="en-US" sz="1050" dirty="0"/>
          </a:p>
        </p:txBody>
      </p:sp>
      <p:sp>
        <p:nvSpPr>
          <p:cNvPr id="370" name="Text 331"/>
          <p:cNvSpPr/>
          <p:nvPr/>
        </p:nvSpPr>
        <p:spPr>
          <a:xfrm>
            <a:off x="14239875" y="11388477"/>
            <a:ext cx="683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디저트 취향</a:t>
            </a:r>
            <a:endParaRPr lang="en-US" sz="1050" dirty="0"/>
          </a:p>
        </p:txBody>
      </p:sp>
      <p:sp>
        <p:nvSpPr>
          <p:cNvPr id="371" name="Shape 332"/>
          <p:cNvSpPr/>
          <p:nvPr/>
        </p:nvSpPr>
        <p:spPr>
          <a:xfrm>
            <a:off x="14239875" y="11636127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72" name="Text 333"/>
          <p:cNvSpPr/>
          <p:nvPr/>
        </p:nvSpPr>
        <p:spPr>
          <a:xfrm>
            <a:off x="14344650" y="11740902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초콜릿</a:t>
            </a:r>
            <a:endParaRPr lang="en-US" sz="975" dirty="0"/>
          </a:p>
        </p:txBody>
      </p:sp>
      <p:sp>
        <p:nvSpPr>
          <p:cNvPr id="373" name="Shape 334"/>
          <p:cNvSpPr/>
          <p:nvPr/>
        </p:nvSpPr>
        <p:spPr>
          <a:xfrm>
            <a:off x="14922996" y="11636127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74" name="Text 335"/>
          <p:cNvSpPr/>
          <p:nvPr/>
        </p:nvSpPr>
        <p:spPr>
          <a:xfrm>
            <a:off x="15027771" y="11740902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과일</a:t>
            </a:r>
            <a:endParaRPr lang="en-US" sz="975" dirty="0"/>
          </a:p>
        </p:txBody>
      </p:sp>
      <p:sp>
        <p:nvSpPr>
          <p:cNvPr id="375" name="Shape 336"/>
          <p:cNvSpPr/>
          <p:nvPr/>
        </p:nvSpPr>
        <p:spPr>
          <a:xfrm>
            <a:off x="15499110" y="11636127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376" name="Text 337"/>
          <p:cNvSpPr/>
          <p:nvPr/>
        </p:nvSpPr>
        <p:spPr>
          <a:xfrm>
            <a:off x="15603885" y="11740902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크림</a:t>
            </a:r>
            <a:endParaRPr lang="en-US" sz="975" dirty="0"/>
          </a:p>
        </p:txBody>
      </p:sp>
      <p:sp>
        <p:nvSpPr>
          <p:cNvPr id="377" name="Shape 338"/>
          <p:cNvSpPr/>
          <p:nvPr/>
        </p:nvSpPr>
        <p:spPr>
          <a:xfrm>
            <a:off x="14239875" y="12064752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78" name="Text 339"/>
          <p:cNvSpPr/>
          <p:nvPr/>
        </p:nvSpPr>
        <p:spPr>
          <a:xfrm>
            <a:off x="14344650" y="12169527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담백한 빵</a:t>
            </a:r>
            <a:endParaRPr lang="en-US" sz="975" dirty="0"/>
          </a:p>
        </p:txBody>
      </p:sp>
      <p:sp>
        <p:nvSpPr>
          <p:cNvPr id="379" name="Shape 340"/>
          <p:cNvSpPr/>
          <p:nvPr/>
        </p:nvSpPr>
        <p:spPr>
          <a:xfrm>
            <a:off x="15059323" y="12064752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80" name="Text 341"/>
          <p:cNvSpPr/>
          <p:nvPr/>
        </p:nvSpPr>
        <p:spPr>
          <a:xfrm>
            <a:off x="15164098" y="12169527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커피 페어링</a:t>
            </a:r>
            <a:endParaRPr lang="en-US" sz="975" dirty="0"/>
          </a:p>
        </p:txBody>
      </p:sp>
      <p:sp>
        <p:nvSpPr>
          <p:cNvPr id="381" name="Shape 342"/>
          <p:cNvSpPr/>
          <p:nvPr/>
        </p:nvSpPr>
        <p:spPr>
          <a:xfrm>
            <a:off x="14239875" y="12493377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382" name="Text 343"/>
          <p:cNvSpPr/>
          <p:nvPr/>
        </p:nvSpPr>
        <p:spPr>
          <a:xfrm>
            <a:off x="14344650" y="12598152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구움과자</a:t>
            </a:r>
            <a:endParaRPr lang="en-US" sz="975" dirty="0"/>
          </a:p>
        </p:txBody>
      </p:sp>
      <p:sp>
        <p:nvSpPr>
          <p:cNvPr id="383" name="Shape 344"/>
          <p:cNvSpPr/>
          <p:nvPr/>
        </p:nvSpPr>
        <p:spPr>
          <a:xfrm>
            <a:off x="15030004" y="12493377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84" name="Text 345"/>
          <p:cNvSpPr/>
          <p:nvPr/>
        </p:nvSpPr>
        <p:spPr>
          <a:xfrm>
            <a:off x="15134779" y="12598152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케이크</a:t>
            </a:r>
            <a:endParaRPr lang="en-US" sz="975" dirty="0"/>
          </a:p>
        </p:txBody>
      </p:sp>
      <p:sp>
        <p:nvSpPr>
          <p:cNvPr id="385" name="Shape 346"/>
          <p:cNvSpPr/>
          <p:nvPr/>
        </p:nvSpPr>
        <p:spPr>
          <a:xfrm>
            <a:off x="14239875" y="6724650"/>
            <a:ext cx="238125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386" name="Text 347"/>
          <p:cNvSpPr/>
          <p:nvPr/>
        </p:nvSpPr>
        <p:spPr>
          <a:xfrm>
            <a:off x="14392275" y="6724650"/>
            <a:ext cx="2076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1275" dirty="0"/>
          </a:p>
        </p:txBody>
      </p:sp>
      <p:sp>
        <p:nvSpPr>
          <p:cNvPr id="387" name="Shape 348"/>
          <p:cNvSpPr/>
          <p:nvPr/>
        </p:nvSpPr>
        <p:spPr>
          <a:xfrm>
            <a:off x="14792325" y="74009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388" name="Text 349"/>
          <p:cNvSpPr/>
          <p:nvPr/>
        </p:nvSpPr>
        <p:spPr>
          <a:xfrm>
            <a:off x="15128453" y="7734300"/>
            <a:ext cx="6040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b="1" kern="0" spc="83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825" dirty="0"/>
          </a:p>
        </p:txBody>
      </p:sp>
      <p:sp>
        <p:nvSpPr>
          <p:cNvPr id="389" name="Text 350"/>
          <p:cNvSpPr/>
          <p:nvPr/>
        </p:nvSpPr>
        <p:spPr>
          <a:xfrm>
            <a:off x="15166553" y="7896225"/>
            <a:ext cx="6040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취향 카드</a:t>
            </a:r>
            <a:endParaRPr lang="en-US" sz="1050" dirty="0"/>
          </a:p>
        </p:txBody>
      </p:sp>
      <p:sp>
        <p:nvSpPr>
          <p:cNvPr id="390" name="Shape 351"/>
          <p:cNvSpPr/>
          <p:nvPr/>
        </p:nvSpPr>
        <p:spPr>
          <a:xfrm>
            <a:off x="2800350" y="8743950"/>
            <a:ext cx="2914650" cy="5981700"/>
          </a:xfrm>
          <a:prstGeom prst="roundRect">
            <a:avLst>
              <a:gd name="adj" fmla="val 11765"/>
            </a:avLst>
          </a:prstGeom>
          <a:solidFill>
            <a:srgbClr val="0F0A07"/>
          </a:solidFill>
          <a:ln/>
          <a:effectLst>
            <a:outerShdw blurRad="571500" dist="285750" dir="5400000" algn="bl" rotWithShape="0">
              <a:srgbClr val="3A1E14">
                <a:alpha val="20000"/>
              </a:srgbClr>
            </a:outerShdw>
          </a:effectLst>
        </p:spPr>
      </p:sp>
      <p:sp>
        <p:nvSpPr>
          <p:cNvPr id="391" name="Shape 352"/>
          <p:cNvSpPr/>
          <p:nvPr/>
        </p:nvSpPr>
        <p:spPr>
          <a:xfrm>
            <a:off x="3829050" y="883920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392" name="Shape 353"/>
          <p:cNvSpPr/>
          <p:nvPr/>
        </p:nvSpPr>
        <p:spPr>
          <a:xfrm>
            <a:off x="2876550" y="8820150"/>
            <a:ext cx="2762250" cy="5829300"/>
          </a:xfrm>
          <a:prstGeom prst="roundRect">
            <a:avLst>
              <a:gd name="adj" fmla="val 9655"/>
            </a:avLst>
          </a:prstGeom>
          <a:solidFill>
            <a:srgbClr val="FFF7EC"/>
          </a:solidFill>
          <a:ln/>
        </p:spPr>
      </p:sp>
      <p:sp>
        <p:nvSpPr>
          <p:cNvPr id="393" name="Shape 354"/>
          <p:cNvSpPr/>
          <p:nvPr/>
        </p:nvSpPr>
        <p:spPr>
          <a:xfrm>
            <a:off x="2876550" y="8820150"/>
            <a:ext cx="2762250" cy="582930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394" name="Text 355"/>
          <p:cNvSpPr/>
          <p:nvPr/>
        </p:nvSpPr>
        <p:spPr>
          <a:xfrm>
            <a:off x="3105150" y="8953500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395" name="Image 3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977313"/>
            <a:ext cx="161925" cy="104775"/>
          </a:xfrm>
          <a:prstGeom prst="rect">
            <a:avLst/>
          </a:prstGeom>
        </p:spPr>
      </p:pic>
      <p:pic>
        <p:nvPicPr>
          <p:cNvPr id="396" name="Image 3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8977313"/>
            <a:ext cx="228600" cy="104775"/>
          </a:xfrm>
          <a:prstGeom prst="rect">
            <a:avLst/>
          </a:prstGeom>
        </p:spPr>
      </p:pic>
      <p:sp>
        <p:nvSpPr>
          <p:cNvPr id="397" name="Shape 356"/>
          <p:cNvSpPr/>
          <p:nvPr/>
        </p:nvSpPr>
        <p:spPr>
          <a:xfrm>
            <a:off x="3028950" y="929640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398" name="Image 3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4200" y="9391650"/>
            <a:ext cx="152400" cy="152400"/>
          </a:xfrm>
          <a:prstGeom prst="rect">
            <a:avLst/>
          </a:prstGeom>
        </p:spPr>
      </p:pic>
      <p:sp>
        <p:nvSpPr>
          <p:cNvPr id="399" name="Shape 357"/>
          <p:cNvSpPr/>
          <p:nvPr/>
        </p:nvSpPr>
        <p:spPr>
          <a:xfrm>
            <a:off x="3486150" y="9439275"/>
            <a:ext cx="1724025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400" name="Shape 358"/>
          <p:cNvSpPr/>
          <p:nvPr/>
        </p:nvSpPr>
        <p:spPr>
          <a:xfrm>
            <a:off x="3486150" y="9439275"/>
            <a:ext cx="1223963" cy="5715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401" name="Text 359"/>
          <p:cNvSpPr/>
          <p:nvPr/>
        </p:nvSpPr>
        <p:spPr>
          <a:xfrm>
            <a:off x="5324475" y="9405938"/>
            <a:ext cx="2381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5/7</a:t>
            </a:r>
            <a:endParaRPr lang="en-US" sz="825" dirty="0"/>
          </a:p>
        </p:txBody>
      </p:sp>
      <p:sp>
        <p:nvSpPr>
          <p:cNvPr id="402" name="Text 360"/>
          <p:cNvSpPr/>
          <p:nvPr/>
        </p:nvSpPr>
        <p:spPr>
          <a:xfrm>
            <a:off x="3105150" y="9810750"/>
            <a:ext cx="23812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kern="0" spc="-10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나를 가장 잘 설명하는 말은?</a:t>
            </a:r>
            <a:endParaRPr lang="en-US" sz="1950" dirty="0"/>
          </a:p>
        </p:txBody>
      </p:sp>
      <p:sp>
        <p:nvSpPr>
          <p:cNvPr id="403" name="Text 361"/>
          <p:cNvSpPr/>
          <p:nvPr/>
        </p:nvSpPr>
        <p:spPr>
          <a:xfrm>
            <a:off x="3105150" y="10506075"/>
            <a:ext cx="2381250" cy="42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길게 쓰지 않아도 괜찮아요. 짧은 답변으로도 AI가 케미 포인트를 분석해요.</a:t>
            </a:r>
            <a:endParaRPr lang="en-US" sz="975" dirty="0"/>
          </a:p>
        </p:txBody>
      </p:sp>
      <p:sp>
        <p:nvSpPr>
          <p:cNvPr id="404" name="Text 362"/>
          <p:cNvSpPr/>
          <p:nvPr/>
        </p:nvSpPr>
        <p:spPr>
          <a:xfrm>
            <a:off x="3067050" y="11270754"/>
            <a:ext cx="4220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</a:t>
            </a:r>
            <a:endParaRPr lang="en-US" sz="1050" dirty="0"/>
          </a:p>
        </p:txBody>
      </p:sp>
      <p:sp>
        <p:nvSpPr>
          <p:cNvPr id="405" name="Text 363"/>
          <p:cNvSpPr/>
          <p:nvPr/>
        </p:nvSpPr>
        <p:spPr>
          <a:xfrm>
            <a:off x="5089178" y="11299329"/>
            <a:ext cx="43532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3개</a:t>
            </a:r>
            <a:endParaRPr lang="en-US" sz="825" dirty="0"/>
          </a:p>
        </p:txBody>
      </p:sp>
      <p:sp>
        <p:nvSpPr>
          <p:cNvPr id="406" name="Shape 364"/>
          <p:cNvSpPr/>
          <p:nvPr/>
        </p:nvSpPr>
        <p:spPr>
          <a:xfrm>
            <a:off x="3067050" y="11518404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407" name="Text 365"/>
          <p:cNvSpPr/>
          <p:nvPr/>
        </p:nvSpPr>
        <p:spPr>
          <a:xfrm>
            <a:off x="3171825" y="11623179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다정한</a:t>
            </a:r>
            <a:endParaRPr lang="en-US" sz="975" dirty="0"/>
          </a:p>
        </p:txBody>
      </p:sp>
      <p:sp>
        <p:nvSpPr>
          <p:cNvPr id="408" name="Shape 366"/>
          <p:cNvSpPr/>
          <p:nvPr/>
        </p:nvSpPr>
        <p:spPr>
          <a:xfrm>
            <a:off x="3750171" y="11518404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09" name="Text 367"/>
          <p:cNvSpPr/>
          <p:nvPr/>
        </p:nvSpPr>
        <p:spPr>
          <a:xfrm>
            <a:off x="3854946" y="11623179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성실한</a:t>
            </a:r>
            <a:endParaRPr lang="en-US" sz="975" dirty="0"/>
          </a:p>
        </p:txBody>
      </p:sp>
      <p:sp>
        <p:nvSpPr>
          <p:cNvPr id="410" name="Shape 368"/>
          <p:cNvSpPr/>
          <p:nvPr/>
        </p:nvSpPr>
        <p:spPr>
          <a:xfrm>
            <a:off x="4433292" y="11518404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11" name="Text 369"/>
          <p:cNvSpPr/>
          <p:nvPr/>
        </p:nvSpPr>
        <p:spPr>
          <a:xfrm>
            <a:off x="4538067" y="11623179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유쾌한</a:t>
            </a:r>
            <a:endParaRPr lang="en-US" sz="975" dirty="0"/>
          </a:p>
        </p:txBody>
      </p:sp>
      <p:sp>
        <p:nvSpPr>
          <p:cNvPr id="412" name="Shape 370"/>
          <p:cNvSpPr/>
          <p:nvPr/>
        </p:nvSpPr>
        <p:spPr>
          <a:xfrm>
            <a:off x="3067050" y="1194702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413" name="Text 371"/>
          <p:cNvSpPr/>
          <p:nvPr/>
        </p:nvSpPr>
        <p:spPr>
          <a:xfrm>
            <a:off x="3171825" y="1205180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차분한</a:t>
            </a:r>
            <a:endParaRPr lang="en-US" sz="975" dirty="0"/>
          </a:p>
        </p:txBody>
      </p:sp>
      <p:sp>
        <p:nvSpPr>
          <p:cNvPr id="414" name="Shape 372"/>
          <p:cNvSpPr/>
          <p:nvPr/>
        </p:nvSpPr>
        <p:spPr>
          <a:xfrm>
            <a:off x="3750171" y="11947029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15" name="Text 373"/>
          <p:cNvSpPr/>
          <p:nvPr/>
        </p:nvSpPr>
        <p:spPr>
          <a:xfrm>
            <a:off x="3854946" y="12051804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배려 깊은</a:t>
            </a:r>
            <a:endParaRPr lang="en-US" sz="975" dirty="0"/>
          </a:p>
        </p:txBody>
      </p:sp>
      <p:sp>
        <p:nvSpPr>
          <p:cNvPr id="416" name="Shape 374"/>
          <p:cNvSpPr/>
          <p:nvPr/>
        </p:nvSpPr>
        <p:spPr>
          <a:xfrm>
            <a:off x="4569619" y="1194702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17" name="Text 375"/>
          <p:cNvSpPr/>
          <p:nvPr/>
        </p:nvSpPr>
        <p:spPr>
          <a:xfrm>
            <a:off x="4674394" y="1205180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솔직한</a:t>
            </a:r>
            <a:endParaRPr lang="en-US" sz="975" dirty="0"/>
          </a:p>
        </p:txBody>
      </p:sp>
      <p:sp>
        <p:nvSpPr>
          <p:cNvPr id="418" name="Shape 376"/>
          <p:cNvSpPr/>
          <p:nvPr/>
        </p:nvSpPr>
        <p:spPr>
          <a:xfrm>
            <a:off x="3067050" y="12375654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19" name="Text 377"/>
          <p:cNvSpPr/>
          <p:nvPr/>
        </p:nvSpPr>
        <p:spPr>
          <a:xfrm>
            <a:off x="3171825" y="12480429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책임감 있는</a:t>
            </a:r>
            <a:endParaRPr lang="en-US" sz="975" dirty="0"/>
          </a:p>
        </p:txBody>
      </p:sp>
      <p:sp>
        <p:nvSpPr>
          <p:cNvPr id="420" name="Shape 378"/>
          <p:cNvSpPr/>
          <p:nvPr/>
        </p:nvSpPr>
        <p:spPr>
          <a:xfrm>
            <a:off x="3993505" y="12375654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21" name="Text 379"/>
          <p:cNvSpPr/>
          <p:nvPr/>
        </p:nvSpPr>
        <p:spPr>
          <a:xfrm>
            <a:off x="4098280" y="12480429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감성적인</a:t>
            </a:r>
            <a:endParaRPr lang="en-US" sz="975" dirty="0"/>
          </a:p>
        </p:txBody>
      </p:sp>
      <p:sp>
        <p:nvSpPr>
          <p:cNvPr id="422" name="Shape 380"/>
          <p:cNvSpPr/>
          <p:nvPr/>
        </p:nvSpPr>
        <p:spPr>
          <a:xfrm>
            <a:off x="3067050" y="12804279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23" name="Text 381"/>
          <p:cNvSpPr/>
          <p:nvPr/>
        </p:nvSpPr>
        <p:spPr>
          <a:xfrm>
            <a:off x="3171825" y="12909054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현실적인</a:t>
            </a:r>
            <a:endParaRPr lang="en-US" sz="975" dirty="0"/>
          </a:p>
        </p:txBody>
      </p:sp>
      <p:sp>
        <p:nvSpPr>
          <p:cNvPr id="424" name="Shape 382"/>
          <p:cNvSpPr/>
          <p:nvPr/>
        </p:nvSpPr>
        <p:spPr>
          <a:xfrm>
            <a:off x="3857179" y="12804279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25" name="Text 383"/>
          <p:cNvSpPr/>
          <p:nvPr/>
        </p:nvSpPr>
        <p:spPr>
          <a:xfrm>
            <a:off x="3961954" y="12909054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도전적인</a:t>
            </a:r>
            <a:endParaRPr lang="en-US" sz="975" dirty="0"/>
          </a:p>
        </p:txBody>
      </p:sp>
      <p:sp>
        <p:nvSpPr>
          <p:cNvPr id="426" name="Shape 384"/>
          <p:cNvSpPr/>
          <p:nvPr/>
        </p:nvSpPr>
        <p:spPr>
          <a:xfrm>
            <a:off x="4647307" y="1280427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427" name="Text 385"/>
          <p:cNvSpPr/>
          <p:nvPr/>
        </p:nvSpPr>
        <p:spPr>
          <a:xfrm>
            <a:off x="4752082" y="1290905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섬세한</a:t>
            </a:r>
            <a:endParaRPr lang="en-US" sz="975" dirty="0"/>
          </a:p>
        </p:txBody>
      </p:sp>
      <p:sp>
        <p:nvSpPr>
          <p:cNvPr id="428" name="Shape 386"/>
          <p:cNvSpPr/>
          <p:nvPr/>
        </p:nvSpPr>
        <p:spPr>
          <a:xfrm>
            <a:off x="3067050" y="13232904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29" name="Text 387"/>
          <p:cNvSpPr/>
          <p:nvPr/>
        </p:nvSpPr>
        <p:spPr>
          <a:xfrm>
            <a:off x="3171825" y="13337679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긍정적인</a:t>
            </a:r>
            <a:endParaRPr lang="en-US" sz="975" dirty="0"/>
          </a:p>
        </p:txBody>
      </p:sp>
      <p:sp>
        <p:nvSpPr>
          <p:cNvPr id="430" name="Text 388"/>
          <p:cNvSpPr/>
          <p:nvPr/>
        </p:nvSpPr>
        <p:spPr>
          <a:xfrm>
            <a:off x="3067050" y="13794879"/>
            <a:ext cx="14361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나는 이런 사람에 가까워요</a:t>
            </a:r>
            <a:endParaRPr lang="en-US" sz="1050" dirty="0"/>
          </a:p>
        </p:txBody>
      </p:sp>
      <p:sp>
        <p:nvSpPr>
          <p:cNvPr id="431" name="Shape 389"/>
          <p:cNvSpPr/>
          <p:nvPr/>
        </p:nvSpPr>
        <p:spPr>
          <a:xfrm>
            <a:off x="3067050" y="14042529"/>
            <a:ext cx="2381250" cy="685800"/>
          </a:xfrm>
          <a:prstGeom prst="roundRect">
            <a:avLst>
              <a:gd name="adj" fmla="val 25000"/>
            </a:avLst>
          </a:prstGeom>
          <a:solidFill>
            <a:srgbClr val="7A1F2B"/>
          </a:solidFill>
          <a:ln w="19050">
            <a:solidFill>
              <a:srgbClr val="F5DFA8"/>
            </a:solidFill>
            <a:prstDash val="solid"/>
          </a:ln>
        </p:spPr>
      </p:sp>
      <p:sp>
        <p:nvSpPr>
          <p:cNvPr id="432" name="Shape 390"/>
          <p:cNvSpPr/>
          <p:nvPr/>
        </p:nvSpPr>
        <p:spPr>
          <a:xfrm>
            <a:off x="3238500" y="1421397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5DFA8">
              <a:alpha val="18000"/>
            </a:srgbClr>
          </a:solidFill>
          <a:ln/>
        </p:spPr>
      </p:sp>
      <p:pic>
        <p:nvPicPr>
          <p:cNvPr id="433" name="Image 4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24225" y="14299704"/>
            <a:ext cx="171450" cy="171450"/>
          </a:xfrm>
          <a:prstGeom prst="rect">
            <a:avLst/>
          </a:prstGeom>
        </p:spPr>
      </p:pic>
      <p:sp>
        <p:nvSpPr>
          <p:cNvPr id="434" name="Text 391"/>
          <p:cNvSpPr/>
          <p:nvPr/>
        </p:nvSpPr>
        <p:spPr>
          <a:xfrm>
            <a:off x="3695700" y="14309229"/>
            <a:ext cx="13716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천천히 깊어지는 사람</a:t>
            </a:r>
            <a:endParaRPr lang="en-US" sz="1050" dirty="0"/>
          </a:p>
        </p:txBody>
      </p:sp>
      <p:pic>
        <p:nvPicPr>
          <p:cNvPr id="435" name="Image 4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5400" y="14299704"/>
            <a:ext cx="171450" cy="171450"/>
          </a:xfrm>
          <a:prstGeom prst="rect">
            <a:avLst/>
          </a:prstGeom>
        </p:spPr>
      </p:pic>
      <p:sp>
        <p:nvSpPr>
          <p:cNvPr id="436" name="Shape 392"/>
          <p:cNvSpPr/>
          <p:nvPr/>
        </p:nvSpPr>
        <p:spPr>
          <a:xfrm>
            <a:off x="3067050" y="14823579"/>
            <a:ext cx="238125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37" name="Shape 393"/>
          <p:cNvSpPr/>
          <p:nvPr/>
        </p:nvSpPr>
        <p:spPr>
          <a:xfrm>
            <a:off x="3228975" y="1498550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438" name="Image 4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15071229"/>
            <a:ext cx="171450" cy="171450"/>
          </a:xfrm>
          <a:prstGeom prst="rect">
            <a:avLst/>
          </a:prstGeom>
        </p:spPr>
      </p:pic>
      <p:sp>
        <p:nvSpPr>
          <p:cNvPr id="439" name="Text 394"/>
          <p:cNvSpPr/>
          <p:nvPr/>
        </p:nvSpPr>
        <p:spPr>
          <a:xfrm>
            <a:off x="3686175" y="15004554"/>
            <a:ext cx="1676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대화가 잘 통하면 금방 가까워지는 사람</a:t>
            </a:r>
            <a:endParaRPr lang="en-US" sz="1050" dirty="0"/>
          </a:p>
        </p:txBody>
      </p:sp>
      <p:sp>
        <p:nvSpPr>
          <p:cNvPr id="440" name="Shape 395"/>
          <p:cNvSpPr/>
          <p:nvPr/>
        </p:nvSpPr>
        <p:spPr>
          <a:xfrm>
            <a:off x="3067050" y="15585579"/>
            <a:ext cx="238125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41" name="Shape 396"/>
          <p:cNvSpPr/>
          <p:nvPr/>
        </p:nvSpPr>
        <p:spPr>
          <a:xfrm>
            <a:off x="3228975" y="1574750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442" name="Image 4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15833229"/>
            <a:ext cx="171450" cy="171450"/>
          </a:xfrm>
          <a:prstGeom prst="rect">
            <a:avLst/>
          </a:prstGeom>
        </p:spPr>
      </p:pic>
      <p:sp>
        <p:nvSpPr>
          <p:cNvPr id="443" name="Text 397"/>
          <p:cNvSpPr/>
          <p:nvPr/>
        </p:nvSpPr>
        <p:spPr>
          <a:xfrm>
            <a:off x="3686175" y="15842754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웃음 코드가 중요한 사람</a:t>
            </a:r>
            <a:endParaRPr lang="en-US" sz="1050" dirty="0"/>
          </a:p>
        </p:txBody>
      </p:sp>
      <p:sp>
        <p:nvSpPr>
          <p:cNvPr id="444" name="Shape 398"/>
          <p:cNvSpPr/>
          <p:nvPr/>
        </p:nvSpPr>
        <p:spPr>
          <a:xfrm>
            <a:off x="3067050" y="16347579"/>
            <a:ext cx="238125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45" name="Shape 399"/>
          <p:cNvSpPr/>
          <p:nvPr/>
        </p:nvSpPr>
        <p:spPr>
          <a:xfrm>
            <a:off x="3228975" y="1650950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446" name="Image 4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4700" y="16595229"/>
            <a:ext cx="171450" cy="171450"/>
          </a:xfrm>
          <a:prstGeom prst="rect">
            <a:avLst/>
          </a:prstGeom>
        </p:spPr>
      </p:pic>
      <p:sp>
        <p:nvSpPr>
          <p:cNvPr id="447" name="Text 400"/>
          <p:cNvSpPr/>
          <p:nvPr/>
        </p:nvSpPr>
        <p:spPr>
          <a:xfrm>
            <a:off x="3686175" y="16528554"/>
            <a:ext cx="1676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안정감과 신뢰를 중요하게 보는 사람</a:t>
            </a:r>
            <a:endParaRPr lang="en-US" sz="1050" dirty="0"/>
          </a:p>
        </p:txBody>
      </p:sp>
      <p:sp>
        <p:nvSpPr>
          <p:cNvPr id="448" name="Shape 401"/>
          <p:cNvSpPr/>
          <p:nvPr/>
        </p:nvSpPr>
        <p:spPr>
          <a:xfrm>
            <a:off x="3067050" y="17109579"/>
            <a:ext cx="238125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49" name="Shape 402"/>
          <p:cNvSpPr/>
          <p:nvPr/>
        </p:nvSpPr>
        <p:spPr>
          <a:xfrm>
            <a:off x="3228975" y="1727150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450" name="Image 4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14700" y="17357229"/>
            <a:ext cx="171450" cy="171450"/>
          </a:xfrm>
          <a:prstGeom prst="rect">
            <a:avLst/>
          </a:prstGeom>
        </p:spPr>
      </p:pic>
      <p:sp>
        <p:nvSpPr>
          <p:cNvPr id="451" name="Text 403"/>
          <p:cNvSpPr/>
          <p:nvPr/>
        </p:nvSpPr>
        <p:spPr>
          <a:xfrm>
            <a:off x="3686175" y="17290554"/>
            <a:ext cx="1676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경험을 함께하는 걸 좋아하는 사람</a:t>
            </a:r>
            <a:endParaRPr lang="en-US" sz="1050" dirty="0"/>
          </a:p>
        </p:txBody>
      </p:sp>
      <p:sp>
        <p:nvSpPr>
          <p:cNvPr id="452" name="Text 404"/>
          <p:cNvSpPr/>
          <p:nvPr/>
        </p:nvSpPr>
        <p:spPr>
          <a:xfrm>
            <a:off x="3067050" y="17985879"/>
            <a:ext cx="14055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이상형을 짧게 적어주세요</a:t>
            </a:r>
            <a:endParaRPr lang="en-US" sz="1050" dirty="0"/>
          </a:p>
        </p:txBody>
      </p:sp>
      <p:sp>
        <p:nvSpPr>
          <p:cNvPr id="453" name="Text 405"/>
          <p:cNvSpPr/>
          <p:nvPr/>
        </p:nvSpPr>
        <p:spPr>
          <a:xfrm>
            <a:off x="5147518" y="18014454"/>
            <a:ext cx="37698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문장</a:t>
            </a:r>
            <a:endParaRPr lang="en-US" sz="825" dirty="0"/>
          </a:p>
        </p:txBody>
      </p:sp>
      <p:sp>
        <p:nvSpPr>
          <p:cNvPr id="454" name="Shape 406"/>
          <p:cNvSpPr/>
          <p:nvPr/>
        </p:nvSpPr>
        <p:spPr>
          <a:xfrm>
            <a:off x="3067050" y="18233529"/>
            <a:ext cx="238125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55" name="Text 407"/>
          <p:cNvSpPr/>
          <p:nvPr/>
        </p:nvSpPr>
        <p:spPr>
          <a:xfrm>
            <a:off x="3067050" y="18909804"/>
            <a:ext cx="15821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연인에게 가장 중요한 한 가지</a:t>
            </a:r>
            <a:endParaRPr lang="en-US" sz="1050" dirty="0"/>
          </a:p>
        </p:txBody>
      </p:sp>
      <p:sp>
        <p:nvSpPr>
          <p:cNvPr id="456" name="Shape 408"/>
          <p:cNvSpPr/>
          <p:nvPr/>
        </p:nvSpPr>
        <p:spPr>
          <a:xfrm>
            <a:off x="3067050" y="1915745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57" name="Text 409"/>
          <p:cNvSpPr/>
          <p:nvPr/>
        </p:nvSpPr>
        <p:spPr>
          <a:xfrm>
            <a:off x="3171825" y="1926222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</a:t>
            </a:r>
            <a:endParaRPr lang="en-US" sz="975" dirty="0"/>
          </a:p>
        </p:txBody>
      </p:sp>
      <p:sp>
        <p:nvSpPr>
          <p:cNvPr id="458" name="Shape 410"/>
          <p:cNvSpPr/>
          <p:nvPr/>
        </p:nvSpPr>
        <p:spPr>
          <a:xfrm>
            <a:off x="3643164" y="1915745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59" name="Text 411"/>
          <p:cNvSpPr/>
          <p:nvPr/>
        </p:nvSpPr>
        <p:spPr>
          <a:xfrm>
            <a:off x="3747939" y="1926222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배려</a:t>
            </a:r>
            <a:endParaRPr lang="en-US" sz="975" dirty="0"/>
          </a:p>
        </p:txBody>
      </p:sp>
      <p:sp>
        <p:nvSpPr>
          <p:cNvPr id="460" name="Shape 412"/>
          <p:cNvSpPr/>
          <p:nvPr/>
        </p:nvSpPr>
        <p:spPr>
          <a:xfrm>
            <a:off x="4219277" y="1915745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61" name="Text 413"/>
          <p:cNvSpPr/>
          <p:nvPr/>
        </p:nvSpPr>
        <p:spPr>
          <a:xfrm>
            <a:off x="4324052" y="1926222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</a:t>
            </a:r>
            <a:endParaRPr lang="en-US" sz="975" dirty="0"/>
          </a:p>
        </p:txBody>
      </p:sp>
      <p:sp>
        <p:nvSpPr>
          <p:cNvPr id="462" name="Shape 414"/>
          <p:cNvSpPr/>
          <p:nvPr/>
        </p:nvSpPr>
        <p:spPr>
          <a:xfrm>
            <a:off x="4795391" y="1915745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63" name="Text 415"/>
          <p:cNvSpPr/>
          <p:nvPr/>
        </p:nvSpPr>
        <p:spPr>
          <a:xfrm>
            <a:off x="4900166" y="1926222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유머</a:t>
            </a:r>
            <a:endParaRPr lang="en-US" sz="975" dirty="0"/>
          </a:p>
        </p:txBody>
      </p:sp>
      <p:sp>
        <p:nvSpPr>
          <p:cNvPr id="464" name="Shape 416"/>
          <p:cNvSpPr/>
          <p:nvPr/>
        </p:nvSpPr>
        <p:spPr>
          <a:xfrm>
            <a:off x="3067050" y="1958607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65" name="Text 417"/>
          <p:cNvSpPr/>
          <p:nvPr/>
        </p:nvSpPr>
        <p:spPr>
          <a:xfrm>
            <a:off x="3171825" y="1969085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안정감</a:t>
            </a:r>
            <a:endParaRPr lang="en-US" sz="975" dirty="0"/>
          </a:p>
        </p:txBody>
      </p:sp>
      <p:sp>
        <p:nvSpPr>
          <p:cNvPr id="466" name="Shape 418"/>
          <p:cNvSpPr/>
          <p:nvPr/>
        </p:nvSpPr>
        <p:spPr>
          <a:xfrm>
            <a:off x="3750171" y="1958607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467" name="Text 419"/>
          <p:cNvSpPr/>
          <p:nvPr/>
        </p:nvSpPr>
        <p:spPr>
          <a:xfrm>
            <a:off x="3854946" y="1969085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가치관</a:t>
            </a:r>
            <a:endParaRPr lang="en-US" sz="975" dirty="0"/>
          </a:p>
        </p:txBody>
      </p:sp>
      <p:sp>
        <p:nvSpPr>
          <p:cNvPr id="468" name="Shape 420"/>
          <p:cNvSpPr/>
          <p:nvPr/>
        </p:nvSpPr>
        <p:spPr>
          <a:xfrm>
            <a:off x="4433292" y="1958607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69" name="Text 421"/>
          <p:cNvSpPr/>
          <p:nvPr/>
        </p:nvSpPr>
        <p:spPr>
          <a:xfrm>
            <a:off x="4538067" y="1969085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책임감</a:t>
            </a:r>
            <a:endParaRPr lang="en-US" sz="975" dirty="0"/>
          </a:p>
        </p:txBody>
      </p:sp>
      <p:sp>
        <p:nvSpPr>
          <p:cNvPr id="470" name="Shape 422"/>
          <p:cNvSpPr/>
          <p:nvPr/>
        </p:nvSpPr>
        <p:spPr>
          <a:xfrm>
            <a:off x="3067050" y="2001470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71" name="Text 423"/>
          <p:cNvSpPr/>
          <p:nvPr/>
        </p:nvSpPr>
        <p:spPr>
          <a:xfrm>
            <a:off x="3171825" y="2011947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설렘</a:t>
            </a:r>
            <a:endParaRPr lang="en-US" sz="975" dirty="0"/>
          </a:p>
        </p:txBody>
      </p:sp>
      <p:sp>
        <p:nvSpPr>
          <p:cNvPr id="472" name="Shape 424"/>
          <p:cNvSpPr/>
          <p:nvPr/>
        </p:nvSpPr>
        <p:spPr>
          <a:xfrm>
            <a:off x="3643164" y="20014704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73" name="Text 425"/>
          <p:cNvSpPr/>
          <p:nvPr/>
        </p:nvSpPr>
        <p:spPr>
          <a:xfrm>
            <a:off x="3747939" y="20119479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취향 공유</a:t>
            </a:r>
            <a:endParaRPr lang="en-US" sz="975" dirty="0"/>
          </a:p>
        </p:txBody>
      </p:sp>
      <p:sp>
        <p:nvSpPr>
          <p:cNvPr id="474" name="Shape 426"/>
          <p:cNvSpPr/>
          <p:nvPr/>
        </p:nvSpPr>
        <p:spPr>
          <a:xfrm>
            <a:off x="4462611" y="2001470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75" name="Text 427"/>
          <p:cNvSpPr/>
          <p:nvPr/>
        </p:nvSpPr>
        <p:spPr>
          <a:xfrm>
            <a:off x="4567386" y="2011947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</a:t>
            </a:r>
            <a:endParaRPr lang="en-US" sz="975" dirty="0"/>
          </a:p>
        </p:txBody>
      </p:sp>
      <p:sp>
        <p:nvSpPr>
          <p:cNvPr id="476" name="Shape 428"/>
          <p:cNvSpPr/>
          <p:nvPr/>
        </p:nvSpPr>
        <p:spPr>
          <a:xfrm>
            <a:off x="3067050" y="13849350"/>
            <a:ext cx="238125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477" name="Text 429"/>
          <p:cNvSpPr/>
          <p:nvPr/>
        </p:nvSpPr>
        <p:spPr>
          <a:xfrm>
            <a:off x="3219450" y="13849350"/>
            <a:ext cx="2076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1275" dirty="0"/>
          </a:p>
        </p:txBody>
      </p:sp>
      <p:sp>
        <p:nvSpPr>
          <p:cNvPr id="478" name="Shape 430"/>
          <p:cNvSpPr/>
          <p:nvPr/>
        </p:nvSpPr>
        <p:spPr>
          <a:xfrm>
            <a:off x="3619500" y="145256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479" name="Text 431"/>
          <p:cNvSpPr/>
          <p:nvPr/>
        </p:nvSpPr>
        <p:spPr>
          <a:xfrm>
            <a:off x="3914924" y="14859000"/>
            <a:ext cx="6855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b="1" kern="0" spc="83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825" dirty="0"/>
          </a:p>
        </p:txBody>
      </p:sp>
      <p:sp>
        <p:nvSpPr>
          <p:cNvPr id="480" name="Text 432"/>
          <p:cNvSpPr/>
          <p:nvPr/>
        </p:nvSpPr>
        <p:spPr>
          <a:xfrm>
            <a:off x="3953024" y="15020925"/>
            <a:ext cx="6855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 · 이상형</a:t>
            </a:r>
            <a:endParaRPr lang="en-US" sz="1050" dirty="0"/>
          </a:p>
        </p:txBody>
      </p:sp>
      <p:sp>
        <p:nvSpPr>
          <p:cNvPr id="481" name="Shape 433"/>
          <p:cNvSpPr/>
          <p:nvPr/>
        </p:nvSpPr>
        <p:spPr>
          <a:xfrm>
            <a:off x="6057900" y="8743950"/>
            <a:ext cx="2914650" cy="5981700"/>
          </a:xfrm>
          <a:prstGeom prst="roundRect">
            <a:avLst>
              <a:gd name="adj" fmla="val 11765"/>
            </a:avLst>
          </a:prstGeom>
          <a:solidFill>
            <a:srgbClr val="0F0A07"/>
          </a:solidFill>
          <a:ln/>
          <a:effectLst>
            <a:outerShdw blurRad="571500" dist="285750" dir="5400000" algn="bl" rotWithShape="0">
              <a:srgbClr val="3A1E14">
                <a:alpha val="20000"/>
              </a:srgbClr>
            </a:outerShdw>
          </a:effectLst>
        </p:spPr>
      </p:sp>
      <p:sp>
        <p:nvSpPr>
          <p:cNvPr id="482" name="Shape 434"/>
          <p:cNvSpPr/>
          <p:nvPr/>
        </p:nvSpPr>
        <p:spPr>
          <a:xfrm>
            <a:off x="7086600" y="883920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83" name="Shape 435"/>
          <p:cNvSpPr/>
          <p:nvPr/>
        </p:nvSpPr>
        <p:spPr>
          <a:xfrm>
            <a:off x="6134100" y="8820150"/>
            <a:ext cx="2762250" cy="5829300"/>
          </a:xfrm>
          <a:prstGeom prst="roundRect">
            <a:avLst>
              <a:gd name="adj" fmla="val 9655"/>
            </a:avLst>
          </a:prstGeom>
          <a:solidFill>
            <a:srgbClr val="FFF7EC"/>
          </a:solidFill>
          <a:ln/>
        </p:spPr>
      </p:sp>
      <p:sp>
        <p:nvSpPr>
          <p:cNvPr id="484" name="Shape 436"/>
          <p:cNvSpPr/>
          <p:nvPr/>
        </p:nvSpPr>
        <p:spPr>
          <a:xfrm>
            <a:off x="6134100" y="8820150"/>
            <a:ext cx="2762250" cy="582930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485" name="Text 437"/>
          <p:cNvSpPr/>
          <p:nvPr/>
        </p:nvSpPr>
        <p:spPr>
          <a:xfrm>
            <a:off x="6362700" y="8953500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486" name="Image 4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8977313"/>
            <a:ext cx="161925" cy="104775"/>
          </a:xfrm>
          <a:prstGeom prst="rect">
            <a:avLst/>
          </a:prstGeom>
        </p:spPr>
      </p:pic>
      <p:pic>
        <p:nvPicPr>
          <p:cNvPr id="487" name="Image 4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150" y="8977313"/>
            <a:ext cx="228600" cy="104775"/>
          </a:xfrm>
          <a:prstGeom prst="rect">
            <a:avLst/>
          </a:prstGeom>
        </p:spPr>
      </p:pic>
      <p:sp>
        <p:nvSpPr>
          <p:cNvPr id="488" name="Shape 438"/>
          <p:cNvSpPr/>
          <p:nvPr/>
        </p:nvSpPr>
        <p:spPr>
          <a:xfrm>
            <a:off x="6286500" y="929640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489" name="Image 4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0" y="9391650"/>
            <a:ext cx="152400" cy="152400"/>
          </a:xfrm>
          <a:prstGeom prst="rect">
            <a:avLst/>
          </a:prstGeom>
        </p:spPr>
      </p:pic>
      <p:sp>
        <p:nvSpPr>
          <p:cNvPr id="490" name="Shape 439"/>
          <p:cNvSpPr/>
          <p:nvPr/>
        </p:nvSpPr>
        <p:spPr>
          <a:xfrm>
            <a:off x="6743700" y="9439275"/>
            <a:ext cx="1722388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491" name="Shape 440"/>
          <p:cNvSpPr/>
          <p:nvPr/>
        </p:nvSpPr>
        <p:spPr>
          <a:xfrm>
            <a:off x="6743700" y="9439275"/>
            <a:ext cx="1481138" cy="5715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492" name="Text 441"/>
          <p:cNvSpPr/>
          <p:nvPr/>
        </p:nvSpPr>
        <p:spPr>
          <a:xfrm>
            <a:off x="8580388" y="9405938"/>
            <a:ext cx="239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6/7</a:t>
            </a:r>
            <a:endParaRPr lang="en-US" sz="825" dirty="0"/>
          </a:p>
        </p:txBody>
      </p:sp>
      <p:sp>
        <p:nvSpPr>
          <p:cNvPr id="493" name="Text 442"/>
          <p:cNvSpPr/>
          <p:nvPr/>
        </p:nvSpPr>
        <p:spPr>
          <a:xfrm>
            <a:off x="6362700" y="9810750"/>
            <a:ext cx="2381250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kern="0" spc="-10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편안한 만남을 위해 선호 조건을 알려주세요.</a:t>
            </a:r>
            <a:endParaRPr lang="en-US" sz="1950" dirty="0"/>
          </a:p>
        </p:txBody>
      </p:sp>
      <p:sp>
        <p:nvSpPr>
          <p:cNvPr id="494" name="Text 443"/>
          <p:cNvSpPr/>
          <p:nvPr/>
        </p:nvSpPr>
        <p:spPr>
          <a:xfrm>
            <a:off x="6362700" y="10815638"/>
            <a:ext cx="2381250" cy="42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상관없음도 좋은 선택이에요. 선정·매칭 참고용으로만 사용돼요.</a:t>
            </a:r>
            <a:endParaRPr lang="en-US" sz="975" dirty="0"/>
          </a:p>
        </p:txBody>
      </p:sp>
      <p:sp>
        <p:nvSpPr>
          <p:cNvPr id="495" name="Text 444"/>
          <p:cNvSpPr/>
          <p:nvPr/>
        </p:nvSpPr>
        <p:spPr>
          <a:xfrm>
            <a:off x="6324600" y="11580316"/>
            <a:ext cx="683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 나이대</a:t>
            </a:r>
            <a:endParaRPr lang="en-US" sz="1050" dirty="0"/>
          </a:p>
        </p:txBody>
      </p:sp>
      <p:sp>
        <p:nvSpPr>
          <p:cNvPr id="496" name="Text 445"/>
          <p:cNvSpPr/>
          <p:nvPr/>
        </p:nvSpPr>
        <p:spPr>
          <a:xfrm>
            <a:off x="8524726" y="11608891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</a:t>
            </a:r>
            <a:endParaRPr lang="en-US" sz="825" dirty="0"/>
          </a:p>
        </p:txBody>
      </p:sp>
      <p:sp>
        <p:nvSpPr>
          <p:cNvPr id="497" name="Shape 446"/>
          <p:cNvSpPr/>
          <p:nvPr/>
        </p:nvSpPr>
        <p:spPr>
          <a:xfrm>
            <a:off x="6324600" y="11827966"/>
            <a:ext cx="2381250" cy="1200150"/>
          </a:xfrm>
          <a:prstGeom prst="roundRect">
            <a:avLst>
              <a:gd name="adj" fmla="val 12698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98" name="Text 447"/>
          <p:cNvSpPr/>
          <p:nvPr/>
        </p:nvSpPr>
        <p:spPr>
          <a:xfrm>
            <a:off x="6505575" y="12008941"/>
            <a:ext cx="3990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세</a:t>
            </a:r>
            <a:endParaRPr lang="en-US" sz="1200" dirty="0"/>
          </a:p>
        </p:txBody>
      </p:sp>
      <p:sp>
        <p:nvSpPr>
          <p:cNvPr id="499" name="Text 448"/>
          <p:cNvSpPr/>
          <p:nvPr/>
        </p:nvSpPr>
        <p:spPr>
          <a:xfrm>
            <a:off x="8195667" y="12008941"/>
            <a:ext cx="4054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세</a:t>
            </a:r>
            <a:endParaRPr lang="en-US" sz="1200" dirty="0"/>
          </a:p>
        </p:txBody>
      </p:sp>
      <p:sp>
        <p:nvSpPr>
          <p:cNvPr id="500" name="Shape 449"/>
          <p:cNvSpPr/>
          <p:nvPr/>
        </p:nvSpPr>
        <p:spPr>
          <a:xfrm>
            <a:off x="6505575" y="12266116"/>
            <a:ext cx="2019300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501" name="Shape 450"/>
          <p:cNvSpPr/>
          <p:nvPr/>
        </p:nvSpPr>
        <p:spPr>
          <a:xfrm>
            <a:off x="6954292" y="12266116"/>
            <a:ext cx="673150" cy="5715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502" name="Shape 451"/>
          <p:cNvSpPr/>
          <p:nvPr/>
        </p:nvSpPr>
        <p:spPr>
          <a:xfrm>
            <a:off x="6849517" y="12189916"/>
            <a:ext cx="209550" cy="2095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7A1F2B"/>
            </a:solidFill>
            <a:prstDash val="solid"/>
          </a:ln>
          <a:effectLst>
            <a:outerShdw blurRad="57150" dist="190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503" name="Shape 452"/>
          <p:cNvSpPr/>
          <p:nvPr/>
        </p:nvSpPr>
        <p:spPr>
          <a:xfrm>
            <a:off x="7522518" y="12189916"/>
            <a:ext cx="209550" cy="2095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7A1F2B"/>
            </a:solidFill>
            <a:prstDash val="solid"/>
          </a:ln>
          <a:effectLst>
            <a:outerShdw blurRad="57150" dist="190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504" name="Text 453"/>
          <p:cNvSpPr/>
          <p:nvPr/>
        </p:nvSpPr>
        <p:spPr>
          <a:xfrm>
            <a:off x="6505575" y="12399466"/>
            <a:ext cx="2835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세</a:t>
            </a:r>
            <a:endParaRPr lang="en-US" sz="825" dirty="0"/>
          </a:p>
        </p:txBody>
      </p:sp>
      <p:sp>
        <p:nvSpPr>
          <p:cNvPr id="505" name="Text 454"/>
          <p:cNvSpPr/>
          <p:nvPr/>
        </p:nvSpPr>
        <p:spPr>
          <a:xfrm>
            <a:off x="8317557" y="12399466"/>
            <a:ext cx="2835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세</a:t>
            </a:r>
            <a:endParaRPr lang="en-US" sz="825" dirty="0"/>
          </a:p>
        </p:txBody>
      </p:sp>
      <p:sp>
        <p:nvSpPr>
          <p:cNvPr id="506" name="Text 455"/>
          <p:cNvSpPr/>
          <p:nvPr/>
        </p:nvSpPr>
        <p:spPr>
          <a:xfrm>
            <a:off x="6800850" y="12675691"/>
            <a:ext cx="7995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크게 상관없어요</a:t>
            </a:r>
            <a:endParaRPr lang="en-US" sz="900" dirty="0"/>
          </a:p>
        </p:txBody>
      </p:sp>
      <p:sp>
        <p:nvSpPr>
          <p:cNvPr id="507" name="Text 456"/>
          <p:cNvSpPr/>
          <p:nvPr/>
        </p:nvSpPr>
        <p:spPr>
          <a:xfrm>
            <a:off x="6324600" y="13237666"/>
            <a:ext cx="829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 이상형 키</a:t>
            </a:r>
            <a:endParaRPr lang="en-US" sz="1050" dirty="0"/>
          </a:p>
        </p:txBody>
      </p:sp>
      <p:sp>
        <p:nvSpPr>
          <p:cNvPr id="508" name="Shape 457"/>
          <p:cNvSpPr/>
          <p:nvPr/>
        </p:nvSpPr>
        <p:spPr>
          <a:xfrm>
            <a:off x="6324600" y="13485316"/>
            <a:ext cx="957263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09" name="Text 458"/>
          <p:cNvSpPr/>
          <p:nvPr/>
        </p:nvSpPr>
        <p:spPr>
          <a:xfrm>
            <a:off x="6429375" y="13590091"/>
            <a:ext cx="7477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크게 상관없음</a:t>
            </a:r>
            <a:endParaRPr lang="en-US" sz="975" dirty="0"/>
          </a:p>
        </p:txBody>
      </p:sp>
      <p:sp>
        <p:nvSpPr>
          <p:cNvPr id="510" name="Shape 459"/>
          <p:cNvSpPr/>
          <p:nvPr/>
        </p:nvSpPr>
        <p:spPr>
          <a:xfrm>
            <a:off x="7358063" y="13485316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11" name="Text 460"/>
          <p:cNvSpPr/>
          <p:nvPr/>
        </p:nvSpPr>
        <p:spPr>
          <a:xfrm>
            <a:off x="7462838" y="13590091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나보다 크면</a:t>
            </a:r>
            <a:endParaRPr lang="en-US" sz="975" dirty="0"/>
          </a:p>
        </p:txBody>
      </p:sp>
      <p:sp>
        <p:nvSpPr>
          <p:cNvPr id="512" name="Shape 461"/>
          <p:cNvSpPr/>
          <p:nvPr/>
        </p:nvSpPr>
        <p:spPr>
          <a:xfrm>
            <a:off x="6324600" y="13913941"/>
            <a:ext cx="73357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13" name="Text 462"/>
          <p:cNvSpPr/>
          <p:nvPr/>
        </p:nvSpPr>
        <p:spPr>
          <a:xfrm>
            <a:off x="6429375" y="14018716"/>
            <a:ext cx="5240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이상</a:t>
            </a:r>
            <a:endParaRPr lang="en-US" sz="975" dirty="0"/>
          </a:p>
        </p:txBody>
      </p:sp>
      <p:sp>
        <p:nvSpPr>
          <p:cNvPr id="514" name="Shape 463"/>
          <p:cNvSpPr/>
          <p:nvPr/>
        </p:nvSpPr>
        <p:spPr>
          <a:xfrm>
            <a:off x="7134374" y="13913941"/>
            <a:ext cx="731490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515" name="Text 464"/>
          <p:cNvSpPr/>
          <p:nvPr/>
        </p:nvSpPr>
        <p:spPr>
          <a:xfrm>
            <a:off x="7239149" y="14018716"/>
            <a:ext cx="5219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 이상</a:t>
            </a:r>
            <a:endParaRPr lang="en-US" sz="975" dirty="0"/>
          </a:p>
        </p:txBody>
      </p:sp>
      <p:sp>
        <p:nvSpPr>
          <p:cNvPr id="516" name="Shape 465"/>
          <p:cNvSpPr/>
          <p:nvPr/>
        </p:nvSpPr>
        <p:spPr>
          <a:xfrm>
            <a:off x="7942064" y="13913941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17" name="Text 466"/>
          <p:cNvSpPr/>
          <p:nvPr/>
        </p:nvSpPr>
        <p:spPr>
          <a:xfrm>
            <a:off x="8046839" y="14018716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이상</a:t>
            </a:r>
            <a:endParaRPr lang="en-US" sz="975" dirty="0"/>
          </a:p>
        </p:txBody>
      </p:sp>
      <p:sp>
        <p:nvSpPr>
          <p:cNvPr id="518" name="Shape 467"/>
          <p:cNvSpPr/>
          <p:nvPr/>
        </p:nvSpPr>
        <p:spPr>
          <a:xfrm>
            <a:off x="6324600" y="14342566"/>
            <a:ext cx="78417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19" name="Text 468"/>
          <p:cNvSpPr/>
          <p:nvPr/>
        </p:nvSpPr>
        <p:spPr>
          <a:xfrm>
            <a:off x="6429375" y="14447341"/>
            <a:ext cx="5746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160~170</a:t>
            </a:r>
            <a:endParaRPr lang="en-US" sz="975" dirty="0"/>
          </a:p>
        </p:txBody>
      </p:sp>
      <p:sp>
        <p:nvSpPr>
          <p:cNvPr id="520" name="Shape 469"/>
          <p:cNvSpPr/>
          <p:nvPr/>
        </p:nvSpPr>
        <p:spPr>
          <a:xfrm>
            <a:off x="7184975" y="14342566"/>
            <a:ext cx="779562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21" name="Text 470"/>
          <p:cNvSpPr/>
          <p:nvPr/>
        </p:nvSpPr>
        <p:spPr>
          <a:xfrm>
            <a:off x="7289750" y="14447341"/>
            <a:ext cx="5700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165~175</a:t>
            </a:r>
            <a:endParaRPr lang="en-US" sz="975" dirty="0"/>
          </a:p>
        </p:txBody>
      </p:sp>
      <p:sp>
        <p:nvSpPr>
          <p:cNvPr id="522" name="Text 471"/>
          <p:cNvSpPr/>
          <p:nvPr/>
        </p:nvSpPr>
        <p:spPr>
          <a:xfrm>
            <a:off x="6324600" y="14904541"/>
            <a:ext cx="6612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 MBTI</a:t>
            </a:r>
            <a:endParaRPr lang="en-US" sz="1050" dirty="0"/>
          </a:p>
        </p:txBody>
      </p:sp>
      <p:sp>
        <p:nvSpPr>
          <p:cNvPr id="523" name="Text 472"/>
          <p:cNvSpPr/>
          <p:nvPr/>
        </p:nvSpPr>
        <p:spPr>
          <a:xfrm>
            <a:off x="7955459" y="14933116"/>
            <a:ext cx="82659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개 / 상관없음</a:t>
            </a:r>
            <a:endParaRPr lang="en-US" sz="825" dirty="0"/>
          </a:p>
        </p:txBody>
      </p:sp>
      <p:sp>
        <p:nvSpPr>
          <p:cNvPr id="524" name="Shape 473"/>
          <p:cNvSpPr/>
          <p:nvPr/>
        </p:nvSpPr>
        <p:spPr>
          <a:xfrm>
            <a:off x="6324600" y="15152191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25" name="Text 474"/>
          <p:cNvSpPr/>
          <p:nvPr/>
        </p:nvSpPr>
        <p:spPr>
          <a:xfrm>
            <a:off x="6429375" y="15256966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상관없음</a:t>
            </a:r>
            <a:endParaRPr lang="en-US" sz="975" dirty="0"/>
          </a:p>
        </p:txBody>
      </p:sp>
      <p:sp>
        <p:nvSpPr>
          <p:cNvPr id="526" name="Shape 475"/>
          <p:cNvSpPr/>
          <p:nvPr/>
        </p:nvSpPr>
        <p:spPr>
          <a:xfrm>
            <a:off x="7114729" y="15152191"/>
            <a:ext cx="591889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527" name="Text 476"/>
          <p:cNvSpPr/>
          <p:nvPr/>
        </p:nvSpPr>
        <p:spPr>
          <a:xfrm>
            <a:off x="7219504" y="15256966"/>
            <a:ext cx="38233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ENFP</a:t>
            </a:r>
            <a:endParaRPr lang="en-US" sz="975" dirty="0"/>
          </a:p>
        </p:txBody>
      </p:sp>
      <p:sp>
        <p:nvSpPr>
          <p:cNvPr id="528" name="Shape 477"/>
          <p:cNvSpPr/>
          <p:nvPr/>
        </p:nvSpPr>
        <p:spPr>
          <a:xfrm>
            <a:off x="7782818" y="15152191"/>
            <a:ext cx="57358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529" name="Text 478"/>
          <p:cNvSpPr/>
          <p:nvPr/>
        </p:nvSpPr>
        <p:spPr>
          <a:xfrm>
            <a:off x="7887593" y="15256966"/>
            <a:ext cx="36403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ENFJ</a:t>
            </a:r>
            <a:endParaRPr lang="en-US" sz="975" dirty="0"/>
          </a:p>
        </p:txBody>
      </p:sp>
      <p:sp>
        <p:nvSpPr>
          <p:cNvPr id="530" name="Shape 479"/>
          <p:cNvSpPr/>
          <p:nvPr/>
        </p:nvSpPr>
        <p:spPr>
          <a:xfrm>
            <a:off x="6324600" y="15580816"/>
            <a:ext cx="533549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531" name="Text 480"/>
          <p:cNvSpPr/>
          <p:nvPr/>
        </p:nvSpPr>
        <p:spPr>
          <a:xfrm>
            <a:off x="6429375" y="15685591"/>
            <a:ext cx="3239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INFJ</a:t>
            </a:r>
            <a:endParaRPr lang="en-US" sz="975" dirty="0"/>
          </a:p>
        </p:txBody>
      </p:sp>
      <p:sp>
        <p:nvSpPr>
          <p:cNvPr id="532" name="Shape 481"/>
          <p:cNvSpPr/>
          <p:nvPr/>
        </p:nvSpPr>
        <p:spPr>
          <a:xfrm>
            <a:off x="6934349" y="15580816"/>
            <a:ext cx="5518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33" name="Text 482"/>
          <p:cNvSpPr/>
          <p:nvPr/>
        </p:nvSpPr>
        <p:spPr>
          <a:xfrm>
            <a:off x="7039124" y="15685591"/>
            <a:ext cx="3423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INFP</a:t>
            </a:r>
            <a:endParaRPr lang="en-US" sz="975" dirty="0"/>
          </a:p>
        </p:txBody>
      </p:sp>
      <p:sp>
        <p:nvSpPr>
          <p:cNvPr id="534" name="Shape 483"/>
          <p:cNvSpPr/>
          <p:nvPr/>
        </p:nvSpPr>
        <p:spPr>
          <a:xfrm>
            <a:off x="7562404" y="15580816"/>
            <a:ext cx="568672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35" name="Text 484"/>
          <p:cNvSpPr/>
          <p:nvPr/>
        </p:nvSpPr>
        <p:spPr>
          <a:xfrm>
            <a:off x="7667179" y="15685591"/>
            <a:ext cx="35912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ESTJ</a:t>
            </a:r>
            <a:endParaRPr lang="en-US" sz="975" dirty="0"/>
          </a:p>
        </p:txBody>
      </p:sp>
      <p:sp>
        <p:nvSpPr>
          <p:cNvPr id="536" name="Shape 485"/>
          <p:cNvSpPr/>
          <p:nvPr/>
        </p:nvSpPr>
        <p:spPr>
          <a:xfrm>
            <a:off x="6324600" y="16009441"/>
            <a:ext cx="52863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37" name="Text 486"/>
          <p:cNvSpPr/>
          <p:nvPr/>
        </p:nvSpPr>
        <p:spPr>
          <a:xfrm>
            <a:off x="6429375" y="16114216"/>
            <a:ext cx="3190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ISTJ</a:t>
            </a:r>
            <a:endParaRPr lang="en-US" sz="975" dirty="0"/>
          </a:p>
        </p:txBody>
      </p:sp>
      <p:sp>
        <p:nvSpPr>
          <p:cNvPr id="538" name="Shape 487"/>
          <p:cNvSpPr/>
          <p:nvPr/>
        </p:nvSpPr>
        <p:spPr>
          <a:xfrm>
            <a:off x="6929438" y="16009441"/>
            <a:ext cx="58950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39" name="Text 488"/>
          <p:cNvSpPr/>
          <p:nvPr/>
        </p:nvSpPr>
        <p:spPr>
          <a:xfrm>
            <a:off x="7034213" y="16114216"/>
            <a:ext cx="3799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ESTP</a:t>
            </a:r>
            <a:endParaRPr lang="en-US" sz="975" dirty="0"/>
          </a:p>
        </p:txBody>
      </p:sp>
      <p:sp>
        <p:nvSpPr>
          <p:cNvPr id="540" name="Text 489"/>
          <p:cNvSpPr/>
          <p:nvPr/>
        </p:nvSpPr>
        <p:spPr>
          <a:xfrm>
            <a:off x="6324600" y="16571416"/>
            <a:ext cx="56792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 종교</a:t>
            </a:r>
            <a:endParaRPr lang="en-US" sz="1050" dirty="0"/>
          </a:p>
        </p:txBody>
      </p:sp>
      <p:sp>
        <p:nvSpPr>
          <p:cNvPr id="541" name="Shape 490"/>
          <p:cNvSpPr/>
          <p:nvPr/>
        </p:nvSpPr>
        <p:spPr>
          <a:xfrm>
            <a:off x="6324600" y="16819066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542" name="Text 491"/>
          <p:cNvSpPr/>
          <p:nvPr/>
        </p:nvSpPr>
        <p:spPr>
          <a:xfrm>
            <a:off x="6429375" y="16923841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상관없음</a:t>
            </a:r>
            <a:endParaRPr lang="en-US" sz="975" dirty="0"/>
          </a:p>
        </p:txBody>
      </p:sp>
      <p:sp>
        <p:nvSpPr>
          <p:cNvPr id="543" name="Shape 492"/>
          <p:cNvSpPr/>
          <p:nvPr/>
        </p:nvSpPr>
        <p:spPr>
          <a:xfrm>
            <a:off x="7114729" y="16819066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44" name="Text 493"/>
          <p:cNvSpPr/>
          <p:nvPr/>
        </p:nvSpPr>
        <p:spPr>
          <a:xfrm>
            <a:off x="7219504" y="16923841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무교</a:t>
            </a:r>
            <a:endParaRPr lang="en-US" sz="975" dirty="0"/>
          </a:p>
        </p:txBody>
      </p:sp>
      <p:sp>
        <p:nvSpPr>
          <p:cNvPr id="545" name="Shape 494"/>
          <p:cNvSpPr/>
          <p:nvPr/>
        </p:nvSpPr>
        <p:spPr>
          <a:xfrm>
            <a:off x="7690842" y="16819066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46" name="Text 495"/>
          <p:cNvSpPr/>
          <p:nvPr/>
        </p:nvSpPr>
        <p:spPr>
          <a:xfrm>
            <a:off x="7795617" y="16923841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기독교</a:t>
            </a:r>
            <a:endParaRPr lang="en-US" sz="975" dirty="0"/>
          </a:p>
        </p:txBody>
      </p:sp>
      <p:sp>
        <p:nvSpPr>
          <p:cNvPr id="547" name="Shape 496"/>
          <p:cNvSpPr/>
          <p:nvPr/>
        </p:nvSpPr>
        <p:spPr>
          <a:xfrm>
            <a:off x="6324600" y="17247691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48" name="Text 497"/>
          <p:cNvSpPr/>
          <p:nvPr/>
        </p:nvSpPr>
        <p:spPr>
          <a:xfrm>
            <a:off x="6429375" y="17352466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천주교</a:t>
            </a:r>
            <a:endParaRPr lang="en-US" sz="975" dirty="0"/>
          </a:p>
        </p:txBody>
      </p:sp>
      <p:sp>
        <p:nvSpPr>
          <p:cNvPr id="549" name="Shape 498"/>
          <p:cNvSpPr/>
          <p:nvPr/>
        </p:nvSpPr>
        <p:spPr>
          <a:xfrm>
            <a:off x="7007721" y="17247691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50" name="Text 499"/>
          <p:cNvSpPr/>
          <p:nvPr/>
        </p:nvSpPr>
        <p:spPr>
          <a:xfrm>
            <a:off x="7112496" y="17352466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불교</a:t>
            </a:r>
            <a:endParaRPr lang="en-US" sz="975" dirty="0"/>
          </a:p>
        </p:txBody>
      </p:sp>
      <p:sp>
        <p:nvSpPr>
          <p:cNvPr id="551" name="Shape 500"/>
          <p:cNvSpPr/>
          <p:nvPr/>
        </p:nvSpPr>
        <p:spPr>
          <a:xfrm>
            <a:off x="7583835" y="17247691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52" name="Text 501"/>
          <p:cNvSpPr/>
          <p:nvPr/>
        </p:nvSpPr>
        <p:spPr>
          <a:xfrm>
            <a:off x="7688610" y="17352466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</a:t>
            </a:r>
            <a:endParaRPr lang="en-US" sz="975" dirty="0"/>
          </a:p>
        </p:txBody>
      </p:sp>
      <p:sp>
        <p:nvSpPr>
          <p:cNvPr id="553" name="Text 502"/>
          <p:cNvSpPr/>
          <p:nvPr/>
        </p:nvSpPr>
        <p:spPr>
          <a:xfrm>
            <a:off x="6324600" y="17809666"/>
            <a:ext cx="11749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조심했으면 하는 직군</a:t>
            </a:r>
            <a:endParaRPr lang="en-US" sz="1050" dirty="0"/>
          </a:p>
        </p:txBody>
      </p:sp>
      <p:sp>
        <p:nvSpPr>
          <p:cNvPr id="554" name="Text 503"/>
          <p:cNvSpPr/>
          <p:nvPr/>
        </p:nvSpPr>
        <p:spPr>
          <a:xfrm>
            <a:off x="7502723" y="17838241"/>
            <a:ext cx="127932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시 조심했으면 하는 조건</a:t>
            </a:r>
            <a:endParaRPr lang="en-US" sz="825" dirty="0"/>
          </a:p>
        </p:txBody>
      </p:sp>
      <p:sp>
        <p:nvSpPr>
          <p:cNvPr id="555" name="Shape 504"/>
          <p:cNvSpPr/>
          <p:nvPr/>
        </p:nvSpPr>
        <p:spPr>
          <a:xfrm>
            <a:off x="6324600" y="18057316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556" name="Text 505"/>
          <p:cNvSpPr/>
          <p:nvPr/>
        </p:nvSpPr>
        <p:spPr>
          <a:xfrm>
            <a:off x="6429375" y="18162091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없음</a:t>
            </a:r>
            <a:endParaRPr lang="en-US" sz="975" dirty="0"/>
          </a:p>
        </p:txBody>
      </p:sp>
      <p:sp>
        <p:nvSpPr>
          <p:cNvPr id="557" name="Shape 506"/>
          <p:cNvSpPr/>
          <p:nvPr/>
        </p:nvSpPr>
        <p:spPr>
          <a:xfrm>
            <a:off x="6900714" y="18057316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58" name="Text 507"/>
          <p:cNvSpPr/>
          <p:nvPr/>
        </p:nvSpPr>
        <p:spPr>
          <a:xfrm>
            <a:off x="7005489" y="18162091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교대근무</a:t>
            </a:r>
            <a:endParaRPr lang="en-US" sz="975" dirty="0"/>
          </a:p>
        </p:txBody>
      </p:sp>
      <p:sp>
        <p:nvSpPr>
          <p:cNvPr id="559" name="Shape 508"/>
          <p:cNvSpPr/>
          <p:nvPr/>
        </p:nvSpPr>
        <p:spPr>
          <a:xfrm>
            <a:off x="7690842" y="18057316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60" name="Text 509"/>
          <p:cNvSpPr/>
          <p:nvPr/>
        </p:nvSpPr>
        <p:spPr>
          <a:xfrm>
            <a:off x="7795617" y="18162091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직장군</a:t>
            </a:r>
            <a:endParaRPr lang="en-US" sz="975" dirty="0"/>
          </a:p>
        </p:txBody>
      </p:sp>
      <p:sp>
        <p:nvSpPr>
          <p:cNvPr id="561" name="Shape 510"/>
          <p:cNvSpPr/>
          <p:nvPr/>
        </p:nvSpPr>
        <p:spPr>
          <a:xfrm>
            <a:off x="6324600" y="18485941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62" name="Text 511"/>
          <p:cNvSpPr/>
          <p:nvPr/>
        </p:nvSpPr>
        <p:spPr>
          <a:xfrm>
            <a:off x="6429375" y="18590716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영업직</a:t>
            </a:r>
            <a:endParaRPr lang="en-US" sz="975" dirty="0"/>
          </a:p>
        </p:txBody>
      </p:sp>
      <p:sp>
        <p:nvSpPr>
          <p:cNvPr id="563" name="Shape 512"/>
          <p:cNvSpPr/>
          <p:nvPr/>
        </p:nvSpPr>
        <p:spPr>
          <a:xfrm>
            <a:off x="7007721" y="18485941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64" name="Text 513"/>
          <p:cNvSpPr/>
          <p:nvPr/>
        </p:nvSpPr>
        <p:spPr>
          <a:xfrm>
            <a:off x="7112496" y="18590716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자영업</a:t>
            </a:r>
            <a:endParaRPr lang="en-US" sz="975" dirty="0"/>
          </a:p>
        </p:txBody>
      </p:sp>
      <p:sp>
        <p:nvSpPr>
          <p:cNvPr id="565" name="Shape 514"/>
          <p:cNvSpPr/>
          <p:nvPr/>
        </p:nvSpPr>
        <p:spPr>
          <a:xfrm>
            <a:off x="7690842" y="18485941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66" name="Text 515"/>
          <p:cNvSpPr/>
          <p:nvPr/>
        </p:nvSpPr>
        <p:spPr>
          <a:xfrm>
            <a:off x="7795617" y="18590716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프리랜서</a:t>
            </a:r>
            <a:endParaRPr lang="en-US" sz="975" dirty="0"/>
          </a:p>
        </p:txBody>
      </p:sp>
      <p:sp>
        <p:nvSpPr>
          <p:cNvPr id="567" name="Shape 516"/>
          <p:cNvSpPr/>
          <p:nvPr/>
        </p:nvSpPr>
        <p:spPr>
          <a:xfrm>
            <a:off x="6324600" y="18914566"/>
            <a:ext cx="101664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68" name="Text 517"/>
          <p:cNvSpPr/>
          <p:nvPr/>
        </p:nvSpPr>
        <p:spPr>
          <a:xfrm>
            <a:off x="6429375" y="19019341"/>
            <a:ext cx="8070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군인/경찰/소방</a:t>
            </a:r>
            <a:endParaRPr lang="en-US" sz="975" dirty="0"/>
          </a:p>
        </p:txBody>
      </p:sp>
      <p:sp>
        <p:nvSpPr>
          <p:cNvPr id="569" name="Shape 518"/>
          <p:cNvSpPr/>
          <p:nvPr/>
        </p:nvSpPr>
        <p:spPr>
          <a:xfrm>
            <a:off x="7417445" y="18914566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70" name="Text 519"/>
          <p:cNvSpPr/>
          <p:nvPr/>
        </p:nvSpPr>
        <p:spPr>
          <a:xfrm>
            <a:off x="7522220" y="19019341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</a:t>
            </a:r>
            <a:endParaRPr lang="en-US" sz="975" dirty="0"/>
          </a:p>
        </p:txBody>
      </p:sp>
      <p:sp>
        <p:nvSpPr>
          <p:cNvPr id="571" name="Shape 520"/>
          <p:cNvSpPr/>
          <p:nvPr/>
        </p:nvSpPr>
        <p:spPr>
          <a:xfrm>
            <a:off x="6324600" y="19476541"/>
            <a:ext cx="2381250" cy="800100"/>
          </a:xfrm>
          <a:prstGeom prst="roundRect">
            <a:avLst>
              <a:gd name="adj" fmla="val 16667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572" name="Image 4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67475" y="19800391"/>
            <a:ext cx="72777" cy="152400"/>
          </a:xfrm>
          <a:prstGeom prst="rect">
            <a:avLst/>
          </a:prstGeom>
        </p:spPr>
      </p:pic>
      <p:sp>
        <p:nvSpPr>
          <p:cNvPr id="573" name="Text 521"/>
          <p:cNvSpPr/>
          <p:nvPr/>
        </p:nvSpPr>
        <p:spPr>
          <a:xfrm>
            <a:off x="6635502" y="19619416"/>
            <a:ext cx="200367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 조건은 상대방에게 공개되지 않아요. 회차 추천과 인원 구성 참고용으로만 사용됩니다.</a:t>
            </a:r>
            <a:endParaRPr lang="en-US" sz="900" dirty="0"/>
          </a:p>
        </p:txBody>
      </p:sp>
      <p:sp>
        <p:nvSpPr>
          <p:cNvPr id="574" name="Shape 522"/>
          <p:cNvSpPr/>
          <p:nvPr/>
        </p:nvSpPr>
        <p:spPr>
          <a:xfrm>
            <a:off x="6324600" y="13849350"/>
            <a:ext cx="238125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575" name="Text 523"/>
          <p:cNvSpPr/>
          <p:nvPr/>
        </p:nvSpPr>
        <p:spPr>
          <a:xfrm>
            <a:off x="6477000" y="13849350"/>
            <a:ext cx="2076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1275" dirty="0"/>
          </a:p>
        </p:txBody>
      </p:sp>
      <p:sp>
        <p:nvSpPr>
          <p:cNvPr id="576" name="Shape 524"/>
          <p:cNvSpPr/>
          <p:nvPr/>
        </p:nvSpPr>
        <p:spPr>
          <a:xfrm>
            <a:off x="6877050" y="145256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577" name="Text 525"/>
          <p:cNvSpPr/>
          <p:nvPr/>
        </p:nvSpPr>
        <p:spPr>
          <a:xfrm>
            <a:off x="7213178" y="14859000"/>
            <a:ext cx="6040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b="1" kern="0" spc="83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825" dirty="0"/>
          </a:p>
        </p:txBody>
      </p:sp>
      <p:sp>
        <p:nvSpPr>
          <p:cNvPr id="578" name="Text 526"/>
          <p:cNvSpPr/>
          <p:nvPr/>
        </p:nvSpPr>
        <p:spPr>
          <a:xfrm>
            <a:off x="7251278" y="15020925"/>
            <a:ext cx="6040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 조건</a:t>
            </a:r>
            <a:endParaRPr lang="en-US" sz="1050" dirty="0"/>
          </a:p>
        </p:txBody>
      </p:sp>
      <p:sp>
        <p:nvSpPr>
          <p:cNvPr id="579" name="Shape 527"/>
          <p:cNvSpPr/>
          <p:nvPr/>
        </p:nvSpPr>
        <p:spPr>
          <a:xfrm>
            <a:off x="9315450" y="8743950"/>
            <a:ext cx="2914650" cy="5981700"/>
          </a:xfrm>
          <a:prstGeom prst="roundRect">
            <a:avLst>
              <a:gd name="adj" fmla="val 11765"/>
            </a:avLst>
          </a:prstGeom>
          <a:solidFill>
            <a:srgbClr val="0F0A07"/>
          </a:solidFill>
          <a:ln/>
          <a:effectLst>
            <a:outerShdw blurRad="571500" dist="285750" dir="5400000" algn="bl" rotWithShape="0">
              <a:srgbClr val="3A1E14">
                <a:alpha val="20000"/>
              </a:srgbClr>
            </a:outerShdw>
          </a:effectLst>
        </p:spPr>
      </p:sp>
      <p:sp>
        <p:nvSpPr>
          <p:cNvPr id="580" name="Shape 528"/>
          <p:cNvSpPr/>
          <p:nvPr/>
        </p:nvSpPr>
        <p:spPr>
          <a:xfrm>
            <a:off x="10344150" y="883920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581" name="Shape 529"/>
          <p:cNvSpPr/>
          <p:nvPr/>
        </p:nvSpPr>
        <p:spPr>
          <a:xfrm>
            <a:off x="9391650" y="8820150"/>
            <a:ext cx="2762250" cy="5829300"/>
          </a:xfrm>
          <a:prstGeom prst="roundRect">
            <a:avLst>
              <a:gd name="adj" fmla="val 9655"/>
            </a:avLst>
          </a:prstGeom>
          <a:solidFill>
            <a:srgbClr val="FFF7EC"/>
          </a:solidFill>
          <a:ln/>
        </p:spPr>
      </p:sp>
      <p:sp>
        <p:nvSpPr>
          <p:cNvPr id="582" name="Shape 530"/>
          <p:cNvSpPr/>
          <p:nvPr/>
        </p:nvSpPr>
        <p:spPr>
          <a:xfrm>
            <a:off x="9391650" y="8820150"/>
            <a:ext cx="2762250" cy="582930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583" name="Text 531"/>
          <p:cNvSpPr/>
          <p:nvPr/>
        </p:nvSpPr>
        <p:spPr>
          <a:xfrm>
            <a:off x="9620250" y="8953500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584" name="Image 5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150" y="8977313"/>
            <a:ext cx="161925" cy="104775"/>
          </a:xfrm>
          <a:prstGeom prst="rect">
            <a:avLst/>
          </a:prstGeom>
        </p:spPr>
      </p:pic>
      <p:pic>
        <p:nvPicPr>
          <p:cNvPr id="585" name="Image 5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6700" y="8977313"/>
            <a:ext cx="228600" cy="104775"/>
          </a:xfrm>
          <a:prstGeom prst="rect">
            <a:avLst/>
          </a:prstGeom>
        </p:spPr>
      </p:pic>
      <p:sp>
        <p:nvSpPr>
          <p:cNvPr id="586" name="Shape 532"/>
          <p:cNvSpPr/>
          <p:nvPr/>
        </p:nvSpPr>
        <p:spPr>
          <a:xfrm>
            <a:off x="9544050" y="929640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587" name="Image 5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9300" y="9391650"/>
            <a:ext cx="152400" cy="152400"/>
          </a:xfrm>
          <a:prstGeom prst="rect">
            <a:avLst/>
          </a:prstGeom>
        </p:spPr>
      </p:pic>
      <p:sp>
        <p:nvSpPr>
          <p:cNvPr id="588" name="Shape 533"/>
          <p:cNvSpPr/>
          <p:nvPr/>
        </p:nvSpPr>
        <p:spPr>
          <a:xfrm>
            <a:off x="10001250" y="9439275"/>
            <a:ext cx="1729234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589" name="Shape 534"/>
          <p:cNvSpPr/>
          <p:nvPr/>
        </p:nvSpPr>
        <p:spPr>
          <a:xfrm>
            <a:off x="10001250" y="9439275"/>
            <a:ext cx="1729234" cy="5715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590" name="Text 535"/>
          <p:cNvSpPr/>
          <p:nvPr/>
        </p:nvSpPr>
        <p:spPr>
          <a:xfrm>
            <a:off x="11844784" y="9405938"/>
            <a:ext cx="2329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825" dirty="0"/>
          </a:p>
        </p:txBody>
      </p:sp>
      <p:sp>
        <p:nvSpPr>
          <p:cNvPr id="591" name="Text 536"/>
          <p:cNvSpPr/>
          <p:nvPr/>
        </p:nvSpPr>
        <p:spPr>
          <a:xfrm>
            <a:off x="9620250" y="9810750"/>
            <a:ext cx="2381250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kern="0" spc="-10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안전한 오브닝을 위해 기본 인증을 진행합니다.</a:t>
            </a:r>
            <a:endParaRPr lang="en-US" sz="1950" dirty="0"/>
          </a:p>
        </p:txBody>
      </p:sp>
      <p:sp>
        <p:nvSpPr>
          <p:cNvPr id="592" name="Text 537"/>
          <p:cNvSpPr/>
          <p:nvPr/>
        </p:nvSpPr>
        <p:spPr>
          <a:xfrm>
            <a:off x="9620250" y="10815638"/>
            <a:ext cx="2381250" cy="42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제출된 인증 자료는 운영진 확인용으로만 사용돼요.</a:t>
            </a:r>
            <a:endParaRPr lang="en-US" sz="975" dirty="0"/>
          </a:p>
        </p:txBody>
      </p:sp>
      <p:sp>
        <p:nvSpPr>
          <p:cNvPr id="593" name="Shape 538"/>
          <p:cNvSpPr/>
          <p:nvPr/>
        </p:nvSpPr>
        <p:spPr>
          <a:xfrm>
            <a:off x="9582150" y="11427916"/>
            <a:ext cx="2381250" cy="704850"/>
          </a:xfrm>
          <a:prstGeom prst="roundRect">
            <a:avLst>
              <a:gd name="adj" fmla="val 24324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94" name="Shape 539"/>
          <p:cNvSpPr/>
          <p:nvPr/>
        </p:nvSpPr>
        <p:spPr>
          <a:xfrm>
            <a:off x="9763125" y="11608891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DDEBDD"/>
          </a:solidFill>
          <a:ln/>
        </p:spPr>
      </p:sp>
      <p:pic>
        <p:nvPicPr>
          <p:cNvPr id="595" name="Image 5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48850" y="11694616"/>
            <a:ext cx="171450" cy="171450"/>
          </a:xfrm>
          <a:prstGeom prst="rect">
            <a:avLst/>
          </a:prstGeom>
        </p:spPr>
      </p:pic>
      <p:sp>
        <p:nvSpPr>
          <p:cNvPr id="596" name="Text 540"/>
          <p:cNvSpPr/>
          <p:nvPr/>
        </p:nvSpPr>
        <p:spPr>
          <a:xfrm>
            <a:off x="10220325" y="11627941"/>
            <a:ext cx="77524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휴대폰 인증</a:t>
            </a:r>
            <a:endParaRPr lang="en-US" sz="1050" dirty="0"/>
          </a:p>
        </p:txBody>
      </p:sp>
      <p:sp>
        <p:nvSpPr>
          <p:cNvPr id="597" name="Text 541"/>
          <p:cNvSpPr/>
          <p:nvPr/>
        </p:nvSpPr>
        <p:spPr>
          <a:xfrm>
            <a:off x="10220325" y="11799391"/>
            <a:ext cx="77524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010-****-2398</a:t>
            </a:r>
            <a:endParaRPr lang="en-US" sz="900" dirty="0"/>
          </a:p>
        </p:txBody>
      </p:sp>
      <p:sp>
        <p:nvSpPr>
          <p:cNvPr id="598" name="Shape 542"/>
          <p:cNvSpPr/>
          <p:nvPr/>
        </p:nvSpPr>
        <p:spPr>
          <a:xfrm>
            <a:off x="11410801" y="11680329"/>
            <a:ext cx="371624" cy="200025"/>
          </a:xfrm>
          <a:prstGeom prst="roundRect">
            <a:avLst>
              <a:gd name="adj" fmla="val 50000"/>
            </a:avLst>
          </a:prstGeom>
          <a:solidFill>
            <a:srgbClr val="DDEBDD"/>
          </a:solidFill>
          <a:ln/>
        </p:spPr>
      </p:sp>
      <p:sp>
        <p:nvSpPr>
          <p:cNvPr id="599" name="Text 543"/>
          <p:cNvSpPr/>
          <p:nvPr/>
        </p:nvSpPr>
        <p:spPr>
          <a:xfrm>
            <a:off x="11506051" y="11718429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25" dirty="0"/>
          </a:p>
        </p:txBody>
      </p:sp>
      <p:sp>
        <p:nvSpPr>
          <p:cNvPr id="600" name="Text 544"/>
          <p:cNvSpPr/>
          <p:nvPr/>
        </p:nvSpPr>
        <p:spPr>
          <a:xfrm>
            <a:off x="9582150" y="12342316"/>
            <a:ext cx="683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사진</a:t>
            </a:r>
            <a:endParaRPr lang="en-US" sz="1050" dirty="0"/>
          </a:p>
        </p:txBody>
      </p:sp>
      <p:sp>
        <p:nvSpPr>
          <p:cNvPr id="601" name="Text 545"/>
          <p:cNvSpPr/>
          <p:nvPr/>
        </p:nvSpPr>
        <p:spPr>
          <a:xfrm>
            <a:off x="11782276" y="12370891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825" dirty="0"/>
          </a:p>
        </p:txBody>
      </p:sp>
      <p:sp>
        <p:nvSpPr>
          <p:cNvPr id="602" name="Shape 546"/>
          <p:cNvSpPr/>
          <p:nvPr/>
        </p:nvSpPr>
        <p:spPr>
          <a:xfrm>
            <a:off x="9582150" y="12589966"/>
            <a:ext cx="730300" cy="857250"/>
          </a:xfrm>
          <a:prstGeom prst="roundRect">
            <a:avLst>
              <a:gd name="adj" fmla="val 23477"/>
            </a:avLst>
          </a:prstGeom>
          <a:solidFill>
            <a:srgbClr val="F1E3D0"/>
          </a:solidFill>
          <a:ln w="9525">
            <a:solidFill>
              <a:srgbClr val="D9C5AA"/>
            </a:solidFill>
            <a:prstDash val="dash"/>
          </a:ln>
        </p:spPr>
      </p:sp>
      <p:pic>
        <p:nvPicPr>
          <p:cNvPr id="603" name="Image 5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42450" y="12837616"/>
            <a:ext cx="209550" cy="209550"/>
          </a:xfrm>
          <a:prstGeom prst="rect">
            <a:avLst/>
          </a:prstGeom>
        </p:spPr>
      </p:pic>
      <p:sp>
        <p:nvSpPr>
          <p:cNvPr id="604" name="Text 547"/>
          <p:cNvSpPr/>
          <p:nvPr/>
        </p:nvSpPr>
        <p:spPr>
          <a:xfrm>
            <a:off x="9864923" y="13085266"/>
            <a:ext cx="24095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</a:t>
            </a:r>
            <a:endParaRPr lang="en-US" sz="750" dirty="0"/>
          </a:p>
        </p:txBody>
      </p:sp>
      <p:sp>
        <p:nvSpPr>
          <p:cNvPr id="605" name="Shape 548"/>
          <p:cNvSpPr/>
          <p:nvPr/>
        </p:nvSpPr>
        <p:spPr>
          <a:xfrm>
            <a:off x="10407700" y="12589966"/>
            <a:ext cx="730151" cy="857250"/>
          </a:xfrm>
          <a:prstGeom prst="roundRect">
            <a:avLst>
              <a:gd name="adj" fmla="val 23481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dash"/>
          </a:ln>
        </p:spPr>
      </p:sp>
      <p:pic>
        <p:nvPicPr>
          <p:cNvPr id="606" name="Image 5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68000" y="12913816"/>
            <a:ext cx="209550" cy="209550"/>
          </a:xfrm>
          <a:prstGeom prst="rect">
            <a:avLst/>
          </a:prstGeom>
        </p:spPr>
      </p:pic>
      <p:sp>
        <p:nvSpPr>
          <p:cNvPr id="607" name="Shape 549"/>
          <p:cNvSpPr/>
          <p:nvPr/>
        </p:nvSpPr>
        <p:spPr>
          <a:xfrm>
            <a:off x="11233100" y="12589966"/>
            <a:ext cx="730300" cy="857250"/>
          </a:xfrm>
          <a:prstGeom prst="roundRect">
            <a:avLst>
              <a:gd name="adj" fmla="val 23477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dash"/>
          </a:ln>
        </p:spPr>
      </p:sp>
      <p:pic>
        <p:nvPicPr>
          <p:cNvPr id="608" name="Image 5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493401" y="12913816"/>
            <a:ext cx="209550" cy="209550"/>
          </a:xfrm>
          <a:prstGeom prst="rect">
            <a:avLst/>
          </a:prstGeom>
        </p:spPr>
      </p:pic>
      <p:sp>
        <p:nvSpPr>
          <p:cNvPr id="609" name="Text 550"/>
          <p:cNvSpPr/>
          <p:nvPr/>
        </p:nvSpPr>
        <p:spPr>
          <a:xfrm>
            <a:off x="9582150" y="13656766"/>
            <a:ext cx="9094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직장 / 신분 인증</a:t>
            </a:r>
            <a:endParaRPr lang="en-US" sz="1050" dirty="0"/>
          </a:p>
        </p:txBody>
      </p:sp>
      <p:sp>
        <p:nvSpPr>
          <p:cNvPr id="610" name="Text 551"/>
          <p:cNvSpPr/>
          <p:nvPr/>
        </p:nvSpPr>
        <p:spPr>
          <a:xfrm>
            <a:off x="10898088" y="13685341"/>
            <a:ext cx="114151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— 회차 신청 시 필수</a:t>
            </a:r>
            <a:endParaRPr lang="en-US" sz="825" dirty="0"/>
          </a:p>
        </p:txBody>
      </p:sp>
      <p:sp>
        <p:nvSpPr>
          <p:cNvPr id="611" name="Shape 552"/>
          <p:cNvSpPr/>
          <p:nvPr/>
        </p:nvSpPr>
        <p:spPr>
          <a:xfrm>
            <a:off x="9582150" y="13904416"/>
            <a:ext cx="2381250" cy="685800"/>
          </a:xfrm>
          <a:prstGeom prst="roundRect">
            <a:avLst>
              <a:gd name="adj" fmla="val 25000"/>
            </a:avLst>
          </a:prstGeom>
          <a:solidFill>
            <a:srgbClr val="7A1F2B"/>
          </a:solidFill>
          <a:ln w="19050">
            <a:solidFill>
              <a:srgbClr val="F5DFA8"/>
            </a:solidFill>
            <a:prstDash val="solid"/>
          </a:ln>
        </p:spPr>
      </p:sp>
      <p:sp>
        <p:nvSpPr>
          <p:cNvPr id="612" name="Shape 553"/>
          <p:cNvSpPr/>
          <p:nvPr/>
        </p:nvSpPr>
        <p:spPr>
          <a:xfrm>
            <a:off x="9753600" y="14075866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5DFA8">
              <a:alpha val="18000"/>
            </a:srgbClr>
          </a:solidFill>
          <a:ln/>
        </p:spPr>
      </p:sp>
      <p:pic>
        <p:nvPicPr>
          <p:cNvPr id="613" name="Image 5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839325" y="14161591"/>
            <a:ext cx="171450" cy="171450"/>
          </a:xfrm>
          <a:prstGeom prst="rect">
            <a:avLst/>
          </a:prstGeom>
        </p:spPr>
      </p:pic>
      <p:sp>
        <p:nvSpPr>
          <p:cNvPr id="614" name="Text 554"/>
          <p:cNvSpPr/>
          <p:nvPr/>
        </p:nvSpPr>
        <p:spPr>
          <a:xfrm>
            <a:off x="10210800" y="14094916"/>
            <a:ext cx="13716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</a:t>
            </a:r>
            <a:endParaRPr lang="en-US" sz="1050" dirty="0"/>
          </a:p>
        </p:txBody>
      </p:sp>
      <p:sp>
        <p:nvSpPr>
          <p:cNvPr id="615" name="Text 555"/>
          <p:cNvSpPr/>
          <p:nvPr/>
        </p:nvSpPr>
        <p:spPr>
          <a:xfrm>
            <a:off x="10210800" y="14275891"/>
            <a:ext cx="13716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준비됨</a:t>
            </a:r>
            <a:endParaRPr lang="en-US" sz="825" dirty="0"/>
          </a:p>
        </p:txBody>
      </p:sp>
      <p:pic>
        <p:nvPicPr>
          <p:cNvPr id="616" name="Image 5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20500" y="14161591"/>
            <a:ext cx="171450" cy="171450"/>
          </a:xfrm>
          <a:prstGeom prst="rect">
            <a:avLst/>
          </a:prstGeom>
        </p:spPr>
      </p:pic>
      <p:sp>
        <p:nvSpPr>
          <p:cNvPr id="617" name="Shape 556"/>
          <p:cNvSpPr/>
          <p:nvPr/>
        </p:nvSpPr>
        <p:spPr>
          <a:xfrm>
            <a:off x="9582150" y="14685466"/>
            <a:ext cx="238125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18" name="Shape 557"/>
          <p:cNvSpPr/>
          <p:nvPr/>
        </p:nvSpPr>
        <p:spPr>
          <a:xfrm>
            <a:off x="9744075" y="14847391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619" name="Image 5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0" y="14933116"/>
            <a:ext cx="171450" cy="171450"/>
          </a:xfrm>
          <a:prstGeom prst="rect">
            <a:avLst/>
          </a:prstGeom>
        </p:spPr>
      </p:pic>
      <p:sp>
        <p:nvSpPr>
          <p:cNvPr id="620" name="Text 558"/>
          <p:cNvSpPr/>
          <p:nvPr/>
        </p:nvSpPr>
        <p:spPr>
          <a:xfrm>
            <a:off x="10201275" y="14866441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사원증</a:t>
            </a:r>
            <a:endParaRPr lang="en-US" sz="1050" dirty="0"/>
          </a:p>
        </p:txBody>
      </p:sp>
      <p:sp>
        <p:nvSpPr>
          <p:cNvPr id="621" name="Text 559"/>
          <p:cNvSpPr/>
          <p:nvPr/>
        </p:nvSpPr>
        <p:spPr>
          <a:xfrm>
            <a:off x="10201275" y="15047416"/>
            <a:ext cx="16764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미선택</a:t>
            </a:r>
            <a:endParaRPr lang="en-US" sz="825" dirty="0"/>
          </a:p>
        </p:txBody>
      </p:sp>
      <p:sp>
        <p:nvSpPr>
          <p:cNvPr id="622" name="Shape 560"/>
          <p:cNvSpPr/>
          <p:nvPr/>
        </p:nvSpPr>
        <p:spPr>
          <a:xfrm>
            <a:off x="9582150" y="15447466"/>
            <a:ext cx="238125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23" name="Shape 561"/>
          <p:cNvSpPr/>
          <p:nvPr/>
        </p:nvSpPr>
        <p:spPr>
          <a:xfrm>
            <a:off x="9744075" y="15609391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624" name="Image 6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829800" y="15695116"/>
            <a:ext cx="171450" cy="171450"/>
          </a:xfrm>
          <a:prstGeom prst="rect">
            <a:avLst/>
          </a:prstGeom>
        </p:spPr>
      </p:pic>
      <p:sp>
        <p:nvSpPr>
          <p:cNvPr id="625" name="Text 562"/>
          <p:cNvSpPr/>
          <p:nvPr/>
        </p:nvSpPr>
        <p:spPr>
          <a:xfrm>
            <a:off x="10201275" y="15628441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이메일</a:t>
            </a:r>
            <a:endParaRPr lang="en-US" sz="1050" dirty="0"/>
          </a:p>
        </p:txBody>
      </p:sp>
      <p:sp>
        <p:nvSpPr>
          <p:cNvPr id="626" name="Text 563"/>
          <p:cNvSpPr/>
          <p:nvPr/>
        </p:nvSpPr>
        <p:spPr>
          <a:xfrm>
            <a:off x="10201275" y="15809416"/>
            <a:ext cx="16764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미선택</a:t>
            </a:r>
            <a:endParaRPr lang="en-US" sz="825" dirty="0"/>
          </a:p>
        </p:txBody>
      </p:sp>
      <p:sp>
        <p:nvSpPr>
          <p:cNvPr id="627" name="Shape 564"/>
          <p:cNvSpPr/>
          <p:nvPr/>
        </p:nvSpPr>
        <p:spPr>
          <a:xfrm>
            <a:off x="9582150" y="16209466"/>
            <a:ext cx="238125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28" name="Shape 565"/>
          <p:cNvSpPr/>
          <p:nvPr/>
        </p:nvSpPr>
        <p:spPr>
          <a:xfrm>
            <a:off x="9744075" y="16371391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629" name="Image 61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829800" y="16457116"/>
            <a:ext cx="171450" cy="171450"/>
          </a:xfrm>
          <a:prstGeom prst="rect">
            <a:avLst/>
          </a:prstGeom>
        </p:spPr>
      </p:pic>
      <p:sp>
        <p:nvSpPr>
          <p:cNvPr id="630" name="Text 566"/>
          <p:cNvSpPr/>
          <p:nvPr/>
        </p:nvSpPr>
        <p:spPr>
          <a:xfrm>
            <a:off x="10201275" y="16390441"/>
            <a:ext cx="1676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사업자등록증</a:t>
            </a:r>
            <a:endParaRPr lang="en-US" sz="1050" dirty="0"/>
          </a:p>
        </p:txBody>
      </p:sp>
      <p:sp>
        <p:nvSpPr>
          <p:cNvPr id="631" name="Text 567"/>
          <p:cNvSpPr/>
          <p:nvPr/>
        </p:nvSpPr>
        <p:spPr>
          <a:xfrm>
            <a:off x="10201275" y="16571416"/>
            <a:ext cx="16764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미선택</a:t>
            </a:r>
            <a:endParaRPr lang="en-US" sz="825" dirty="0"/>
          </a:p>
        </p:txBody>
      </p:sp>
      <p:sp>
        <p:nvSpPr>
          <p:cNvPr id="632" name="Shape 568"/>
          <p:cNvSpPr/>
          <p:nvPr/>
        </p:nvSpPr>
        <p:spPr>
          <a:xfrm>
            <a:off x="9582150" y="13849350"/>
            <a:ext cx="238125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633" name="Text 569"/>
          <p:cNvSpPr/>
          <p:nvPr/>
        </p:nvSpPr>
        <p:spPr>
          <a:xfrm>
            <a:off x="9734550" y="13849350"/>
            <a:ext cx="20764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시작하기</a:t>
            </a:r>
            <a:endParaRPr lang="en-US" sz="1275" dirty="0"/>
          </a:p>
        </p:txBody>
      </p:sp>
      <p:sp>
        <p:nvSpPr>
          <p:cNvPr id="634" name="Shape 570"/>
          <p:cNvSpPr/>
          <p:nvPr/>
        </p:nvSpPr>
        <p:spPr>
          <a:xfrm>
            <a:off x="10134600" y="145256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635" name="Text 571"/>
          <p:cNvSpPr/>
          <p:nvPr/>
        </p:nvSpPr>
        <p:spPr>
          <a:xfrm>
            <a:off x="10523637" y="14859000"/>
            <a:ext cx="49827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b="1" kern="0" spc="83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</a:t>
            </a:r>
            <a:endParaRPr lang="en-US" sz="825" dirty="0"/>
          </a:p>
        </p:txBody>
      </p:sp>
      <p:sp>
        <p:nvSpPr>
          <p:cNvPr id="636" name="Text 572"/>
          <p:cNvSpPr/>
          <p:nvPr/>
        </p:nvSpPr>
        <p:spPr>
          <a:xfrm>
            <a:off x="10649992" y="15020925"/>
            <a:ext cx="3216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</a:t>
            </a:r>
            <a:endParaRPr lang="en-US" sz="1050" dirty="0"/>
          </a:p>
        </p:txBody>
      </p:sp>
      <p:sp>
        <p:nvSpPr>
          <p:cNvPr id="637" name="Shape 573"/>
          <p:cNvSpPr/>
          <p:nvPr/>
        </p:nvSpPr>
        <p:spPr>
          <a:xfrm>
            <a:off x="12573000" y="8743950"/>
            <a:ext cx="2914650" cy="5981700"/>
          </a:xfrm>
          <a:prstGeom prst="roundRect">
            <a:avLst>
              <a:gd name="adj" fmla="val 11765"/>
            </a:avLst>
          </a:prstGeom>
          <a:solidFill>
            <a:srgbClr val="0F0A07"/>
          </a:solidFill>
          <a:ln/>
          <a:effectLst>
            <a:outerShdw blurRad="571500" dist="285750" dir="5400000" algn="bl" rotWithShape="0">
              <a:srgbClr val="3A1E14">
                <a:alpha val="20000"/>
              </a:srgbClr>
            </a:outerShdw>
          </a:effectLst>
        </p:spPr>
      </p:sp>
      <p:sp>
        <p:nvSpPr>
          <p:cNvPr id="638" name="Shape 574"/>
          <p:cNvSpPr/>
          <p:nvPr/>
        </p:nvSpPr>
        <p:spPr>
          <a:xfrm>
            <a:off x="13601700" y="883920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639" name="Shape 575"/>
          <p:cNvSpPr/>
          <p:nvPr/>
        </p:nvSpPr>
        <p:spPr>
          <a:xfrm>
            <a:off x="12649200" y="8820150"/>
            <a:ext cx="2762250" cy="5829300"/>
          </a:xfrm>
          <a:prstGeom prst="roundRect">
            <a:avLst>
              <a:gd name="adj" fmla="val 9655"/>
            </a:avLst>
          </a:prstGeom>
          <a:solidFill>
            <a:srgbClr val="FFF7EC"/>
          </a:solidFill>
          <a:ln/>
        </p:spPr>
      </p:sp>
      <p:sp>
        <p:nvSpPr>
          <p:cNvPr id="640" name="Shape 576"/>
          <p:cNvSpPr/>
          <p:nvPr/>
        </p:nvSpPr>
        <p:spPr>
          <a:xfrm>
            <a:off x="12649200" y="8820150"/>
            <a:ext cx="2762250" cy="582930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41" name="Text 577"/>
          <p:cNvSpPr/>
          <p:nvPr/>
        </p:nvSpPr>
        <p:spPr>
          <a:xfrm>
            <a:off x="12877800" y="8953500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642" name="Image 6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4700" y="8977313"/>
            <a:ext cx="161925" cy="104775"/>
          </a:xfrm>
          <a:prstGeom prst="rect">
            <a:avLst/>
          </a:prstGeom>
        </p:spPr>
      </p:pic>
      <p:pic>
        <p:nvPicPr>
          <p:cNvPr id="643" name="Image 6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4250" y="8977313"/>
            <a:ext cx="228600" cy="104775"/>
          </a:xfrm>
          <a:prstGeom prst="rect">
            <a:avLst/>
          </a:prstGeom>
        </p:spPr>
      </p:pic>
      <p:pic>
        <p:nvPicPr>
          <p:cNvPr id="644" name="Image 6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77800" y="9429750"/>
            <a:ext cx="171450" cy="171450"/>
          </a:xfrm>
          <a:prstGeom prst="rect">
            <a:avLst/>
          </a:prstGeom>
        </p:spPr>
      </p:pic>
      <p:sp>
        <p:nvSpPr>
          <p:cNvPr id="645" name="Text 578"/>
          <p:cNvSpPr/>
          <p:nvPr/>
        </p:nvSpPr>
        <p:spPr>
          <a:xfrm>
            <a:off x="13125450" y="9453563"/>
            <a:ext cx="13970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 ANALYSIS</a:t>
            </a:r>
            <a:endParaRPr lang="en-US" sz="825" dirty="0"/>
          </a:p>
        </p:txBody>
      </p:sp>
      <p:sp>
        <p:nvSpPr>
          <p:cNvPr id="646" name="Text 579"/>
          <p:cNvSpPr/>
          <p:nvPr/>
        </p:nvSpPr>
        <p:spPr>
          <a:xfrm>
            <a:off x="12877800" y="9715500"/>
            <a:ext cx="23812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kern="0" spc="-22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케미 분석이 완료되었어요.</a:t>
            </a:r>
            <a:endParaRPr lang="en-US" sz="2250" dirty="0"/>
          </a:p>
        </p:txBody>
      </p:sp>
      <p:sp>
        <p:nvSpPr>
          <p:cNvPr id="647" name="Text 580"/>
          <p:cNvSpPr/>
          <p:nvPr/>
        </p:nvSpPr>
        <p:spPr>
          <a:xfrm>
            <a:off x="12877800" y="10496550"/>
            <a:ext cx="2381250" cy="42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성향을 가장 잘 닮은 케미 캐릭터를 찾았어요.</a:t>
            </a:r>
            <a:endParaRPr lang="en-US" sz="975" dirty="0"/>
          </a:p>
        </p:txBody>
      </p:sp>
      <p:sp>
        <p:nvSpPr>
          <p:cNvPr id="648" name="Shape 581"/>
          <p:cNvSpPr/>
          <p:nvPr/>
        </p:nvSpPr>
        <p:spPr>
          <a:xfrm>
            <a:off x="12839700" y="11089779"/>
            <a:ext cx="2381250" cy="2773412"/>
          </a:xfrm>
          <a:prstGeom prst="roundRect">
            <a:avLst>
              <a:gd name="adj" fmla="val 11200"/>
            </a:avLst>
          </a:prstGeom>
          <a:solidFill>
            <a:srgbClr val="551321"/>
          </a:solidFill>
          <a:ln/>
        </p:spPr>
      </p:sp>
      <p:sp>
        <p:nvSpPr>
          <p:cNvPr id="649" name="Shape 582"/>
          <p:cNvSpPr/>
          <p:nvPr/>
        </p:nvSpPr>
        <p:spPr>
          <a:xfrm>
            <a:off x="13696950" y="10708779"/>
            <a:ext cx="1905000" cy="1905000"/>
          </a:xfrm>
          <a:prstGeom prst="ellipse">
            <a:avLst/>
          </a:prstGeom>
          <a:ln w="9525">
            <a:solidFill>
              <a:srgbClr val="F5DFA8">
                <a:alpha val="20000"/>
              </a:srgbClr>
            </a:solidFill>
            <a:prstDash val="solid"/>
          </a:ln>
        </p:spPr>
      </p:sp>
      <p:sp>
        <p:nvSpPr>
          <p:cNvPr id="650" name="Shape 583"/>
          <p:cNvSpPr/>
          <p:nvPr/>
        </p:nvSpPr>
        <p:spPr>
          <a:xfrm>
            <a:off x="13982700" y="10994529"/>
            <a:ext cx="1333500" cy="1333500"/>
          </a:xfrm>
          <a:prstGeom prst="ellipse">
            <a:avLst/>
          </a:prstGeom>
          <a:ln w="9525">
            <a:solidFill>
              <a:srgbClr val="F5DFA8">
                <a:alpha val="35000"/>
              </a:srgbClr>
            </a:solidFill>
            <a:prstDash val="dash"/>
          </a:ln>
        </p:spPr>
      </p:sp>
      <p:sp>
        <p:nvSpPr>
          <p:cNvPr id="651" name="Text 584"/>
          <p:cNvSpPr/>
          <p:nvPr/>
        </p:nvSpPr>
        <p:spPr>
          <a:xfrm>
            <a:off x="13049250" y="11337429"/>
            <a:ext cx="20383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99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CHEMISTRY</a:t>
            </a:r>
            <a:endParaRPr lang="en-US" sz="825" dirty="0"/>
          </a:p>
        </p:txBody>
      </p:sp>
      <p:sp>
        <p:nvSpPr>
          <p:cNvPr id="652" name="Shape 585"/>
          <p:cNvSpPr/>
          <p:nvPr/>
        </p:nvSpPr>
        <p:spPr>
          <a:xfrm>
            <a:off x="13049250" y="11632704"/>
            <a:ext cx="737592" cy="800100"/>
          </a:xfrm>
          <a:prstGeom prst="roundRect">
            <a:avLst>
              <a:gd name="adj" fmla="val 3099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DFA8">
                <a:alpha val="35000"/>
              </a:srgbClr>
            </a:solidFill>
            <a:prstDash val="solid"/>
          </a:ln>
        </p:spPr>
      </p:sp>
      <p:sp>
        <p:nvSpPr>
          <p:cNvPr id="653" name="Text 586"/>
          <p:cNvSpPr/>
          <p:nvPr/>
        </p:nvSpPr>
        <p:spPr>
          <a:xfrm>
            <a:off x="13310443" y="11827966"/>
            <a:ext cx="29125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kern="0" spc="-27" dirty="0">
                <a:solidFill>
                  <a:srgbClr val="F5D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700" dirty="0"/>
          </a:p>
        </p:txBody>
      </p:sp>
      <p:sp>
        <p:nvSpPr>
          <p:cNvPr id="654" name="Text 587"/>
          <p:cNvSpPr/>
          <p:nvPr/>
        </p:nvSpPr>
        <p:spPr>
          <a:xfrm>
            <a:off x="13939242" y="11637466"/>
            <a:ext cx="114835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kern="0" spc="-24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티라미수</a:t>
            </a:r>
            <a:endParaRPr lang="en-US" sz="2400" dirty="0"/>
          </a:p>
        </p:txBody>
      </p:sp>
      <p:sp>
        <p:nvSpPr>
          <p:cNvPr id="655" name="Text 588"/>
          <p:cNvSpPr/>
          <p:nvPr/>
        </p:nvSpPr>
        <p:spPr>
          <a:xfrm>
            <a:off x="13939242" y="12294691"/>
            <a:ext cx="114835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5DFA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Tiramisu · 감성 · 진중</a:t>
            </a:r>
            <a:endParaRPr lang="en-US" sz="900" dirty="0"/>
          </a:p>
        </p:txBody>
      </p:sp>
      <p:sp>
        <p:nvSpPr>
          <p:cNvPr id="656" name="Text 589"/>
          <p:cNvSpPr/>
          <p:nvPr/>
        </p:nvSpPr>
        <p:spPr>
          <a:xfrm>
            <a:off x="13049250" y="12604254"/>
            <a:ext cx="2038350" cy="677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부드럽지만 깊은 향을 가진 사람. 가까워질수록 진심이 묻어나는 타입이에요.</a:t>
            </a:r>
            <a:endParaRPr lang="en-US" sz="1050" dirty="0"/>
          </a:p>
        </p:txBody>
      </p:sp>
      <p:sp>
        <p:nvSpPr>
          <p:cNvPr id="657" name="Shape 590"/>
          <p:cNvSpPr/>
          <p:nvPr/>
        </p:nvSpPr>
        <p:spPr>
          <a:xfrm>
            <a:off x="13049250" y="13396466"/>
            <a:ext cx="371624" cy="219075"/>
          </a:xfrm>
          <a:prstGeom prst="roundRect">
            <a:avLst>
              <a:gd name="adj" fmla="val 50000"/>
            </a:avLst>
          </a:prstGeom>
          <a:solidFill>
            <a:srgbClr val="F5DFA8">
              <a:alpha val="18000"/>
            </a:srgbClr>
          </a:solidFill>
          <a:ln/>
        </p:spPr>
      </p:sp>
      <p:sp>
        <p:nvSpPr>
          <p:cNvPr id="658" name="Text 591"/>
          <p:cNvSpPr/>
          <p:nvPr/>
        </p:nvSpPr>
        <p:spPr>
          <a:xfrm>
            <a:off x="13144500" y="13444091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</a:t>
            </a:r>
            <a:endParaRPr lang="en-US" sz="825" dirty="0"/>
          </a:p>
        </p:txBody>
      </p:sp>
      <p:sp>
        <p:nvSpPr>
          <p:cNvPr id="659" name="Shape 592"/>
          <p:cNvSpPr/>
          <p:nvPr/>
        </p:nvSpPr>
        <p:spPr>
          <a:xfrm>
            <a:off x="13478024" y="13396466"/>
            <a:ext cx="371624" cy="219075"/>
          </a:xfrm>
          <a:prstGeom prst="roundRect">
            <a:avLst>
              <a:gd name="adj" fmla="val 50000"/>
            </a:avLst>
          </a:prstGeom>
          <a:solidFill>
            <a:srgbClr val="F5DFA8">
              <a:alpha val="18000"/>
            </a:srgbClr>
          </a:solidFill>
          <a:ln/>
        </p:spPr>
      </p:sp>
      <p:sp>
        <p:nvSpPr>
          <p:cNvPr id="660" name="Text 593"/>
          <p:cNvSpPr/>
          <p:nvPr/>
        </p:nvSpPr>
        <p:spPr>
          <a:xfrm>
            <a:off x="13573274" y="13444091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진중</a:t>
            </a:r>
            <a:endParaRPr lang="en-US" sz="825" dirty="0"/>
          </a:p>
        </p:txBody>
      </p:sp>
      <p:sp>
        <p:nvSpPr>
          <p:cNvPr id="661" name="Shape 594"/>
          <p:cNvSpPr/>
          <p:nvPr/>
        </p:nvSpPr>
        <p:spPr>
          <a:xfrm>
            <a:off x="13906798" y="13396466"/>
            <a:ext cx="371624" cy="219075"/>
          </a:xfrm>
          <a:prstGeom prst="roundRect">
            <a:avLst>
              <a:gd name="adj" fmla="val 50000"/>
            </a:avLst>
          </a:prstGeom>
          <a:solidFill>
            <a:srgbClr val="F5DFA8">
              <a:alpha val="18000"/>
            </a:srgbClr>
          </a:solidFill>
          <a:ln/>
        </p:spPr>
      </p:sp>
      <p:sp>
        <p:nvSpPr>
          <p:cNvPr id="662" name="Text 595"/>
          <p:cNvSpPr/>
          <p:nvPr/>
        </p:nvSpPr>
        <p:spPr>
          <a:xfrm>
            <a:off x="14002048" y="13444091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따뜻</a:t>
            </a:r>
            <a:endParaRPr lang="en-US" sz="825" dirty="0"/>
          </a:p>
        </p:txBody>
      </p:sp>
      <p:sp>
        <p:nvSpPr>
          <p:cNvPr id="663" name="Shape 596"/>
          <p:cNvSpPr/>
          <p:nvPr/>
        </p:nvSpPr>
        <p:spPr>
          <a:xfrm>
            <a:off x="14335571" y="13396466"/>
            <a:ext cx="667494" cy="219075"/>
          </a:xfrm>
          <a:prstGeom prst="roundRect">
            <a:avLst>
              <a:gd name="adj" fmla="val 50000"/>
            </a:avLst>
          </a:prstGeom>
          <a:solidFill>
            <a:srgbClr val="F5DFA8">
              <a:alpha val="18000"/>
            </a:srgbClr>
          </a:solidFill>
          <a:ln/>
        </p:spPr>
      </p:sp>
      <p:sp>
        <p:nvSpPr>
          <p:cNvPr id="664" name="Text 597"/>
          <p:cNvSpPr/>
          <p:nvPr/>
        </p:nvSpPr>
        <p:spPr>
          <a:xfrm>
            <a:off x="14430821" y="13444091"/>
            <a:ext cx="55319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은은한 깊이</a:t>
            </a:r>
            <a:endParaRPr lang="en-US" sz="825" dirty="0"/>
          </a:p>
        </p:txBody>
      </p:sp>
      <p:sp>
        <p:nvSpPr>
          <p:cNvPr id="665" name="Shape 598"/>
          <p:cNvSpPr/>
          <p:nvPr/>
        </p:nvSpPr>
        <p:spPr>
          <a:xfrm>
            <a:off x="12839700" y="14091791"/>
            <a:ext cx="2381250" cy="910233"/>
          </a:xfrm>
          <a:prstGeom prst="roundRect">
            <a:avLst>
              <a:gd name="adj" fmla="val 23022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pic>
        <p:nvPicPr>
          <p:cNvPr id="666" name="Image 6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020675" y="14272766"/>
            <a:ext cx="96441" cy="152400"/>
          </a:xfrm>
          <a:prstGeom prst="rect">
            <a:avLst/>
          </a:prstGeom>
        </p:spPr>
      </p:pic>
      <p:sp>
        <p:nvSpPr>
          <p:cNvPr id="667" name="Text 599"/>
          <p:cNvSpPr/>
          <p:nvPr/>
        </p:nvSpPr>
        <p:spPr>
          <a:xfrm>
            <a:off x="13212366" y="14272766"/>
            <a:ext cx="1903809" cy="586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0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캐릭터는 나의 기본 케미 캐릭터예요. 회차 참여 시에는 오브닝 전용 닉네임이 새롭게 배정될 수 있어요.</a:t>
            </a:r>
            <a:endParaRPr lang="en-US" sz="900" dirty="0"/>
          </a:p>
        </p:txBody>
      </p:sp>
      <p:sp>
        <p:nvSpPr>
          <p:cNvPr id="668" name="Shape 600"/>
          <p:cNvSpPr/>
          <p:nvPr/>
        </p:nvSpPr>
        <p:spPr>
          <a:xfrm>
            <a:off x="12839700" y="13849350"/>
            <a:ext cx="1054447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669" name="Text 601"/>
          <p:cNvSpPr/>
          <p:nvPr/>
        </p:nvSpPr>
        <p:spPr>
          <a:xfrm>
            <a:off x="13055650" y="14020800"/>
            <a:ext cx="6225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</a:t>
            </a:r>
            <a:endParaRPr lang="en-US" sz="1275" dirty="0"/>
          </a:p>
        </p:txBody>
      </p:sp>
      <p:sp>
        <p:nvSpPr>
          <p:cNvPr id="670" name="Shape 602"/>
          <p:cNvSpPr/>
          <p:nvPr/>
        </p:nvSpPr>
        <p:spPr>
          <a:xfrm>
            <a:off x="13989397" y="13849350"/>
            <a:ext cx="1231553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671" name="Text 603"/>
          <p:cNvSpPr/>
          <p:nvPr/>
        </p:nvSpPr>
        <p:spPr>
          <a:xfrm>
            <a:off x="14141797" y="13925550"/>
            <a:ext cx="92675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보러가기</a:t>
            </a:r>
            <a:endParaRPr lang="en-US" sz="1275" dirty="0"/>
          </a:p>
        </p:txBody>
      </p:sp>
      <p:sp>
        <p:nvSpPr>
          <p:cNvPr id="672" name="Shape 604"/>
          <p:cNvSpPr/>
          <p:nvPr/>
        </p:nvSpPr>
        <p:spPr>
          <a:xfrm>
            <a:off x="13392150" y="145256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673" name="Text 605"/>
          <p:cNvSpPr/>
          <p:nvPr/>
        </p:nvSpPr>
        <p:spPr>
          <a:xfrm>
            <a:off x="13728278" y="14859000"/>
            <a:ext cx="6040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b="1" kern="0" spc="83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</a:t>
            </a:r>
            <a:endParaRPr lang="en-US" sz="825" dirty="0"/>
          </a:p>
        </p:txBody>
      </p:sp>
      <p:sp>
        <p:nvSpPr>
          <p:cNvPr id="674" name="Text 606"/>
          <p:cNvSpPr/>
          <p:nvPr/>
        </p:nvSpPr>
        <p:spPr>
          <a:xfrm>
            <a:off x="13766378" y="15020925"/>
            <a:ext cx="6040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완료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857250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990600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62025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62025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1095375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119188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1119188"/>
            <a:ext cx="228600" cy="10477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1514475"/>
            <a:ext cx="190500" cy="190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90700" y="1528763"/>
            <a:ext cx="101679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Chemistry Oven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5236815" y="1547813"/>
            <a:ext cx="55438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3분 소요</a:t>
            </a:r>
            <a:endParaRPr lang="en-US" sz="825" dirty="0"/>
          </a:p>
        </p:txBody>
      </p:sp>
      <p:sp>
        <p:nvSpPr>
          <p:cNvPr id="12" name="Shape 7"/>
          <p:cNvSpPr/>
          <p:nvPr/>
        </p:nvSpPr>
        <p:spPr>
          <a:xfrm>
            <a:off x="1524000" y="1895475"/>
            <a:ext cx="4191000" cy="2857500"/>
          </a:xfrm>
          <a:prstGeom prst="roundRect">
            <a:avLst>
              <a:gd name="adj" fmla="val 9333"/>
            </a:avLst>
          </a:prstGeom>
          <a:solidFill>
            <a:srgbClr val="FBE6D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533525" y="1905000"/>
            <a:ext cx="4171950" cy="2838450"/>
          </a:xfrm>
          <a:prstGeom prst="rect">
            <a:avLst/>
          </a:prstGeom>
          <a:blipFill dpi="0" rotWithShape="1">
            <a:blip r:embed="rId6"/>
            <a:srcRect/>
            <a:stretch>
              <a:fillRect l="5000" t="5000" r="5000" b="5000"/>
            </a:stretch>
          </a:blipFill>
          <a:ln/>
        </p:spPr>
      </p:sp>
      <p:sp>
        <p:nvSpPr>
          <p:cNvPr id="14" name="Shape 9"/>
          <p:cNvSpPr/>
          <p:nvPr/>
        </p:nvSpPr>
        <p:spPr>
          <a:xfrm>
            <a:off x="1704975" y="2076450"/>
            <a:ext cx="3829050" cy="2495550"/>
          </a:xfrm>
          <a:prstGeom prst="roundRect">
            <a:avLst>
              <a:gd name="adj" fmla="val 8397"/>
            </a:avLst>
          </a:prstGeom>
          <a:ln w="9525">
            <a:solidFill>
              <a:srgbClr val="D9C5AA"/>
            </a:solidFill>
            <a:prstDash val="dash"/>
          </a:ln>
        </p:spPr>
      </p:sp>
      <p:sp>
        <p:nvSpPr>
          <p:cNvPr id="17" name="Text 12"/>
          <p:cNvSpPr/>
          <p:nvPr/>
        </p:nvSpPr>
        <p:spPr>
          <a:xfrm>
            <a:off x="1562100" y="5191125"/>
            <a:ext cx="4238244" cy="782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kern="0" spc="-25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나의 케미를 알아볼까요?</a:t>
            </a:r>
            <a:endParaRPr lang="en-US" sz="2550" dirty="0"/>
          </a:p>
        </p:txBody>
      </p:sp>
      <p:sp>
        <p:nvSpPr>
          <p:cNvPr id="18" name="Text 13"/>
          <p:cNvSpPr/>
          <p:nvPr/>
        </p:nvSpPr>
        <p:spPr>
          <a:xfrm>
            <a:off x="1562100" y="6069211"/>
            <a:ext cx="4238244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0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 가지 질문으로 나의 성향과 잘 맞는 오브닝을 추천해드려요.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562100" y="6705302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7825" y="6791027"/>
            <a:ext cx="171450" cy="171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019300" y="6738640"/>
            <a:ext cx="13570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케미 분석</a:t>
            </a:r>
            <a:endParaRPr lang="en-US" sz="975" dirty="0"/>
          </a:p>
        </p:txBody>
      </p:sp>
      <p:sp>
        <p:nvSpPr>
          <p:cNvPr id="22" name="Text 16"/>
          <p:cNvSpPr/>
          <p:nvPr/>
        </p:nvSpPr>
        <p:spPr>
          <a:xfrm>
            <a:off x="2019300" y="6881515"/>
            <a:ext cx="135701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케미 캐릭터를 찾아드려요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1562100" y="7162502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7825" y="7248227"/>
            <a:ext cx="171450" cy="1714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019300" y="7195840"/>
            <a:ext cx="14556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 우선</a:t>
            </a:r>
            <a:endParaRPr lang="en-US" sz="975" dirty="0"/>
          </a:p>
        </p:txBody>
      </p:sp>
      <p:sp>
        <p:nvSpPr>
          <p:cNvPr id="26" name="Text 19"/>
          <p:cNvSpPr/>
          <p:nvPr/>
        </p:nvSpPr>
        <p:spPr>
          <a:xfrm>
            <a:off x="2019300" y="7338715"/>
            <a:ext cx="14556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연락처/직장 인증으로 안전하게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1562100" y="7619702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7825" y="7705427"/>
            <a:ext cx="171450" cy="17145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019300" y="7653040"/>
            <a:ext cx="14875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간편한 입력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2019300" y="7795915"/>
            <a:ext cx="148753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대부분 카드와 칩 선택으로 진행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1524000" y="9496425"/>
            <a:ext cx="419100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3304729" y="9667875"/>
            <a:ext cx="6295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1275" dirty="0"/>
          </a:p>
        </p:txBody>
      </p:sp>
      <p:sp>
        <p:nvSpPr>
          <p:cNvPr id="33" name="Text 25"/>
          <p:cNvSpPr/>
          <p:nvPr/>
        </p:nvSpPr>
        <p:spPr>
          <a:xfrm>
            <a:off x="1461135" y="10144125"/>
            <a:ext cx="43167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나중에 입력하기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2981325" y="10458450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7048500" y="3746302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 · 시작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7048500" y="4146352"/>
            <a:ext cx="1059561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"나의 케미를 알아볼까요?"</a:t>
            </a:r>
            <a:endParaRPr lang="en-US" sz="5700" dirty="0"/>
          </a:p>
        </p:txBody>
      </p:sp>
      <p:sp>
        <p:nvSpPr>
          <p:cNvPr id="37" name="Text 29"/>
          <p:cNvSpPr/>
          <p:nvPr/>
        </p:nvSpPr>
        <p:spPr>
          <a:xfrm>
            <a:off x="7048500" y="5948363"/>
            <a:ext cx="706374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따뜻한 베이킹 일러스트와 함께, 3분 소요라는 솔직한 안내로 진입 부담을 낮춰요.</a:t>
            </a:r>
            <a:endParaRPr lang="en-US" sz="1650" dirty="0"/>
          </a:p>
        </p:txBody>
      </p:sp>
      <p:sp>
        <p:nvSpPr>
          <p:cNvPr id="38" name="Text 30"/>
          <p:cNvSpPr/>
          <p:nvPr/>
        </p:nvSpPr>
        <p:spPr>
          <a:xfrm>
            <a:off x="7124700" y="6902648"/>
            <a:ext cx="68770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케미 분석 · 신뢰 우선 · 간편 입력 3 포인트 신뢰 구축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"시작하기" / "나중에 입력하기" 2 CTA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857250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990600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62025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62025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1095375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119188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1119188"/>
            <a:ext cx="228600" cy="1047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85900" y="14382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1533525"/>
            <a:ext cx="152400" cy="152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943100" y="1581150"/>
            <a:ext cx="3550295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2" name="Shape 7"/>
          <p:cNvSpPr/>
          <p:nvPr/>
        </p:nvSpPr>
        <p:spPr>
          <a:xfrm>
            <a:off x="1943100" y="1581150"/>
            <a:ext cx="496937" cy="5715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3" name="Text 8"/>
          <p:cNvSpPr/>
          <p:nvPr/>
        </p:nvSpPr>
        <p:spPr>
          <a:xfrm>
            <a:off x="5607695" y="1547813"/>
            <a:ext cx="2216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1/7</a:t>
            </a:r>
            <a:endParaRPr lang="en-US" sz="825" dirty="0"/>
          </a:p>
        </p:txBody>
      </p:sp>
      <p:sp>
        <p:nvSpPr>
          <p:cNvPr id="14" name="Text 9"/>
          <p:cNvSpPr/>
          <p:nvPr/>
        </p:nvSpPr>
        <p:spPr>
          <a:xfrm>
            <a:off x="1562100" y="1952625"/>
            <a:ext cx="423824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kern="0" spc="-10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기본 정보를 알려주세요.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1562100" y="2647950"/>
            <a:ext cx="4238244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정확한 회차 추천과 인원 구성에 사용돼요.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1524000" y="3220789"/>
            <a:ext cx="3067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1524000" y="3468439"/>
            <a:ext cx="419100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524000" y="4144714"/>
            <a:ext cx="3067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성별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524000" y="4392364"/>
            <a:ext cx="2047875" cy="685800"/>
          </a:xfrm>
          <a:prstGeom prst="roundRect">
            <a:avLst>
              <a:gd name="adj" fmla="val 25000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685925" y="456381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0" y="4649539"/>
            <a:ext cx="171450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43125" y="4659064"/>
            <a:ext cx="13430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남성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667125" y="4392364"/>
            <a:ext cx="2047875" cy="685800"/>
          </a:xfrm>
          <a:prstGeom prst="roundRect">
            <a:avLst>
              <a:gd name="adj" fmla="val 25000"/>
            </a:avLst>
          </a:prstGeom>
          <a:solidFill>
            <a:srgbClr val="7A1F2B"/>
          </a:solidFill>
          <a:ln w="19050">
            <a:solidFill>
              <a:srgbClr val="F5DFA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838575" y="456381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5DFA8">
              <a:alpha val="18000"/>
            </a:srgbClr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4300" y="4649539"/>
            <a:ext cx="171450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295775" y="4659064"/>
            <a:ext cx="10382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여성</a:t>
            </a:r>
            <a:endParaRPr lang="en-US" sz="10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2100" y="4649539"/>
            <a:ext cx="171450" cy="1714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24000" y="5287714"/>
            <a:ext cx="537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생년월일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1524000" y="5535364"/>
            <a:ext cx="219075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3790950" y="5535364"/>
            <a:ext cx="219075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057900" y="5535364"/>
            <a:ext cx="219075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524000" y="6211639"/>
            <a:ext cx="1915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5575250" y="6240214"/>
            <a:ext cx="2159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</a:t>
            </a:r>
            <a:endParaRPr lang="en-US" sz="825" dirty="0"/>
          </a:p>
        </p:txBody>
      </p:sp>
      <p:sp>
        <p:nvSpPr>
          <p:cNvPr id="34" name="Shape 26"/>
          <p:cNvSpPr/>
          <p:nvPr/>
        </p:nvSpPr>
        <p:spPr>
          <a:xfrm>
            <a:off x="1524000" y="6459289"/>
            <a:ext cx="419100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387876" y="6621214"/>
            <a:ext cx="2413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</a:t>
            </a:r>
            <a:endParaRPr lang="en-US" sz="975" dirty="0"/>
          </a:p>
        </p:txBody>
      </p:sp>
      <p:sp>
        <p:nvSpPr>
          <p:cNvPr id="36" name="Text 28"/>
          <p:cNvSpPr/>
          <p:nvPr/>
        </p:nvSpPr>
        <p:spPr>
          <a:xfrm>
            <a:off x="1524000" y="7135564"/>
            <a:ext cx="56792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거주 지역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5113437" y="7164139"/>
            <a:ext cx="6777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복수 선택 가능</a:t>
            </a:r>
            <a:endParaRPr lang="en-US" sz="825" dirty="0"/>
          </a:p>
        </p:txBody>
      </p:sp>
      <p:sp>
        <p:nvSpPr>
          <p:cNvPr id="38" name="Shape 30"/>
          <p:cNvSpPr/>
          <p:nvPr/>
        </p:nvSpPr>
        <p:spPr>
          <a:xfrm>
            <a:off x="1524000" y="7383214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1628775" y="7487989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강남권</a:t>
            </a:r>
            <a:endParaRPr lang="en-US" sz="975" dirty="0"/>
          </a:p>
        </p:txBody>
      </p:sp>
      <p:sp>
        <p:nvSpPr>
          <p:cNvPr id="40" name="Shape 32"/>
          <p:cNvSpPr/>
          <p:nvPr/>
        </p:nvSpPr>
        <p:spPr>
          <a:xfrm>
            <a:off x="2450455" y="7383214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2555230" y="7487989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강북권</a:t>
            </a:r>
            <a:endParaRPr lang="en-US" sz="975" dirty="0"/>
          </a:p>
        </p:txBody>
      </p:sp>
      <p:sp>
        <p:nvSpPr>
          <p:cNvPr id="42" name="Shape 34"/>
          <p:cNvSpPr/>
          <p:nvPr/>
        </p:nvSpPr>
        <p:spPr>
          <a:xfrm>
            <a:off x="3376910" y="7383214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3481685" y="7487989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서남권</a:t>
            </a:r>
            <a:endParaRPr lang="en-US" sz="975" dirty="0"/>
          </a:p>
        </p:txBody>
      </p:sp>
      <p:sp>
        <p:nvSpPr>
          <p:cNvPr id="44" name="Shape 36"/>
          <p:cNvSpPr/>
          <p:nvPr/>
        </p:nvSpPr>
        <p:spPr>
          <a:xfrm>
            <a:off x="4303365" y="7383214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4408140" y="7487989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동북권</a:t>
            </a:r>
            <a:endParaRPr lang="en-US" sz="975" dirty="0"/>
          </a:p>
        </p:txBody>
      </p:sp>
      <p:sp>
        <p:nvSpPr>
          <p:cNvPr id="46" name="Shape 38"/>
          <p:cNvSpPr/>
          <p:nvPr/>
        </p:nvSpPr>
        <p:spPr>
          <a:xfrm>
            <a:off x="1524000" y="7811839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1628775" y="7916614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 동부</a:t>
            </a:r>
            <a:endParaRPr lang="en-US" sz="975" dirty="0"/>
          </a:p>
        </p:txBody>
      </p:sp>
      <p:sp>
        <p:nvSpPr>
          <p:cNvPr id="48" name="Shape 40"/>
          <p:cNvSpPr/>
          <p:nvPr/>
        </p:nvSpPr>
        <p:spPr>
          <a:xfrm>
            <a:off x="2343448" y="7811839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2448223" y="7916614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 서부</a:t>
            </a:r>
            <a:endParaRPr lang="en-US" sz="975" dirty="0"/>
          </a:p>
        </p:txBody>
      </p:sp>
      <p:sp>
        <p:nvSpPr>
          <p:cNvPr id="50" name="Shape 42"/>
          <p:cNvSpPr/>
          <p:nvPr/>
        </p:nvSpPr>
        <p:spPr>
          <a:xfrm>
            <a:off x="3162895" y="781183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3267670" y="791661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인천</a:t>
            </a:r>
            <a:endParaRPr lang="en-US" sz="975" dirty="0"/>
          </a:p>
        </p:txBody>
      </p:sp>
      <p:sp>
        <p:nvSpPr>
          <p:cNvPr id="52" name="Shape 44"/>
          <p:cNvSpPr/>
          <p:nvPr/>
        </p:nvSpPr>
        <p:spPr>
          <a:xfrm>
            <a:off x="3739009" y="781183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3843784" y="791661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</a:t>
            </a:r>
            <a:endParaRPr lang="en-US" sz="975" dirty="0"/>
          </a:p>
        </p:txBody>
      </p:sp>
      <p:sp>
        <p:nvSpPr>
          <p:cNvPr id="54" name="Shape 46"/>
          <p:cNvSpPr/>
          <p:nvPr/>
        </p:nvSpPr>
        <p:spPr>
          <a:xfrm>
            <a:off x="1524000" y="9782175"/>
            <a:ext cx="419100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55" name="Text 47"/>
          <p:cNvSpPr/>
          <p:nvPr/>
        </p:nvSpPr>
        <p:spPr>
          <a:xfrm>
            <a:off x="1651635" y="9782175"/>
            <a:ext cx="393573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1275" dirty="0"/>
          </a:p>
        </p:txBody>
      </p:sp>
      <p:sp>
        <p:nvSpPr>
          <p:cNvPr id="56" name="Shape 48"/>
          <p:cNvSpPr/>
          <p:nvPr/>
        </p:nvSpPr>
        <p:spPr>
          <a:xfrm>
            <a:off x="2981325" y="10458450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57" name="Text 49"/>
          <p:cNvSpPr/>
          <p:nvPr/>
        </p:nvSpPr>
        <p:spPr>
          <a:xfrm>
            <a:off x="7048500" y="3555802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기본 정보</a:t>
            </a:r>
            <a:endParaRPr lang="en-US" sz="1200" dirty="0"/>
          </a:p>
        </p:txBody>
      </p:sp>
      <p:sp>
        <p:nvSpPr>
          <p:cNvPr id="58" name="Text 50"/>
          <p:cNvSpPr/>
          <p:nvPr/>
        </p:nvSpPr>
        <p:spPr>
          <a:xfrm>
            <a:off x="7048500" y="3955852"/>
            <a:ext cx="1059561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텍스트 입력 최소화, 카드와 칩으로.</a:t>
            </a:r>
            <a:endParaRPr lang="en-US" sz="5700" dirty="0"/>
          </a:p>
        </p:txBody>
      </p:sp>
      <p:sp>
        <p:nvSpPr>
          <p:cNvPr id="59" name="Text 51"/>
          <p:cNvSpPr/>
          <p:nvPr/>
        </p:nvSpPr>
        <p:spPr>
          <a:xfrm>
            <a:off x="8611829" y="5609290"/>
            <a:ext cx="706374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정확한 회차 추천과 인원 구성을 위한 기본 정보를 받지만, 입력 부담은 낮춥니다.</a:t>
            </a:r>
            <a:endParaRPr lang="en-US" sz="1650" dirty="0"/>
          </a:p>
        </p:txBody>
      </p:sp>
      <p:sp>
        <p:nvSpPr>
          <p:cNvPr id="60" name="Text 52"/>
          <p:cNvSpPr/>
          <p:nvPr/>
        </p:nvSpPr>
        <p:spPr>
          <a:xfrm>
            <a:off x="7124700" y="6712148"/>
            <a:ext cx="68770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텍스트 · 성별 카드 · 생일 분할 · 키 숫자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거주 지역은 칩 다중 선택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휴대폰 인증은 Step 7에서 분리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857250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990600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62025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62025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1095375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119188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1119188"/>
            <a:ext cx="228600" cy="1047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85900" y="14382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1533525"/>
            <a:ext cx="152400" cy="152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943100" y="1581150"/>
            <a:ext cx="3535263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2" name="Shape 7"/>
          <p:cNvSpPr/>
          <p:nvPr/>
        </p:nvSpPr>
        <p:spPr>
          <a:xfrm>
            <a:off x="1943100" y="1581150"/>
            <a:ext cx="1025128" cy="5715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3" name="Text 8"/>
          <p:cNvSpPr/>
          <p:nvPr/>
        </p:nvSpPr>
        <p:spPr>
          <a:xfrm>
            <a:off x="5592663" y="1547813"/>
            <a:ext cx="23663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2/7</a:t>
            </a:r>
            <a:endParaRPr lang="en-US" sz="825" dirty="0"/>
          </a:p>
        </p:txBody>
      </p:sp>
      <p:sp>
        <p:nvSpPr>
          <p:cNvPr id="14" name="Text 9"/>
          <p:cNvSpPr/>
          <p:nvPr/>
        </p:nvSpPr>
        <p:spPr>
          <a:xfrm>
            <a:off x="1562100" y="1952625"/>
            <a:ext cx="423824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kern="0" spc="-10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나의 일상 리듬을 알려주세요.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1562100" y="2647950"/>
            <a:ext cx="4238244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비슷한 시간대에 편하게 참여할 수 있는 회차를 추천해드려요.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1524000" y="3220789"/>
            <a:ext cx="4220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직업군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1524000" y="3468439"/>
            <a:ext cx="75827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628775" y="3573214"/>
            <a:ext cx="54872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의료/보건</a:t>
            </a:r>
            <a:endParaRPr lang="en-US" sz="975" dirty="0"/>
          </a:p>
        </p:txBody>
      </p:sp>
      <p:sp>
        <p:nvSpPr>
          <p:cNvPr id="19" name="Shape 14"/>
          <p:cNvSpPr/>
          <p:nvPr/>
        </p:nvSpPr>
        <p:spPr>
          <a:xfrm>
            <a:off x="2358479" y="3468439"/>
            <a:ext cx="645021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463254" y="3573214"/>
            <a:ext cx="4354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IT/개발</a:t>
            </a:r>
            <a:endParaRPr lang="en-US" sz="975" dirty="0"/>
          </a:p>
        </p:txBody>
      </p:sp>
      <p:sp>
        <p:nvSpPr>
          <p:cNvPr id="21" name="Shape 16"/>
          <p:cNvSpPr/>
          <p:nvPr/>
        </p:nvSpPr>
        <p:spPr>
          <a:xfrm>
            <a:off x="3079700" y="346843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184475" y="357321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</a:t>
            </a:r>
            <a:endParaRPr lang="en-US" sz="975" dirty="0"/>
          </a:p>
        </p:txBody>
      </p:sp>
      <p:sp>
        <p:nvSpPr>
          <p:cNvPr id="23" name="Shape 18"/>
          <p:cNvSpPr/>
          <p:nvPr/>
        </p:nvSpPr>
        <p:spPr>
          <a:xfrm>
            <a:off x="3655814" y="3468439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760589" y="3573214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공공기관</a:t>
            </a:r>
            <a:endParaRPr lang="en-US" sz="975" dirty="0"/>
          </a:p>
        </p:txBody>
      </p:sp>
      <p:sp>
        <p:nvSpPr>
          <p:cNvPr id="25" name="Shape 20"/>
          <p:cNvSpPr/>
          <p:nvPr/>
        </p:nvSpPr>
        <p:spPr>
          <a:xfrm>
            <a:off x="4445943" y="346843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50718" y="357321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</a:t>
            </a:r>
            <a:endParaRPr lang="en-US" sz="975" dirty="0"/>
          </a:p>
        </p:txBody>
      </p:sp>
      <p:sp>
        <p:nvSpPr>
          <p:cNvPr id="27" name="Shape 22"/>
          <p:cNvSpPr/>
          <p:nvPr/>
        </p:nvSpPr>
        <p:spPr>
          <a:xfrm>
            <a:off x="1524000" y="3897064"/>
            <a:ext cx="97229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628775" y="4001839"/>
            <a:ext cx="76274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디자인/콘텐츠</a:t>
            </a:r>
            <a:endParaRPr lang="en-US" sz="975" dirty="0"/>
          </a:p>
        </p:txBody>
      </p:sp>
      <p:sp>
        <p:nvSpPr>
          <p:cNvPr id="29" name="Shape 24"/>
          <p:cNvSpPr/>
          <p:nvPr/>
        </p:nvSpPr>
        <p:spPr>
          <a:xfrm>
            <a:off x="2572494" y="3897064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677269" y="4001839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</a:t>
            </a:r>
            <a:endParaRPr lang="en-US" sz="975" dirty="0"/>
          </a:p>
        </p:txBody>
      </p:sp>
      <p:sp>
        <p:nvSpPr>
          <p:cNvPr id="31" name="Shape 26"/>
          <p:cNvSpPr/>
          <p:nvPr/>
        </p:nvSpPr>
        <p:spPr>
          <a:xfrm>
            <a:off x="3255615" y="3897064"/>
            <a:ext cx="865287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360390" y="4001839"/>
            <a:ext cx="6557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자영업/사업</a:t>
            </a:r>
            <a:endParaRPr lang="en-US" sz="975" dirty="0"/>
          </a:p>
        </p:txBody>
      </p:sp>
      <p:sp>
        <p:nvSpPr>
          <p:cNvPr id="33" name="Shape 28"/>
          <p:cNvSpPr/>
          <p:nvPr/>
        </p:nvSpPr>
        <p:spPr>
          <a:xfrm>
            <a:off x="4197102" y="3897064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301877" y="4001839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프리랜서</a:t>
            </a:r>
            <a:endParaRPr lang="en-US" sz="975" dirty="0"/>
          </a:p>
        </p:txBody>
      </p:sp>
      <p:sp>
        <p:nvSpPr>
          <p:cNvPr id="35" name="Shape 30"/>
          <p:cNvSpPr/>
          <p:nvPr/>
        </p:nvSpPr>
        <p:spPr>
          <a:xfrm>
            <a:off x="4987230" y="389706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092005" y="400183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</a:t>
            </a:r>
            <a:endParaRPr lang="en-US" sz="975" dirty="0"/>
          </a:p>
        </p:txBody>
      </p:sp>
      <p:sp>
        <p:nvSpPr>
          <p:cNvPr id="37" name="Shape 32"/>
          <p:cNvSpPr/>
          <p:nvPr/>
        </p:nvSpPr>
        <p:spPr>
          <a:xfrm>
            <a:off x="1524000" y="43256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1628775" y="44304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</a:t>
            </a:r>
            <a:endParaRPr lang="en-US" sz="975" dirty="0"/>
          </a:p>
        </p:txBody>
      </p:sp>
      <p:sp>
        <p:nvSpPr>
          <p:cNvPr id="39" name="Text 34"/>
          <p:cNvSpPr/>
          <p:nvPr/>
        </p:nvSpPr>
        <p:spPr>
          <a:xfrm>
            <a:off x="1524000" y="4887664"/>
            <a:ext cx="64814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직장 / 파트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5051971" y="4916239"/>
            <a:ext cx="7392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공개되지 않아요</a:t>
            </a:r>
            <a:endParaRPr lang="en-US" sz="825" dirty="0"/>
          </a:p>
        </p:txBody>
      </p:sp>
      <p:sp>
        <p:nvSpPr>
          <p:cNvPr id="41" name="Shape 36"/>
          <p:cNvSpPr/>
          <p:nvPr/>
        </p:nvSpPr>
        <p:spPr>
          <a:xfrm>
            <a:off x="1524000" y="5135314"/>
            <a:ext cx="419100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1524000" y="5811589"/>
            <a:ext cx="56792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근무 패턴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1524000" y="6059239"/>
            <a:ext cx="2047875" cy="685800"/>
          </a:xfrm>
          <a:prstGeom prst="roundRect">
            <a:avLst>
              <a:gd name="adj" fmla="val 25000"/>
            </a:avLst>
          </a:prstGeom>
          <a:solidFill>
            <a:srgbClr val="7A1F2B"/>
          </a:solidFill>
          <a:ln w="19050">
            <a:solidFill>
              <a:srgbClr val="F5DFA8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95450" y="623068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5DFA8">
              <a:alpha val="18000"/>
            </a:srgbClr>
          </a:solidFill>
          <a:ln/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1175" y="6316414"/>
            <a:ext cx="171450" cy="17145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2152650" y="6249739"/>
            <a:ext cx="10382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평일 주간</a:t>
            </a:r>
            <a:endParaRPr lang="en-US" sz="1050" dirty="0"/>
          </a:p>
        </p:txBody>
      </p:sp>
      <p:sp>
        <p:nvSpPr>
          <p:cNvPr id="47" name="Text 41"/>
          <p:cNvSpPr/>
          <p:nvPr/>
        </p:nvSpPr>
        <p:spPr>
          <a:xfrm>
            <a:off x="2152650" y="6430714"/>
            <a:ext cx="10382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9시 — 6시 근무</a:t>
            </a:r>
            <a:endParaRPr lang="en-US" sz="825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8975" y="6316414"/>
            <a:ext cx="171450" cy="171450"/>
          </a:xfrm>
          <a:prstGeom prst="rect">
            <a:avLst/>
          </a:prstGeom>
        </p:spPr>
      </p:pic>
      <p:sp>
        <p:nvSpPr>
          <p:cNvPr id="49" name="Shape 42"/>
          <p:cNvSpPr/>
          <p:nvPr/>
        </p:nvSpPr>
        <p:spPr>
          <a:xfrm>
            <a:off x="3667125" y="6059239"/>
            <a:ext cx="2047875" cy="685800"/>
          </a:xfrm>
          <a:prstGeom prst="roundRect">
            <a:avLst>
              <a:gd name="adj" fmla="val 25000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3829050" y="623068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4775" y="6316414"/>
            <a:ext cx="171450" cy="171450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4286250" y="6249739"/>
            <a:ext cx="13430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교대근무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4286250" y="6430714"/>
            <a:ext cx="13430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주야 교대</a:t>
            </a:r>
            <a:endParaRPr lang="en-US" sz="825" dirty="0"/>
          </a:p>
        </p:txBody>
      </p:sp>
      <p:sp>
        <p:nvSpPr>
          <p:cNvPr id="54" name="Shape 46"/>
          <p:cNvSpPr/>
          <p:nvPr/>
        </p:nvSpPr>
        <p:spPr>
          <a:xfrm>
            <a:off x="1524000" y="6840289"/>
            <a:ext cx="2047875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1685925" y="700221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0" y="7087939"/>
            <a:ext cx="171450" cy="17145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2143125" y="7021264"/>
            <a:ext cx="13430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주말근무</a:t>
            </a:r>
            <a:endParaRPr lang="en-US" sz="1050" dirty="0"/>
          </a:p>
        </p:txBody>
      </p:sp>
      <p:sp>
        <p:nvSpPr>
          <p:cNvPr id="58" name="Text 49"/>
          <p:cNvSpPr/>
          <p:nvPr/>
        </p:nvSpPr>
        <p:spPr>
          <a:xfrm>
            <a:off x="2143125" y="7202239"/>
            <a:ext cx="13430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평일 휴무형</a:t>
            </a:r>
            <a:endParaRPr lang="en-US" sz="825" dirty="0"/>
          </a:p>
        </p:txBody>
      </p:sp>
      <p:sp>
        <p:nvSpPr>
          <p:cNvPr id="59" name="Shape 50"/>
          <p:cNvSpPr/>
          <p:nvPr/>
        </p:nvSpPr>
        <p:spPr>
          <a:xfrm>
            <a:off x="3667125" y="6840289"/>
            <a:ext cx="2047875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3829050" y="700221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4775" y="7087939"/>
            <a:ext cx="171450" cy="171450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4286250" y="7021264"/>
            <a:ext cx="13430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프리랜서형</a:t>
            </a:r>
            <a:endParaRPr lang="en-US" sz="1050" dirty="0"/>
          </a:p>
        </p:txBody>
      </p:sp>
      <p:sp>
        <p:nvSpPr>
          <p:cNvPr id="63" name="Text 53"/>
          <p:cNvSpPr/>
          <p:nvPr/>
        </p:nvSpPr>
        <p:spPr>
          <a:xfrm>
            <a:off x="4286250" y="7202239"/>
            <a:ext cx="13430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유연 근무</a:t>
            </a:r>
            <a:endParaRPr lang="en-US" sz="825" dirty="0"/>
          </a:p>
        </p:txBody>
      </p:sp>
      <p:sp>
        <p:nvSpPr>
          <p:cNvPr id="64" name="Text 54"/>
          <p:cNvSpPr/>
          <p:nvPr/>
        </p:nvSpPr>
        <p:spPr>
          <a:xfrm>
            <a:off x="1524000" y="7716589"/>
            <a:ext cx="7984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가능한 시간대</a:t>
            </a:r>
            <a:endParaRPr lang="en-US" sz="1050" dirty="0"/>
          </a:p>
        </p:txBody>
      </p:sp>
      <p:sp>
        <p:nvSpPr>
          <p:cNvPr id="65" name="Text 55"/>
          <p:cNvSpPr/>
          <p:nvPr/>
        </p:nvSpPr>
        <p:spPr>
          <a:xfrm>
            <a:off x="5203924" y="7745164"/>
            <a:ext cx="58727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개 선택</a:t>
            </a:r>
            <a:endParaRPr lang="en-US" sz="825" dirty="0"/>
          </a:p>
        </p:txBody>
      </p:sp>
      <p:sp>
        <p:nvSpPr>
          <p:cNvPr id="66" name="Shape 56"/>
          <p:cNvSpPr/>
          <p:nvPr/>
        </p:nvSpPr>
        <p:spPr>
          <a:xfrm>
            <a:off x="1524000" y="7964239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7" name="Text 57"/>
          <p:cNvSpPr/>
          <p:nvPr/>
        </p:nvSpPr>
        <p:spPr>
          <a:xfrm>
            <a:off x="1628775" y="8069014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평일 저녁</a:t>
            </a:r>
            <a:endParaRPr lang="en-US" sz="975" dirty="0"/>
          </a:p>
        </p:txBody>
      </p:sp>
      <p:sp>
        <p:nvSpPr>
          <p:cNvPr id="68" name="Shape 58"/>
          <p:cNvSpPr/>
          <p:nvPr/>
        </p:nvSpPr>
        <p:spPr>
          <a:xfrm>
            <a:off x="2343448" y="7964239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9" name="Text 59"/>
          <p:cNvSpPr/>
          <p:nvPr/>
        </p:nvSpPr>
        <p:spPr>
          <a:xfrm>
            <a:off x="2448223" y="8069014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토요일 오전</a:t>
            </a:r>
            <a:endParaRPr lang="en-US" sz="975" dirty="0"/>
          </a:p>
        </p:txBody>
      </p:sp>
      <p:sp>
        <p:nvSpPr>
          <p:cNvPr id="70" name="Shape 60"/>
          <p:cNvSpPr/>
          <p:nvPr/>
        </p:nvSpPr>
        <p:spPr>
          <a:xfrm>
            <a:off x="3269903" y="7964239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71" name="Text 61"/>
          <p:cNvSpPr/>
          <p:nvPr/>
        </p:nvSpPr>
        <p:spPr>
          <a:xfrm>
            <a:off x="3374678" y="8069014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토요일 오후</a:t>
            </a:r>
            <a:endParaRPr lang="en-US" sz="975" dirty="0"/>
          </a:p>
        </p:txBody>
      </p:sp>
      <p:sp>
        <p:nvSpPr>
          <p:cNvPr id="72" name="Shape 62"/>
          <p:cNvSpPr/>
          <p:nvPr/>
        </p:nvSpPr>
        <p:spPr>
          <a:xfrm>
            <a:off x="4196358" y="7964239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3" name="Text 63"/>
          <p:cNvSpPr/>
          <p:nvPr/>
        </p:nvSpPr>
        <p:spPr>
          <a:xfrm>
            <a:off x="4301133" y="8069014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토요일 저녁</a:t>
            </a:r>
            <a:endParaRPr lang="en-US" sz="975" dirty="0"/>
          </a:p>
        </p:txBody>
      </p:sp>
      <p:sp>
        <p:nvSpPr>
          <p:cNvPr id="74" name="Shape 64"/>
          <p:cNvSpPr/>
          <p:nvPr/>
        </p:nvSpPr>
        <p:spPr>
          <a:xfrm>
            <a:off x="1524000" y="8392864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5" name="Text 65"/>
          <p:cNvSpPr/>
          <p:nvPr/>
        </p:nvSpPr>
        <p:spPr>
          <a:xfrm>
            <a:off x="1628775" y="8497639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일요일 오전</a:t>
            </a:r>
            <a:endParaRPr lang="en-US" sz="975" dirty="0"/>
          </a:p>
        </p:txBody>
      </p:sp>
      <p:sp>
        <p:nvSpPr>
          <p:cNvPr id="76" name="Shape 66"/>
          <p:cNvSpPr/>
          <p:nvPr/>
        </p:nvSpPr>
        <p:spPr>
          <a:xfrm>
            <a:off x="2450455" y="8392864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77" name="Text 67"/>
          <p:cNvSpPr/>
          <p:nvPr/>
        </p:nvSpPr>
        <p:spPr>
          <a:xfrm>
            <a:off x="2555230" y="8497639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일요일 오후</a:t>
            </a:r>
            <a:endParaRPr lang="en-US" sz="975" dirty="0"/>
          </a:p>
        </p:txBody>
      </p:sp>
      <p:sp>
        <p:nvSpPr>
          <p:cNvPr id="78" name="Shape 68"/>
          <p:cNvSpPr/>
          <p:nvPr/>
        </p:nvSpPr>
        <p:spPr>
          <a:xfrm>
            <a:off x="1524000" y="9782175"/>
            <a:ext cx="419100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79" name="Text 69"/>
          <p:cNvSpPr/>
          <p:nvPr/>
        </p:nvSpPr>
        <p:spPr>
          <a:xfrm>
            <a:off x="1651635" y="9782175"/>
            <a:ext cx="393573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1275" dirty="0"/>
          </a:p>
        </p:txBody>
      </p:sp>
      <p:sp>
        <p:nvSpPr>
          <p:cNvPr id="80" name="Shape 70"/>
          <p:cNvSpPr/>
          <p:nvPr/>
        </p:nvSpPr>
        <p:spPr>
          <a:xfrm>
            <a:off x="2981325" y="10458450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81" name="Text 71"/>
          <p:cNvSpPr/>
          <p:nvPr/>
        </p:nvSpPr>
        <p:spPr>
          <a:xfrm>
            <a:off x="7048500" y="3718173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직업 · 리듬</a:t>
            </a:r>
            <a:endParaRPr lang="en-US" sz="1200" dirty="0"/>
          </a:p>
        </p:txBody>
      </p:sp>
      <p:sp>
        <p:nvSpPr>
          <p:cNvPr id="82" name="Text 72"/>
          <p:cNvSpPr/>
          <p:nvPr/>
        </p:nvSpPr>
        <p:spPr>
          <a:xfrm>
            <a:off x="7048500" y="4118223"/>
            <a:ext cx="1059561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"나의 일상 리듬을 알려주세요."</a:t>
            </a:r>
            <a:endParaRPr lang="en-US" sz="5700" dirty="0"/>
          </a:p>
        </p:txBody>
      </p:sp>
      <p:sp>
        <p:nvSpPr>
          <p:cNvPr id="83" name="Text 73"/>
          <p:cNvSpPr/>
          <p:nvPr/>
        </p:nvSpPr>
        <p:spPr>
          <a:xfrm>
            <a:off x="7048500" y="5920234"/>
            <a:ext cx="706374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직업군 · 근무 패턴 · 가능 시간대 — 회차 추천과 인원 구성을 위한 핵심 시그널.</a:t>
            </a:r>
            <a:endParaRPr lang="en-US" sz="1650" dirty="0"/>
          </a:p>
        </p:txBody>
      </p:sp>
      <p:sp>
        <p:nvSpPr>
          <p:cNvPr id="84" name="Text 74"/>
          <p:cNvSpPr/>
          <p:nvPr/>
        </p:nvSpPr>
        <p:spPr>
          <a:xfrm>
            <a:off x="7124700" y="6549777"/>
            <a:ext cx="68770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직업군 칩 + 직장/파트 짧은 텍스트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근무 패턴 4 카드 선택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가능 시간대 다중 칩 (평일 저녁 · 토요일 오후 등)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857250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990600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62025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62025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1095375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119188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1119188"/>
            <a:ext cx="228600" cy="1047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85900" y="14382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1533525"/>
            <a:ext cx="152400" cy="152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943100" y="1581150"/>
            <a:ext cx="3532287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2" name="Shape 7"/>
          <p:cNvSpPr/>
          <p:nvPr/>
        </p:nvSpPr>
        <p:spPr>
          <a:xfrm>
            <a:off x="1943100" y="1581150"/>
            <a:ext cx="1518791" cy="5715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3" name="Text 8"/>
          <p:cNvSpPr/>
          <p:nvPr/>
        </p:nvSpPr>
        <p:spPr>
          <a:xfrm>
            <a:off x="5589687" y="1547813"/>
            <a:ext cx="23961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3/7</a:t>
            </a:r>
            <a:endParaRPr lang="en-US" sz="825" dirty="0"/>
          </a:p>
        </p:txBody>
      </p:sp>
      <p:sp>
        <p:nvSpPr>
          <p:cNvPr id="14" name="Text 9"/>
          <p:cNvSpPr/>
          <p:nvPr/>
        </p:nvSpPr>
        <p:spPr>
          <a:xfrm>
            <a:off x="1562100" y="1952625"/>
            <a:ext cx="423824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kern="0" spc="-10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내가 편안해지는 대화 방식을 골라주세요.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1562100" y="2647950"/>
            <a:ext cx="4238244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정답은 없어요. 자연스러운 케미를 찾기 위한 질문이에요.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1524000" y="3220789"/>
            <a:ext cx="4000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MBTI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022800" y="3249364"/>
            <a:ext cx="7684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모를 땐 건너뛰기</a:t>
            </a:r>
            <a:endParaRPr lang="en-US" sz="825" dirty="0"/>
          </a:p>
        </p:txBody>
      </p:sp>
      <p:sp>
        <p:nvSpPr>
          <p:cNvPr id="18" name="Shape 13"/>
          <p:cNvSpPr/>
          <p:nvPr/>
        </p:nvSpPr>
        <p:spPr>
          <a:xfrm>
            <a:off x="1524000" y="34684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495425" y="35827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INTJ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2586038" y="34684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557463" y="35827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INTP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3648075" y="34684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619500" y="35827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ENTJ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710113" y="34684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681538" y="35827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ENTP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524000" y="38875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495425" y="40018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INFJ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2586038" y="38875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557463" y="40018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INFP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3648075" y="38875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619500" y="40018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ENFJ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710113" y="38875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681538" y="40018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ENFP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1524000" y="43066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495425" y="44209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ISTJ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586038" y="43066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557463" y="44209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ISFJ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648075" y="43066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619500" y="44209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ESTJ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4710113" y="43066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681538" y="44209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ESFJ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1524000" y="47257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1495425" y="48400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ISTP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2586038" y="47257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57463" y="48400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ISFP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3648075" y="47257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3619500" y="48400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ESTP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4710113" y="4725739"/>
            <a:ext cx="1004887" cy="36195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4681538" y="4840039"/>
            <a:ext cx="10620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kern="0" spc="27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ESFP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1461135" y="5163889"/>
            <a:ext cx="43167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u="sng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 모르겠어요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1524000" y="5544889"/>
            <a:ext cx="683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스타일</a:t>
            </a:r>
            <a:endParaRPr lang="en-US" sz="1050" dirty="0"/>
          </a:p>
        </p:txBody>
      </p:sp>
      <p:sp>
        <p:nvSpPr>
          <p:cNvPr id="52" name="Text 47"/>
          <p:cNvSpPr/>
          <p:nvPr/>
        </p:nvSpPr>
        <p:spPr>
          <a:xfrm>
            <a:off x="5203924" y="5573464"/>
            <a:ext cx="58727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개 선택</a:t>
            </a:r>
            <a:endParaRPr lang="en-US" sz="825" dirty="0"/>
          </a:p>
        </p:txBody>
      </p:sp>
      <p:sp>
        <p:nvSpPr>
          <p:cNvPr id="53" name="Shape 48"/>
          <p:cNvSpPr/>
          <p:nvPr/>
        </p:nvSpPr>
        <p:spPr>
          <a:xfrm>
            <a:off x="1524000" y="5792539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1628775" y="5897314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차분한 대화</a:t>
            </a:r>
            <a:endParaRPr lang="en-US" sz="975" dirty="0"/>
          </a:p>
        </p:txBody>
      </p:sp>
      <p:sp>
        <p:nvSpPr>
          <p:cNvPr id="55" name="Shape 50"/>
          <p:cNvSpPr/>
          <p:nvPr/>
        </p:nvSpPr>
        <p:spPr>
          <a:xfrm>
            <a:off x="2450455" y="5792539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2555230" y="5897314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유쾌한 농담</a:t>
            </a:r>
            <a:endParaRPr lang="en-US" sz="975" dirty="0"/>
          </a:p>
        </p:txBody>
      </p:sp>
      <p:sp>
        <p:nvSpPr>
          <p:cNvPr id="57" name="Shape 52"/>
          <p:cNvSpPr/>
          <p:nvPr/>
        </p:nvSpPr>
        <p:spPr>
          <a:xfrm>
            <a:off x="3376910" y="5792539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3481685" y="5897314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깊은 이야기</a:t>
            </a:r>
            <a:endParaRPr lang="en-US" sz="975" dirty="0"/>
          </a:p>
        </p:txBody>
      </p:sp>
      <p:sp>
        <p:nvSpPr>
          <p:cNvPr id="59" name="Shape 54"/>
          <p:cNvSpPr/>
          <p:nvPr/>
        </p:nvSpPr>
        <p:spPr>
          <a:xfrm>
            <a:off x="4303365" y="5792539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4408140" y="5897314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취향 공유</a:t>
            </a:r>
            <a:endParaRPr lang="en-US" sz="975" dirty="0"/>
          </a:p>
        </p:txBody>
      </p:sp>
      <p:sp>
        <p:nvSpPr>
          <p:cNvPr id="61" name="Shape 56"/>
          <p:cNvSpPr/>
          <p:nvPr/>
        </p:nvSpPr>
        <p:spPr>
          <a:xfrm>
            <a:off x="1524000" y="6221164"/>
            <a:ext cx="109373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1628775" y="6325939"/>
            <a:ext cx="8841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질문을 잘하는 편</a:t>
            </a:r>
            <a:endParaRPr lang="en-US" sz="975" dirty="0"/>
          </a:p>
        </p:txBody>
      </p:sp>
      <p:sp>
        <p:nvSpPr>
          <p:cNvPr id="63" name="Shape 58"/>
          <p:cNvSpPr/>
          <p:nvPr/>
        </p:nvSpPr>
        <p:spPr>
          <a:xfrm>
            <a:off x="2693938" y="6221164"/>
            <a:ext cx="109373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2798713" y="6325939"/>
            <a:ext cx="8841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리액션이 좋은 편</a:t>
            </a:r>
            <a:endParaRPr lang="en-US" sz="975" dirty="0"/>
          </a:p>
        </p:txBody>
      </p:sp>
      <p:sp>
        <p:nvSpPr>
          <p:cNvPr id="65" name="Shape 60"/>
          <p:cNvSpPr/>
          <p:nvPr/>
        </p:nvSpPr>
        <p:spPr>
          <a:xfrm>
            <a:off x="3863876" y="6221164"/>
            <a:ext cx="1200745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3968651" y="6325939"/>
            <a:ext cx="9911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천천히 친해지는 편</a:t>
            </a:r>
            <a:endParaRPr lang="en-US" sz="975" dirty="0"/>
          </a:p>
        </p:txBody>
      </p:sp>
      <p:sp>
        <p:nvSpPr>
          <p:cNvPr id="67" name="Text 62"/>
          <p:cNvSpPr/>
          <p:nvPr/>
        </p:nvSpPr>
        <p:spPr>
          <a:xfrm>
            <a:off x="1524000" y="6783139"/>
            <a:ext cx="116219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처음 만났을 때 나는?</a:t>
            </a:r>
            <a:endParaRPr lang="en-US" sz="1050" dirty="0"/>
          </a:p>
        </p:txBody>
      </p:sp>
      <p:sp>
        <p:nvSpPr>
          <p:cNvPr id="68" name="Shape 63"/>
          <p:cNvSpPr/>
          <p:nvPr/>
        </p:nvSpPr>
        <p:spPr>
          <a:xfrm>
            <a:off x="1524000" y="7030789"/>
            <a:ext cx="419100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685925" y="719271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7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0" y="7278439"/>
            <a:ext cx="171450" cy="171450"/>
          </a:xfrm>
          <a:prstGeom prst="rect">
            <a:avLst/>
          </a:prstGeom>
        </p:spPr>
      </p:pic>
      <p:sp>
        <p:nvSpPr>
          <p:cNvPr id="71" name="Text 65"/>
          <p:cNvSpPr/>
          <p:nvPr/>
        </p:nvSpPr>
        <p:spPr>
          <a:xfrm>
            <a:off x="2143125" y="7287964"/>
            <a:ext cx="35122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 말을 거는 편</a:t>
            </a:r>
            <a:endParaRPr lang="en-US" sz="1050" dirty="0"/>
          </a:p>
        </p:txBody>
      </p:sp>
      <p:sp>
        <p:nvSpPr>
          <p:cNvPr id="72" name="Shape 66"/>
          <p:cNvSpPr/>
          <p:nvPr/>
        </p:nvSpPr>
        <p:spPr>
          <a:xfrm>
            <a:off x="1524000" y="7792789"/>
            <a:ext cx="4191000" cy="685800"/>
          </a:xfrm>
          <a:prstGeom prst="roundRect">
            <a:avLst>
              <a:gd name="adj" fmla="val 25000"/>
            </a:avLst>
          </a:prstGeom>
          <a:solidFill>
            <a:srgbClr val="7A1F2B"/>
          </a:solidFill>
          <a:ln w="19050">
            <a:solidFill>
              <a:srgbClr val="F5DFA8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1695450" y="796423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5DFA8">
              <a:alpha val="18000"/>
            </a:srgbClr>
          </a:solidFill>
          <a:ln/>
        </p:spPr>
      </p:sp>
      <p:pic>
        <p:nvPicPr>
          <p:cNvPr id="7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1175" y="8049964"/>
            <a:ext cx="171450" cy="171450"/>
          </a:xfrm>
          <a:prstGeom prst="rect">
            <a:avLst/>
          </a:prstGeom>
        </p:spPr>
      </p:pic>
      <p:sp>
        <p:nvSpPr>
          <p:cNvPr id="75" name="Text 68"/>
          <p:cNvSpPr/>
          <p:nvPr/>
        </p:nvSpPr>
        <p:spPr>
          <a:xfrm>
            <a:off x="2152650" y="8059489"/>
            <a:ext cx="31983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상대가 편해지면 말이 많아지는 편</a:t>
            </a:r>
            <a:endParaRPr lang="en-US" sz="1050" dirty="0"/>
          </a:p>
        </p:txBody>
      </p:sp>
      <p:pic>
        <p:nvPicPr>
          <p:cNvPr id="7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2100" y="8049964"/>
            <a:ext cx="171450" cy="171450"/>
          </a:xfrm>
          <a:prstGeom prst="rect">
            <a:avLst/>
          </a:prstGeom>
        </p:spPr>
      </p:pic>
      <p:sp>
        <p:nvSpPr>
          <p:cNvPr id="77" name="Shape 69"/>
          <p:cNvSpPr/>
          <p:nvPr/>
        </p:nvSpPr>
        <p:spPr>
          <a:xfrm>
            <a:off x="1524000" y="8573839"/>
            <a:ext cx="419100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8" name="Shape 70"/>
          <p:cNvSpPr/>
          <p:nvPr/>
        </p:nvSpPr>
        <p:spPr>
          <a:xfrm>
            <a:off x="1685925" y="873576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7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0" y="8821489"/>
            <a:ext cx="171450" cy="171450"/>
          </a:xfrm>
          <a:prstGeom prst="rect">
            <a:avLst/>
          </a:prstGeom>
        </p:spPr>
      </p:pic>
      <p:sp>
        <p:nvSpPr>
          <p:cNvPr id="80" name="Text 71"/>
          <p:cNvSpPr/>
          <p:nvPr/>
        </p:nvSpPr>
        <p:spPr>
          <a:xfrm>
            <a:off x="2143125" y="8831014"/>
            <a:ext cx="35122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분위기를 살피는 편</a:t>
            </a:r>
            <a:endParaRPr lang="en-US" sz="1050" dirty="0"/>
          </a:p>
        </p:txBody>
      </p:sp>
      <p:sp>
        <p:nvSpPr>
          <p:cNvPr id="81" name="Shape 72"/>
          <p:cNvSpPr/>
          <p:nvPr/>
        </p:nvSpPr>
        <p:spPr>
          <a:xfrm>
            <a:off x="1524000" y="9335839"/>
            <a:ext cx="419100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2" name="Shape 73"/>
          <p:cNvSpPr/>
          <p:nvPr/>
        </p:nvSpPr>
        <p:spPr>
          <a:xfrm>
            <a:off x="1685925" y="949776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8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0" y="9583489"/>
            <a:ext cx="171450" cy="171450"/>
          </a:xfrm>
          <a:prstGeom prst="rect">
            <a:avLst/>
          </a:prstGeom>
        </p:spPr>
      </p:pic>
      <p:sp>
        <p:nvSpPr>
          <p:cNvPr id="84" name="Text 74"/>
          <p:cNvSpPr/>
          <p:nvPr/>
        </p:nvSpPr>
        <p:spPr>
          <a:xfrm>
            <a:off x="2143125" y="9593014"/>
            <a:ext cx="35122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자연스럽게 맞춰가는 편</a:t>
            </a:r>
            <a:endParaRPr lang="en-US" sz="1050" dirty="0"/>
          </a:p>
        </p:txBody>
      </p:sp>
      <p:sp>
        <p:nvSpPr>
          <p:cNvPr id="85" name="Text 75"/>
          <p:cNvSpPr/>
          <p:nvPr/>
        </p:nvSpPr>
        <p:spPr>
          <a:xfrm>
            <a:off x="1524000" y="10212139"/>
            <a:ext cx="10596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관계에서 중요한 것</a:t>
            </a:r>
            <a:endParaRPr lang="en-US" sz="1050" dirty="0"/>
          </a:p>
        </p:txBody>
      </p:sp>
      <p:sp>
        <p:nvSpPr>
          <p:cNvPr id="86" name="Text 76"/>
          <p:cNvSpPr/>
          <p:nvPr/>
        </p:nvSpPr>
        <p:spPr>
          <a:xfrm>
            <a:off x="5355878" y="10240714"/>
            <a:ext cx="43532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2개</a:t>
            </a:r>
            <a:endParaRPr lang="en-US" sz="825" dirty="0"/>
          </a:p>
        </p:txBody>
      </p:sp>
      <p:sp>
        <p:nvSpPr>
          <p:cNvPr id="87" name="Shape 77"/>
          <p:cNvSpPr/>
          <p:nvPr/>
        </p:nvSpPr>
        <p:spPr>
          <a:xfrm>
            <a:off x="1524000" y="1045978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88" name="Text 78"/>
          <p:cNvSpPr/>
          <p:nvPr/>
        </p:nvSpPr>
        <p:spPr>
          <a:xfrm>
            <a:off x="1628775" y="1056456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안정감</a:t>
            </a:r>
            <a:endParaRPr lang="en-US" sz="975" dirty="0"/>
          </a:p>
        </p:txBody>
      </p:sp>
      <p:sp>
        <p:nvSpPr>
          <p:cNvPr id="89" name="Shape 79"/>
          <p:cNvSpPr/>
          <p:nvPr/>
        </p:nvSpPr>
        <p:spPr>
          <a:xfrm>
            <a:off x="2207121" y="104597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0" name="Text 80"/>
          <p:cNvSpPr/>
          <p:nvPr/>
        </p:nvSpPr>
        <p:spPr>
          <a:xfrm>
            <a:off x="2311896" y="105645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유머</a:t>
            </a:r>
            <a:endParaRPr lang="en-US" sz="975" dirty="0"/>
          </a:p>
        </p:txBody>
      </p:sp>
      <p:sp>
        <p:nvSpPr>
          <p:cNvPr id="91" name="Shape 81"/>
          <p:cNvSpPr/>
          <p:nvPr/>
        </p:nvSpPr>
        <p:spPr>
          <a:xfrm>
            <a:off x="2783235" y="104597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2" name="Text 82"/>
          <p:cNvSpPr/>
          <p:nvPr/>
        </p:nvSpPr>
        <p:spPr>
          <a:xfrm>
            <a:off x="2888010" y="105645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배려</a:t>
            </a:r>
            <a:endParaRPr lang="en-US" sz="975" dirty="0"/>
          </a:p>
        </p:txBody>
      </p:sp>
      <p:sp>
        <p:nvSpPr>
          <p:cNvPr id="93" name="Shape 83"/>
          <p:cNvSpPr/>
          <p:nvPr/>
        </p:nvSpPr>
        <p:spPr>
          <a:xfrm>
            <a:off x="3359348" y="104597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94" name="Text 84"/>
          <p:cNvSpPr/>
          <p:nvPr/>
        </p:nvSpPr>
        <p:spPr>
          <a:xfrm>
            <a:off x="3464123" y="105645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</a:t>
            </a:r>
            <a:endParaRPr lang="en-US" sz="975" dirty="0"/>
          </a:p>
        </p:txBody>
      </p:sp>
      <p:sp>
        <p:nvSpPr>
          <p:cNvPr id="95" name="Shape 85"/>
          <p:cNvSpPr/>
          <p:nvPr/>
        </p:nvSpPr>
        <p:spPr>
          <a:xfrm>
            <a:off x="3935462" y="104597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6" name="Text 86"/>
          <p:cNvSpPr/>
          <p:nvPr/>
        </p:nvSpPr>
        <p:spPr>
          <a:xfrm>
            <a:off x="4040237" y="105645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</a:t>
            </a:r>
            <a:endParaRPr lang="en-US" sz="975" dirty="0"/>
          </a:p>
        </p:txBody>
      </p:sp>
      <p:sp>
        <p:nvSpPr>
          <p:cNvPr id="97" name="Shape 87"/>
          <p:cNvSpPr/>
          <p:nvPr/>
        </p:nvSpPr>
        <p:spPr>
          <a:xfrm>
            <a:off x="4511576" y="10459789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8" name="Text 88"/>
          <p:cNvSpPr/>
          <p:nvPr/>
        </p:nvSpPr>
        <p:spPr>
          <a:xfrm>
            <a:off x="4616351" y="10564564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취향 공유</a:t>
            </a:r>
            <a:endParaRPr lang="en-US" sz="975" dirty="0"/>
          </a:p>
        </p:txBody>
      </p:sp>
      <p:sp>
        <p:nvSpPr>
          <p:cNvPr id="99" name="Shape 89"/>
          <p:cNvSpPr/>
          <p:nvPr/>
        </p:nvSpPr>
        <p:spPr>
          <a:xfrm>
            <a:off x="1524000" y="1088841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00" name="Text 90"/>
          <p:cNvSpPr/>
          <p:nvPr/>
        </p:nvSpPr>
        <p:spPr>
          <a:xfrm>
            <a:off x="1628775" y="1099318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</a:t>
            </a:r>
            <a:endParaRPr lang="en-US" sz="975" dirty="0"/>
          </a:p>
        </p:txBody>
      </p:sp>
      <p:sp>
        <p:nvSpPr>
          <p:cNvPr id="101" name="Shape 91"/>
          <p:cNvSpPr/>
          <p:nvPr/>
        </p:nvSpPr>
        <p:spPr>
          <a:xfrm>
            <a:off x="2100114" y="1088841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02" name="Text 92"/>
          <p:cNvSpPr/>
          <p:nvPr/>
        </p:nvSpPr>
        <p:spPr>
          <a:xfrm>
            <a:off x="2204889" y="1099318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설렘</a:t>
            </a:r>
            <a:endParaRPr lang="en-US" sz="975" dirty="0"/>
          </a:p>
        </p:txBody>
      </p:sp>
      <p:sp>
        <p:nvSpPr>
          <p:cNvPr id="103" name="Shape 93"/>
          <p:cNvSpPr/>
          <p:nvPr/>
        </p:nvSpPr>
        <p:spPr>
          <a:xfrm>
            <a:off x="1524000" y="9782175"/>
            <a:ext cx="419100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104" name="Text 94"/>
          <p:cNvSpPr/>
          <p:nvPr/>
        </p:nvSpPr>
        <p:spPr>
          <a:xfrm>
            <a:off x="1651635" y="9782175"/>
            <a:ext cx="393573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1275" dirty="0"/>
          </a:p>
        </p:txBody>
      </p:sp>
      <p:sp>
        <p:nvSpPr>
          <p:cNvPr id="105" name="Shape 95"/>
          <p:cNvSpPr/>
          <p:nvPr/>
        </p:nvSpPr>
        <p:spPr>
          <a:xfrm>
            <a:off x="2981325" y="10458450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106" name="Text 96"/>
          <p:cNvSpPr/>
          <p:nvPr/>
        </p:nvSpPr>
        <p:spPr>
          <a:xfrm>
            <a:off x="7048500" y="3718173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성향</a:t>
            </a:r>
            <a:endParaRPr lang="en-US" sz="1200" dirty="0"/>
          </a:p>
        </p:txBody>
      </p:sp>
      <p:sp>
        <p:nvSpPr>
          <p:cNvPr id="107" name="Text 97"/>
          <p:cNvSpPr/>
          <p:nvPr/>
        </p:nvSpPr>
        <p:spPr>
          <a:xfrm>
            <a:off x="7048500" y="4118223"/>
            <a:ext cx="1059561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"정답은 없어요. 나와 가까운 쪽을 골라주세요."</a:t>
            </a:r>
            <a:endParaRPr lang="en-US" sz="5700" dirty="0"/>
          </a:p>
        </p:txBody>
      </p:sp>
      <p:sp>
        <p:nvSpPr>
          <p:cNvPr id="108" name="Text 98"/>
          <p:cNvSpPr/>
          <p:nvPr/>
        </p:nvSpPr>
        <p:spPr>
          <a:xfrm>
            <a:off x="7048500" y="5920234"/>
            <a:ext cx="706374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MBTI · 대화 스타일 · 첫인상 · 가치 — 객관 점수와 캐릭터 매칭의 기반.</a:t>
            </a:r>
            <a:endParaRPr lang="en-US" sz="1650" dirty="0"/>
          </a:p>
        </p:txBody>
      </p:sp>
      <p:sp>
        <p:nvSpPr>
          <p:cNvPr id="109" name="Text 99"/>
          <p:cNvSpPr/>
          <p:nvPr/>
        </p:nvSpPr>
        <p:spPr>
          <a:xfrm>
            <a:off x="7124700" y="6549777"/>
            <a:ext cx="68770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MBTI 16개 카드 + "잘 모르겠어요" 옵션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스타일 칩 다중 / 첫인상 카드 단일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 가치 최대 2개 — 너무 많이 고르지 않도록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857250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990600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62025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62025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1095375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119188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1119188"/>
            <a:ext cx="228600" cy="1047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85900" y="14382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1533525"/>
            <a:ext cx="152400" cy="152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943100" y="1581150"/>
            <a:ext cx="3530798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2" name="Shape 7"/>
          <p:cNvSpPr/>
          <p:nvPr/>
        </p:nvSpPr>
        <p:spPr>
          <a:xfrm>
            <a:off x="1943100" y="1581150"/>
            <a:ext cx="2012454" cy="5715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3" name="Text 8"/>
          <p:cNvSpPr/>
          <p:nvPr/>
        </p:nvSpPr>
        <p:spPr>
          <a:xfrm>
            <a:off x="5588198" y="1547813"/>
            <a:ext cx="24110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4/7</a:t>
            </a:r>
            <a:endParaRPr lang="en-US" sz="825" dirty="0"/>
          </a:p>
        </p:txBody>
      </p:sp>
      <p:sp>
        <p:nvSpPr>
          <p:cNvPr id="14" name="Text 9"/>
          <p:cNvSpPr/>
          <p:nvPr/>
        </p:nvSpPr>
        <p:spPr>
          <a:xfrm>
            <a:off x="1562100" y="1952625"/>
            <a:ext cx="423824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kern="0" spc="-10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대화가 자연스럽게 시작될 취향을 알려주세요.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1562100" y="2647950"/>
            <a:ext cx="4238244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대화와 케미 분석에 활용돼요.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1524000" y="3220789"/>
            <a:ext cx="56792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인생 영화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504706" y="3249364"/>
            <a:ext cx="28649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</a:t>
            </a:r>
            <a:endParaRPr lang="en-US" sz="825" dirty="0"/>
          </a:p>
        </p:txBody>
      </p:sp>
      <p:sp>
        <p:nvSpPr>
          <p:cNvPr id="18" name="Shape 13"/>
          <p:cNvSpPr/>
          <p:nvPr/>
        </p:nvSpPr>
        <p:spPr>
          <a:xfrm>
            <a:off x="1524000" y="3468439"/>
            <a:ext cx="419100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524000" y="4144714"/>
            <a:ext cx="3067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취미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203924" y="4173289"/>
            <a:ext cx="58727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개 선택</a:t>
            </a:r>
            <a:endParaRPr lang="en-US" sz="825" dirty="0"/>
          </a:p>
        </p:txBody>
      </p:sp>
      <p:sp>
        <p:nvSpPr>
          <p:cNvPr id="21" name="Shape 16"/>
          <p:cNvSpPr/>
          <p:nvPr/>
        </p:nvSpPr>
        <p:spPr>
          <a:xfrm>
            <a:off x="1524000" y="439236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628775" y="449713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영화</a:t>
            </a:r>
            <a:endParaRPr lang="en-US" sz="975" dirty="0"/>
          </a:p>
        </p:txBody>
      </p:sp>
      <p:sp>
        <p:nvSpPr>
          <p:cNvPr id="23" name="Shape 18"/>
          <p:cNvSpPr/>
          <p:nvPr/>
        </p:nvSpPr>
        <p:spPr>
          <a:xfrm>
            <a:off x="2100114" y="439236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204889" y="449713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전시</a:t>
            </a:r>
            <a:endParaRPr lang="en-US" sz="975" dirty="0"/>
          </a:p>
        </p:txBody>
      </p:sp>
      <p:sp>
        <p:nvSpPr>
          <p:cNvPr id="25" name="Shape 20"/>
          <p:cNvSpPr/>
          <p:nvPr/>
        </p:nvSpPr>
        <p:spPr>
          <a:xfrm>
            <a:off x="2676227" y="439236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781002" y="449713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</a:t>
            </a:r>
            <a:endParaRPr lang="en-US" sz="975" dirty="0"/>
          </a:p>
        </p:txBody>
      </p:sp>
      <p:sp>
        <p:nvSpPr>
          <p:cNvPr id="27" name="Shape 22"/>
          <p:cNvSpPr/>
          <p:nvPr/>
        </p:nvSpPr>
        <p:spPr>
          <a:xfrm>
            <a:off x="3252341" y="439236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357116" y="449713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맛집</a:t>
            </a:r>
            <a:endParaRPr lang="en-US" sz="975" dirty="0"/>
          </a:p>
        </p:txBody>
      </p:sp>
      <p:sp>
        <p:nvSpPr>
          <p:cNvPr id="29" name="Shape 24"/>
          <p:cNvSpPr/>
          <p:nvPr/>
        </p:nvSpPr>
        <p:spPr>
          <a:xfrm>
            <a:off x="3828455" y="439236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933230" y="449713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운동</a:t>
            </a:r>
            <a:endParaRPr lang="en-US" sz="975" dirty="0"/>
          </a:p>
        </p:txBody>
      </p:sp>
      <p:sp>
        <p:nvSpPr>
          <p:cNvPr id="31" name="Shape 26"/>
          <p:cNvSpPr/>
          <p:nvPr/>
        </p:nvSpPr>
        <p:spPr>
          <a:xfrm>
            <a:off x="4404568" y="439236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509343" y="449713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독서</a:t>
            </a:r>
            <a:endParaRPr lang="en-US" sz="975" dirty="0"/>
          </a:p>
        </p:txBody>
      </p:sp>
      <p:sp>
        <p:nvSpPr>
          <p:cNvPr id="33" name="Shape 28"/>
          <p:cNvSpPr/>
          <p:nvPr/>
        </p:nvSpPr>
        <p:spPr>
          <a:xfrm>
            <a:off x="4980682" y="439236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085457" y="449713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음악</a:t>
            </a:r>
            <a:endParaRPr lang="en-US" sz="975" dirty="0"/>
          </a:p>
        </p:txBody>
      </p:sp>
      <p:sp>
        <p:nvSpPr>
          <p:cNvPr id="35" name="Shape 30"/>
          <p:cNvSpPr/>
          <p:nvPr/>
        </p:nvSpPr>
        <p:spPr>
          <a:xfrm>
            <a:off x="1524000" y="48209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1628775" y="49257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카페</a:t>
            </a:r>
            <a:endParaRPr lang="en-US" sz="975" dirty="0"/>
          </a:p>
        </p:txBody>
      </p:sp>
      <p:sp>
        <p:nvSpPr>
          <p:cNvPr id="37" name="Shape 32"/>
          <p:cNvSpPr/>
          <p:nvPr/>
        </p:nvSpPr>
        <p:spPr>
          <a:xfrm>
            <a:off x="2100114" y="48209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2204889" y="49257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산책</a:t>
            </a:r>
            <a:endParaRPr lang="en-US" sz="975" dirty="0"/>
          </a:p>
        </p:txBody>
      </p:sp>
      <p:sp>
        <p:nvSpPr>
          <p:cNvPr id="39" name="Shape 34"/>
          <p:cNvSpPr/>
          <p:nvPr/>
        </p:nvSpPr>
        <p:spPr>
          <a:xfrm>
            <a:off x="2676227" y="48209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2781002" y="49257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요리</a:t>
            </a:r>
            <a:endParaRPr lang="en-US" sz="975" dirty="0"/>
          </a:p>
        </p:txBody>
      </p:sp>
      <p:sp>
        <p:nvSpPr>
          <p:cNvPr id="41" name="Shape 36"/>
          <p:cNvSpPr/>
          <p:nvPr/>
        </p:nvSpPr>
        <p:spPr>
          <a:xfrm>
            <a:off x="3252341" y="48209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357116" y="49257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</a:t>
            </a:r>
            <a:endParaRPr lang="en-US" sz="975" dirty="0"/>
          </a:p>
        </p:txBody>
      </p:sp>
      <p:sp>
        <p:nvSpPr>
          <p:cNvPr id="43" name="Shape 38"/>
          <p:cNvSpPr/>
          <p:nvPr/>
        </p:nvSpPr>
        <p:spPr>
          <a:xfrm>
            <a:off x="3828455" y="48209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3933230" y="49257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</a:t>
            </a:r>
            <a:endParaRPr lang="en-US" sz="975" dirty="0"/>
          </a:p>
        </p:txBody>
      </p:sp>
      <p:sp>
        <p:nvSpPr>
          <p:cNvPr id="45" name="Shape 40"/>
          <p:cNvSpPr/>
          <p:nvPr/>
        </p:nvSpPr>
        <p:spPr>
          <a:xfrm>
            <a:off x="4404568" y="4820989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509343" y="4925764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반려동물</a:t>
            </a:r>
            <a:endParaRPr lang="en-US" sz="975" dirty="0"/>
          </a:p>
        </p:txBody>
      </p:sp>
      <p:sp>
        <p:nvSpPr>
          <p:cNvPr id="47" name="Shape 42"/>
          <p:cNvSpPr/>
          <p:nvPr/>
        </p:nvSpPr>
        <p:spPr>
          <a:xfrm>
            <a:off x="1524000" y="5249614"/>
            <a:ext cx="91469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6875" y="5368677"/>
            <a:ext cx="114300" cy="11430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1800225" y="5354389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입력</a:t>
            </a:r>
            <a:endParaRPr lang="en-US" sz="975" dirty="0"/>
          </a:p>
        </p:txBody>
      </p:sp>
      <p:sp>
        <p:nvSpPr>
          <p:cNvPr id="50" name="Text 44"/>
          <p:cNvSpPr/>
          <p:nvPr/>
        </p:nvSpPr>
        <p:spPr>
          <a:xfrm>
            <a:off x="1524000" y="5811589"/>
            <a:ext cx="7984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좋아하는 음식</a:t>
            </a:r>
            <a:endParaRPr lang="en-US" sz="1050" dirty="0"/>
          </a:p>
        </p:txBody>
      </p:sp>
      <p:sp>
        <p:nvSpPr>
          <p:cNvPr id="51" name="Shape 45"/>
          <p:cNvSpPr/>
          <p:nvPr/>
        </p:nvSpPr>
        <p:spPr>
          <a:xfrm>
            <a:off x="1524000" y="605923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1628775" y="616401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한식</a:t>
            </a:r>
            <a:endParaRPr lang="en-US" sz="975" dirty="0"/>
          </a:p>
        </p:txBody>
      </p:sp>
      <p:sp>
        <p:nvSpPr>
          <p:cNvPr id="53" name="Shape 47"/>
          <p:cNvSpPr/>
          <p:nvPr/>
        </p:nvSpPr>
        <p:spPr>
          <a:xfrm>
            <a:off x="2100114" y="605923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2204889" y="616401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양식</a:t>
            </a:r>
            <a:endParaRPr lang="en-US" sz="975" dirty="0"/>
          </a:p>
        </p:txBody>
      </p:sp>
      <p:sp>
        <p:nvSpPr>
          <p:cNvPr id="55" name="Shape 49"/>
          <p:cNvSpPr/>
          <p:nvPr/>
        </p:nvSpPr>
        <p:spPr>
          <a:xfrm>
            <a:off x="2676227" y="605923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2781002" y="616401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일식</a:t>
            </a:r>
            <a:endParaRPr lang="en-US" sz="975" dirty="0"/>
          </a:p>
        </p:txBody>
      </p:sp>
      <p:sp>
        <p:nvSpPr>
          <p:cNvPr id="57" name="Shape 51"/>
          <p:cNvSpPr/>
          <p:nvPr/>
        </p:nvSpPr>
        <p:spPr>
          <a:xfrm>
            <a:off x="3252341" y="605923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3357116" y="616401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중식</a:t>
            </a:r>
            <a:endParaRPr lang="en-US" sz="975" dirty="0"/>
          </a:p>
        </p:txBody>
      </p:sp>
      <p:sp>
        <p:nvSpPr>
          <p:cNvPr id="59" name="Shape 53"/>
          <p:cNvSpPr/>
          <p:nvPr/>
        </p:nvSpPr>
        <p:spPr>
          <a:xfrm>
            <a:off x="3828455" y="605923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3933230" y="616401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디저트</a:t>
            </a:r>
            <a:endParaRPr lang="en-US" sz="975" dirty="0"/>
          </a:p>
        </p:txBody>
      </p:sp>
      <p:sp>
        <p:nvSpPr>
          <p:cNvPr id="61" name="Shape 55"/>
          <p:cNvSpPr/>
          <p:nvPr/>
        </p:nvSpPr>
        <p:spPr>
          <a:xfrm>
            <a:off x="4511576" y="605923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4616351" y="616401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고기</a:t>
            </a:r>
            <a:endParaRPr lang="en-US" sz="975" dirty="0"/>
          </a:p>
        </p:txBody>
      </p:sp>
      <p:sp>
        <p:nvSpPr>
          <p:cNvPr id="63" name="Shape 57"/>
          <p:cNvSpPr/>
          <p:nvPr/>
        </p:nvSpPr>
        <p:spPr>
          <a:xfrm>
            <a:off x="5087689" y="605923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5192464" y="616401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해산물</a:t>
            </a:r>
            <a:endParaRPr lang="en-US" sz="975" dirty="0"/>
          </a:p>
        </p:txBody>
      </p:sp>
      <p:sp>
        <p:nvSpPr>
          <p:cNvPr id="65" name="Shape 59"/>
          <p:cNvSpPr/>
          <p:nvPr/>
        </p:nvSpPr>
        <p:spPr>
          <a:xfrm>
            <a:off x="1524000" y="6487864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1628775" y="6592639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매운 음식</a:t>
            </a:r>
            <a:endParaRPr lang="en-US" sz="975" dirty="0"/>
          </a:p>
        </p:txBody>
      </p:sp>
      <p:sp>
        <p:nvSpPr>
          <p:cNvPr id="67" name="Shape 61"/>
          <p:cNvSpPr/>
          <p:nvPr/>
        </p:nvSpPr>
        <p:spPr>
          <a:xfrm>
            <a:off x="2343448" y="648786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2448223" y="659263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커피</a:t>
            </a:r>
            <a:endParaRPr lang="en-US" sz="975" dirty="0"/>
          </a:p>
        </p:txBody>
      </p:sp>
      <p:sp>
        <p:nvSpPr>
          <p:cNvPr id="69" name="Shape 63"/>
          <p:cNvSpPr/>
          <p:nvPr/>
        </p:nvSpPr>
        <p:spPr>
          <a:xfrm>
            <a:off x="2919561" y="6487864"/>
            <a:ext cx="865287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3024336" y="6592639"/>
            <a:ext cx="6557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와인/논알콜</a:t>
            </a:r>
            <a:endParaRPr lang="en-US" sz="975" dirty="0"/>
          </a:p>
        </p:txBody>
      </p:sp>
      <p:sp>
        <p:nvSpPr>
          <p:cNvPr id="71" name="Text 65"/>
          <p:cNvSpPr/>
          <p:nvPr/>
        </p:nvSpPr>
        <p:spPr>
          <a:xfrm>
            <a:off x="1524000" y="7049839"/>
            <a:ext cx="11749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주말에 좋아하는 활동</a:t>
            </a:r>
            <a:endParaRPr lang="en-US" sz="1050" dirty="0"/>
          </a:p>
        </p:txBody>
      </p:sp>
      <p:sp>
        <p:nvSpPr>
          <p:cNvPr id="72" name="Shape 66"/>
          <p:cNvSpPr/>
          <p:nvPr/>
        </p:nvSpPr>
        <p:spPr>
          <a:xfrm>
            <a:off x="1524000" y="7297489"/>
            <a:ext cx="2047875" cy="685800"/>
          </a:xfrm>
          <a:prstGeom prst="roundRect">
            <a:avLst>
              <a:gd name="adj" fmla="val 25000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1685925" y="746893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7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0" y="7554664"/>
            <a:ext cx="171450" cy="171450"/>
          </a:xfrm>
          <a:prstGeom prst="rect">
            <a:avLst/>
          </a:prstGeom>
        </p:spPr>
      </p:pic>
      <p:sp>
        <p:nvSpPr>
          <p:cNvPr id="75" name="Text 68"/>
          <p:cNvSpPr/>
          <p:nvPr/>
        </p:nvSpPr>
        <p:spPr>
          <a:xfrm>
            <a:off x="2143125" y="7564189"/>
            <a:ext cx="13430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밖에서 에너지 충전</a:t>
            </a:r>
            <a:endParaRPr lang="en-US" sz="1050" dirty="0"/>
          </a:p>
        </p:txBody>
      </p:sp>
      <p:sp>
        <p:nvSpPr>
          <p:cNvPr id="76" name="Shape 69"/>
          <p:cNvSpPr/>
          <p:nvPr/>
        </p:nvSpPr>
        <p:spPr>
          <a:xfrm>
            <a:off x="3667125" y="7297489"/>
            <a:ext cx="2047875" cy="685800"/>
          </a:xfrm>
          <a:prstGeom prst="roundRect">
            <a:avLst>
              <a:gd name="adj" fmla="val 25000"/>
            </a:avLst>
          </a:prstGeom>
          <a:solidFill>
            <a:srgbClr val="7A1F2B"/>
          </a:solidFill>
          <a:ln w="19050">
            <a:solidFill>
              <a:srgbClr val="F5DFA8"/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3838575" y="746893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5DFA8">
              <a:alpha val="18000"/>
            </a:srgbClr>
          </a:solidFill>
          <a:ln/>
        </p:spPr>
      </p:sp>
      <p:pic>
        <p:nvPicPr>
          <p:cNvPr id="7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7554664"/>
            <a:ext cx="171450" cy="171450"/>
          </a:xfrm>
          <a:prstGeom prst="rect">
            <a:avLst/>
          </a:prstGeom>
        </p:spPr>
      </p:pic>
      <p:sp>
        <p:nvSpPr>
          <p:cNvPr id="79" name="Text 71"/>
          <p:cNvSpPr/>
          <p:nvPr/>
        </p:nvSpPr>
        <p:spPr>
          <a:xfrm>
            <a:off x="4295775" y="7564189"/>
            <a:ext cx="10382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조용한 휴식</a:t>
            </a:r>
            <a:endParaRPr lang="en-US" sz="1050" dirty="0"/>
          </a:p>
        </p:txBody>
      </p:sp>
      <p:pic>
        <p:nvPicPr>
          <p:cNvPr id="8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2100" y="7554664"/>
            <a:ext cx="171450" cy="171450"/>
          </a:xfrm>
          <a:prstGeom prst="rect">
            <a:avLst/>
          </a:prstGeom>
        </p:spPr>
      </p:pic>
      <p:sp>
        <p:nvSpPr>
          <p:cNvPr id="81" name="Shape 72"/>
          <p:cNvSpPr/>
          <p:nvPr/>
        </p:nvSpPr>
        <p:spPr>
          <a:xfrm>
            <a:off x="1524000" y="8078539"/>
            <a:ext cx="2047875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2" name="Shape 73"/>
          <p:cNvSpPr/>
          <p:nvPr/>
        </p:nvSpPr>
        <p:spPr>
          <a:xfrm>
            <a:off x="1685925" y="824046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8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1650" y="8326189"/>
            <a:ext cx="171450" cy="171450"/>
          </a:xfrm>
          <a:prstGeom prst="rect">
            <a:avLst/>
          </a:prstGeom>
        </p:spPr>
      </p:pic>
      <p:sp>
        <p:nvSpPr>
          <p:cNvPr id="84" name="Text 74"/>
          <p:cNvSpPr/>
          <p:nvPr/>
        </p:nvSpPr>
        <p:spPr>
          <a:xfrm>
            <a:off x="2143125" y="8335714"/>
            <a:ext cx="13430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맛집·카페 탐방</a:t>
            </a:r>
            <a:endParaRPr lang="en-US" sz="1050" dirty="0"/>
          </a:p>
        </p:txBody>
      </p:sp>
      <p:sp>
        <p:nvSpPr>
          <p:cNvPr id="85" name="Shape 75"/>
          <p:cNvSpPr/>
          <p:nvPr/>
        </p:nvSpPr>
        <p:spPr>
          <a:xfrm>
            <a:off x="3667125" y="8078539"/>
            <a:ext cx="2047875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6" name="Shape 76"/>
          <p:cNvSpPr/>
          <p:nvPr/>
        </p:nvSpPr>
        <p:spPr>
          <a:xfrm>
            <a:off x="3829050" y="824046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8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4775" y="8326189"/>
            <a:ext cx="171450" cy="171450"/>
          </a:xfrm>
          <a:prstGeom prst="rect">
            <a:avLst/>
          </a:prstGeom>
        </p:spPr>
      </p:pic>
      <p:sp>
        <p:nvSpPr>
          <p:cNvPr id="88" name="Text 77"/>
          <p:cNvSpPr/>
          <p:nvPr/>
        </p:nvSpPr>
        <p:spPr>
          <a:xfrm>
            <a:off x="4286250" y="8335714"/>
            <a:ext cx="13430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경험</a:t>
            </a:r>
            <a:endParaRPr lang="en-US" sz="1050" dirty="0"/>
          </a:p>
        </p:txBody>
      </p:sp>
      <p:sp>
        <p:nvSpPr>
          <p:cNvPr id="89" name="Text 78"/>
          <p:cNvSpPr/>
          <p:nvPr/>
        </p:nvSpPr>
        <p:spPr>
          <a:xfrm>
            <a:off x="1524000" y="8954839"/>
            <a:ext cx="683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디저트 취향</a:t>
            </a:r>
            <a:endParaRPr lang="en-US" sz="1050" dirty="0"/>
          </a:p>
        </p:txBody>
      </p:sp>
      <p:sp>
        <p:nvSpPr>
          <p:cNvPr id="90" name="Shape 79"/>
          <p:cNvSpPr/>
          <p:nvPr/>
        </p:nvSpPr>
        <p:spPr>
          <a:xfrm>
            <a:off x="1524000" y="920248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1" name="Text 80"/>
          <p:cNvSpPr/>
          <p:nvPr/>
        </p:nvSpPr>
        <p:spPr>
          <a:xfrm>
            <a:off x="1628775" y="930726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초콜릿</a:t>
            </a:r>
            <a:endParaRPr lang="en-US" sz="975" dirty="0"/>
          </a:p>
        </p:txBody>
      </p:sp>
      <p:sp>
        <p:nvSpPr>
          <p:cNvPr id="92" name="Shape 81"/>
          <p:cNvSpPr/>
          <p:nvPr/>
        </p:nvSpPr>
        <p:spPr>
          <a:xfrm>
            <a:off x="2207121" y="92024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3" name="Text 82"/>
          <p:cNvSpPr/>
          <p:nvPr/>
        </p:nvSpPr>
        <p:spPr>
          <a:xfrm>
            <a:off x="2311896" y="93072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과일</a:t>
            </a:r>
            <a:endParaRPr lang="en-US" sz="975" dirty="0"/>
          </a:p>
        </p:txBody>
      </p:sp>
      <p:sp>
        <p:nvSpPr>
          <p:cNvPr id="94" name="Shape 83"/>
          <p:cNvSpPr/>
          <p:nvPr/>
        </p:nvSpPr>
        <p:spPr>
          <a:xfrm>
            <a:off x="2783235" y="92024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95" name="Text 84"/>
          <p:cNvSpPr/>
          <p:nvPr/>
        </p:nvSpPr>
        <p:spPr>
          <a:xfrm>
            <a:off x="2888010" y="93072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크림</a:t>
            </a:r>
            <a:endParaRPr lang="en-US" sz="975" dirty="0"/>
          </a:p>
        </p:txBody>
      </p:sp>
      <p:sp>
        <p:nvSpPr>
          <p:cNvPr id="96" name="Shape 85"/>
          <p:cNvSpPr/>
          <p:nvPr/>
        </p:nvSpPr>
        <p:spPr>
          <a:xfrm>
            <a:off x="3359348" y="9202489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7" name="Text 86"/>
          <p:cNvSpPr/>
          <p:nvPr/>
        </p:nvSpPr>
        <p:spPr>
          <a:xfrm>
            <a:off x="3464123" y="9307264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담백한 빵</a:t>
            </a:r>
            <a:endParaRPr lang="en-US" sz="975" dirty="0"/>
          </a:p>
        </p:txBody>
      </p:sp>
      <p:sp>
        <p:nvSpPr>
          <p:cNvPr id="98" name="Shape 87"/>
          <p:cNvSpPr/>
          <p:nvPr/>
        </p:nvSpPr>
        <p:spPr>
          <a:xfrm>
            <a:off x="4178796" y="9202489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9" name="Text 88"/>
          <p:cNvSpPr/>
          <p:nvPr/>
        </p:nvSpPr>
        <p:spPr>
          <a:xfrm>
            <a:off x="4283571" y="9307264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커피 페어링</a:t>
            </a:r>
            <a:endParaRPr lang="en-US" sz="975" dirty="0"/>
          </a:p>
        </p:txBody>
      </p:sp>
      <p:sp>
        <p:nvSpPr>
          <p:cNvPr id="100" name="Shape 89"/>
          <p:cNvSpPr/>
          <p:nvPr/>
        </p:nvSpPr>
        <p:spPr>
          <a:xfrm>
            <a:off x="1524000" y="9631114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101" name="Text 90"/>
          <p:cNvSpPr/>
          <p:nvPr/>
        </p:nvSpPr>
        <p:spPr>
          <a:xfrm>
            <a:off x="1628775" y="9735889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구움과자</a:t>
            </a:r>
            <a:endParaRPr lang="en-US" sz="975" dirty="0"/>
          </a:p>
        </p:txBody>
      </p:sp>
      <p:sp>
        <p:nvSpPr>
          <p:cNvPr id="102" name="Shape 91"/>
          <p:cNvSpPr/>
          <p:nvPr/>
        </p:nvSpPr>
        <p:spPr>
          <a:xfrm>
            <a:off x="2314129" y="9631114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03" name="Text 92"/>
          <p:cNvSpPr/>
          <p:nvPr/>
        </p:nvSpPr>
        <p:spPr>
          <a:xfrm>
            <a:off x="2418904" y="9735889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케이크</a:t>
            </a:r>
            <a:endParaRPr lang="en-US" sz="975" dirty="0"/>
          </a:p>
        </p:txBody>
      </p:sp>
      <p:sp>
        <p:nvSpPr>
          <p:cNvPr id="104" name="Shape 93"/>
          <p:cNvSpPr/>
          <p:nvPr/>
        </p:nvSpPr>
        <p:spPr>
          <a:xfrm>
            <a:off x="1524000" y="9782175"/>
            <a:ext cx="419100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105" name="Text 94"/>
          <p:cNvSpPr/>
          <p:nvPr/>
        </p:nvSpPr>
        <p:spPr>
          <a:xfrm>
            <a:off x="1651635" y="9782175"/>
            <a:ext cx="393573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1275" dirty="0"/>
          </a:p>
        </p:txBody>
      </p:sp>
      <p:sp>
        <p:nvSpPr>
          <p:cNvPr id="106" name="Shape 95"/>
          <p:cNvSpPr/>
          <p:nvPr/>
        </p:nvSpPr>
        <p:spPr>
          <a:xfrm>
            <a:off x="2981325" y="10458450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107" name="Text 96"/>
          <p:cNvSpPr/>
          <p:nvPr/>
        </p:nvSpPr>
        <p:spPr>
          <a:xfrm>
            <a:off x="7048500" y="3718173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취향 카드</a:t>
            </a:r>
            <a:endParaRPr lang="en-US" sz="1200" dirty="0"/>
          </a:p>
        </p:txBody>
      </p:sp>
      <p:sp>
        <p:nvSpPr>
          <p:cNvPr id="108" name="Text 97"/>
          <p:cNvSpPr/>
          <p:nvPr/>
        </p:nvSpPr>
        <p:spPr>
          <a:xfrm>
            <a:off x="7048500" y="4118223"/>
            <a:ext cx="1059561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대화가 자연스럽게 시작될 취향.</a:t>
            </a:r>
            <a:endParaRPr lang="en-US" sz="5700" dirty="0"/>
          </a:p>
        </p:txBody>
      </p:sp>
      <p:sp>
        <p:nvSpPr>
          <p:cNvPr id="109" name="Text 98"/>
          <p:cNvSpPr/>
          <p:nvPr/>
        </p:nvSpPr>
        <p:spPr>
          <a:xfrm>
            <a:off x="7048500" y="5920234"/>
            <a:ext cx="706374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대화의 소재 + 텍스트 기반 케미 분석에 활용.</a:t>
            </a:r>
            <a:endParaRPr lang="en-US" sz="1650" dirty="0"/>
          </a:p>
        </p:txBody>
      </p:sp>
      <p:sp>
        <p:nvSpPr>
          <p:cNvPr id="110" name="Text 99"/>
          <p:cNvSpPr/>
          <p:nvPr/>
        </p:nvSpPr>
        <p:spPr>
          <a:xfrm>
            <a:off x="7124700" y="6549777"/>
            <a:ext cx="68770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인생영화 한 줄 입력 (감성 예시 placeholder)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취미 · 음식 · 디저트는 칩 다중 + 직접 입력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주말 활동은 4카드 단일 — 라이프스타일 신호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857250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990600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62025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62025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1095375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119188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1119188"/>
            <a:ext cx="228600" cy="1047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85900" y="14382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1533525"/>
            <a:ext cx="152400" cy="152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943100" y="1581150"/>
            <a:ext cx="3533775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2" name="Shape 7"/>
          <p:cNvSpPr/>
          <p:nvPr/>
        </p:nvSpPr>
        <p:spPr>
          <a:xfrm>
            <a:off x="1943100" y="1581150"/>
            <a:ext cx="2508945" cy="5715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3" name="Text 8"/>
          <p:cNvSpPr/>
          <p:nvPr/>
        </p:nvSpPr>
        <p:spPr>
          <a:xfrm>
            <a:off x="5591175" y="1547813"/>
            <a:ext cx="2381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5/7</a:t>
            </a:r>
            <a:endParaRPr lang="en-US" sz="825" dirty="0"/>
          </a:p>
        </p:txBody>
      </p:sp>
      <p:sp>
        <p:nvSpPr>
          <p:cNvPr id="14" name="Text 9"/>
          <p:cNvSpPr/>
          <p:nvPr/>
        </p:nvSpPr>
        <p:spPr>
          <a:xfrm>
            <a:off x="1562100" y="1952625"/>
            <a:ext cx="423824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kern="0" spc="-10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나를 가장 잘 설명하는 말은?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1562100" y="2647950"/>
            <a:ext cx="4238244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길게 쓰지 않아도 괜찮아요. 짧은 답변으로도 AI가 케미 포인트를 분석해요.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1524000" y="3220789"/>
            <a:ext cx="4220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355878" y="3249364"/>
            <a:ext cx="43532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3개</a:t>
            </a:r>
            <a:endParaRPr lang="en-US" sz="825" dirty="0"/>
          </a:p>
        </p:txBody>
      </p:sp>
      <p:sp>
        <p:nvSpPr>
          <p:cNvPr id="18" name="Shape 13"/>
          <p:cNvSpPr/>
          <p:nvPr/>
        </p:nvSpPr>
        <p:spPr>
          <a:xfrm>
            <a:off x="1524000" y="346843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628775" y="357321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다정한</a:t>
            </a:r>
            <a:endParaRPr lang="en-US" sz="975" dirty="0"/>
          </a:p>
        </p:txBody>
      </p:sp>
      <p:sp>
        <p:nvSpPr>
          <p:cNvPr id="20" name="Shape 15"/>
          <p:cNvSpPr/>
          <p:nvPr/>
        </p:nvSpPr>
        <p:spPr>
          <a:xfrm>
            <a:off x="2207121" y="346843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311896" y="357321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성실한</a:t>
            </a:r>
            <a:endParaRPr lang="en-US" sz="975" dirty="0"/>
          </a:p>
        </p:txBody>
      </p:sp>
      <p:sp>
        <p:nvSpPr>
          <p:cNvPr id="22" name="Shape 17"/>
          <p:cNvSpPr/>
          <p:nvPr/>
        </p:nvSpPr>
        <p:spPr>
          <a:xfrm>
            <a:off x="2890242" y="346843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995017" y="357321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유쾌한</a:t>
            </a:r>
            <a:endParaRPr lang="en-US" sz="975" dirty="0"/>
          </a:p>
        </p:txBody>
      </p:sp>
      <p:sp>
        <p:nvSpPr>
          <p:cNvPr id="24" name="Shape 19"/>
          <p:cNvSpPr/>
          <p:nvPr/>
        </p:nvSpPr>
        <p:spPr>
          <a:xfrm>
            <a:off x="3573363" y="346843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678138" y="357321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차분한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4256484" y="3468439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361259" y="3573214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배려 깊은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5075932" y="346843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180707" y="357321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솔직한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1524000" y="3897064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628775" y="4001839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책임감 있는</a:t>
            </a:r>
            <a:endParaRPr lang="en-US" sz="975" dirty="0"/>
          </a:p>
        </p:txBody>
      </p:sp>
      <p:sp>
        <p:nvSpPr>
          <p:cNvPr id="32" name="Shape 27"/>
          <p:cNvSpPr/>
          <p:nvPr/>
        </p:nvSpPr>
        <p:spPr>
          <a:xfrm>
            <a:off x="2450455" y="3897064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555230" y="4001839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감성적인</a:t>
            </a:r>
            <a:endParaRPr lang="en-US" sz="975" dirty="0"/>
          </a:p>
        </p:txBody>
      </p:sp>
      <p:sp>
        <p:nvSpPr>
          <p:cNvPr id="34" name="Shape 29"/>
          <p:cNvSpPr/>
          <p:nvPr/>
        </p:nvSpPr>
        <p:spPr>
          <a:xfrm>
            <a:off x="3240584" y="3897064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345359" y="4001839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현실적인</a:t>
            </a:r>
            <a:endParaRPr lang="en-US" sz="975" dirty="0"/>
          </a:p>
        </p:txBody>
      </p:sp>
      <p:sp>
        <p:nvSpPr>
          <p:cNvPr id="36" name="Shape 31"/>
          <p:cNvSpPr/>
          <p:nvPr/>
        </p:nvSpPr>
        <p:spPr>
          <a:xfrm>
            <a:off x="4030712" y="3897064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135487" y="4001839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도전적인</a:t>
            </a:r>
            <a:endParaRPr lang="en-US" sz="975" dirty="0"/>
          </a:p>
        </p:txBody>
      </p:sp>
      <p:sp>
        <p:nvSpPr>
          <p:cNvPr id="38" name="Shape 33"/>
          <p:cNvSpPr/>
          <p:nvPr/>
        </p:nvSpPr>
        <p:spPr>
          <a:xfrm>
            <a:off x="4820841" y="3897064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925616" y="4001839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섬세한</a:t>
            </a:r>
            <a:endParaRPr lang="en-US" sz="975" dirty="0"/>
          </a:p>
        </p:txBody>
      </p:sp>
      <p:sp>
        <p:nvSpPr>
          <p:cNvPr id="40" name="Shape 35"/>
          <p:cNvSpPr/>
          <p:nvPr/>
        </p:nvSpPr>
        <p:spPr>
          <a:xfrm>
            <a:off x="1524000" y="4325689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1628775" y="4430464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긍정적인</a:t>
            </a:r>
            <a:endParaRPr lang="en-US" sz="975" dirty="0"/>
          </a:p>
        </p:txBody>
      </p:sp>
      <p:sp>
        <p:nvSpPr>
          <p:cNvPr id="42" name="Text 37"/>
          <p:cNvSpPr/>
          <p:nvPr/>
        </p:nvSpPr>
        <p:spPr>
          <a:xfrm>
            <a:off x="1524000" y="4887664"/>
            <a:ext cx="14361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나는 이런 사람에 가까워요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1524000" y="5135314"/>
            <a:ext cx="4191000" cy="685800"/>
          </a:xfrm>
          <a:prstGeom prst="roundRect">
            <a:avLst>
              <a:gd name="adj" fmla="val 25000"/>
            </a:avLst>
          </a:prstGeom>
          <a:solidFill>
            <a:srgbClr val="7A1F2B"/>
          </a:solidFill>
          <a:ln w="19050">
            <a:solidFill>
              <a:srgbClr val="F5DFA8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95450" y="530676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5DFA8">
              <a:alpha val="18000"/>
            </a:srgbClr>
          </a:solidFill>
          <a:ln/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1175" y="5392489"/>
            <a:ext cx="171450" cy="17145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2152650" y="5402014"/>
            <a:ext cx="31983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천천히 깊어지는 사람</a:t>
            </a:r>
            <a:endParaRPr lang="en-US" sz="1050" dirty="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2100" y="5392489"/>
            <a:ext cx="171450" cy="171450"/>
          </a:xfrm>
          <a:prstGeom prst="rect">
            <a:avLst/>
          </a:prstGeom>
        </p:spPr>
      </p:pic>
      <p:sp>
        <p:nvSpPr>
          <p:cNvPr id="48" name="Shape 41"/>
          <p:cNvSpPr/>
          <p:nvPr/>
        </p:nvSpPr>
        <p:spPr>
          <a:xfrm>
            <a:off x="1524000" y="5916364"/>
            <a:ext cx="419100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1685925" y="607828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0" y="6164014"/>
            <a:ext cx="171450" cy="17145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2143125" y="6173539"/>
            <a:ext cx="35122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대화가 잘 통하면 금방 가까워지는 사람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1524000" y="6678364"/>
            <a:ext cx="419100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1685925" y="684028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0" y="6926014"/>
            <a:ext cx="171450" cy="171450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2143125" y="6935539"/>
            <a:ext cx="35122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웃음 코드가 중요한 사람</a:t>
            </a:r>
            <a:endParaRPr lang="en-US" sz="1050" dirty="0"/>
          </a:p>
        </p:txBody>
      </p:sp>
      <p:sp>
        <p:nvSpPr>
          <p:cNvPr id="56" name="Shape 47"/>
          <p:cNvSpPr/>
          <p:nvPr/>
        </p:nvSpPr>
        <p:spPr>
          <a:xfrm>
            <a:off x="1524000" y="7440364"/>
            <a:ext cx="419100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1685925" y="760228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0" y="7688014"/>
            <a:ext cx="171450" cy="171450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2143125" y="7697539"/>
            <a:ext cx="35122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안정감과 신뢰를 중요하게 보는 사람</a:t>
            </a:r>
            <a:endParaRPr lang="en-US" sz="1050" dirty="0"/>
          </a:p>
        </p:txBody>
      </p:sp>
      <p:sp>
        <p:nvSpPr>
          <p:cNvPr id="60" name="Shape 50"/>
          <p:cNvSpPr/>
          <p:nvPr/>
        </p:nvSpPr>
        <p:spPr>
          <a:xfrm>
            <a:off x="1524000" y="8202364"/>
            <a:ext cx="419100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1685925" y="836428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1650" y="8450014"/>
            <a:ext cx="171450" cy="171450"/>
          </a:xfrm>
          <a:prstGeom prst="rect">
            <a:avLst/>
          </a:prstGeom>
        </p:spPr>
      </p:pic>
      <p:sp>
        <p:nvSpPr>
          <p:cNvPr id="63" name="Text 52"/>
          <p:cNvSpPr/>
          <p:nvPr/>
        </p:nvSpPr>
        <p:spPr>
          <a:xfrm>
            <a:off x="2143125" y="8459539"/>
            <a:ext cx="35122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경험을 함께하는 걸 좋아하는 사람</a:t>
            </a:r>
            <a:endParaRPr lang="en-US" sz="1050" dirty="0"/>
          </a:p>
        </p:txBody>
      </p:sp>
      <p:sp>
        <p:nvSpPr>
          <p:cNvPr id="64" name="Text 53"/>
          <p:cNvSpPr/>
          <p:nvPr/>
        </p:nvSpPr>
        <p:spPr>
          <a:xfrm>
            <a:off x="1524000" y="9078664"/>
            <a:ext cx="14055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이상형을 짧게 적어주세요</a:t>
            </a:r>
            <a:endParaRPr lang="en-US" sz="1050" dirty="0"/>
          </a:p>
        </p:txBody>
      </p:sp>
      <p:sp>
        <p:nvSpPr>
          <p:cNvPr id="65" name="Text 54"/>
          <p:cNvSpPr/>
          <p:nvPr/>
        </p:nvSpPr>
        <p:spPr>
          <a:xfrm>
            <a:off x="5414218" y="9107239"/>
            <a:ext cx="37698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문장</a:t>
            </a:r>
            <a:endParaRPr lang="en-US" sz="825" dirty="0"/>
          </a:p>
        </p:txBody>
      </p:sp>
      <p:sp>
        <p:nvSpPr>
          <p:cNvPr id="66" name="Shape 55"/>
          <p:cNvSpPr/>
          <p:nvPr/>
        </p:nvSpPr>
        <p:spPr>
          <a:xfrm>
            <a:off x="1524000" y="9326314"/>
            <a:ext cx="4191000" cy="466725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7" name="Text 56"/>
          <p:cNvSpPr/>
          <p:nvPr/>
        </p:nvSpPr>
        <p:spPr>
          <a:xfrm>
            <a:off x="1524000" y="10002589"/>
            <a:ext cx="15821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연인에게 가장 중요한 한 가지</a:t>
            </a:r>
            <a:endParaRPr lang="en-US" sz="1050" dirty="0"/>
          </a:p>
        </p:txBody>
      </p:sp>
      <p:sp>
        <p:nvSpPr>
          <p:cNvPr id="68" name="Shape 57"/>
          <p:cNvSpPr/>
          <p:nvPr/>
        </p:nvSpPr>
        <p:spPr>
          <a:xfrm>
            <a:off x="1524000" y="1025023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9" name="Text 58"/>
          <p:cNvSpPr/>
          <p:nvPr/>
        </p:nvSpPr>
        <p:spPr>
          <a:xfrm>
            <a:off x="1628775" y="1035501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</a:t>
            </a:r>
            <a:endParaRPr lang="en-US" sz="975" dirty="0"/>
          </a:p>
        </p:txBody>
      </p:sp>
      <p:sp>
        <p:nvSpPr>
          <p:cNvPr id="70" name="Shape 59"/>
          <p:cNvSpPr/>
          <p:nvPr/>
        </p:nvSpPr>
        <p:spPr>
          <a:xfrm>
            <a:off x="2100114" y="1025023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1" name="Text 60"/>
          <p:cNvSpPr/>
          <p:nvPr/>
        </p:nvSpPr>
        <p:spPr>
          <a:xfrm>
            <a:off x="2204889" y="1035501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배려</a:t>
            </a:r>
            <a:endParaRPr lang="en-US" sz="975" dirty="0"/>
          </a:p>
        </p:txBody>
      </p:sp>
      <p:sp>
        <p:nvSpPr>
          <p:cNvPr id="72" name="Shape 61"/>
          <p:cNvSpPr/>
          <p:nvPr/>
        </p:nvSpPr>
        <p:spPr>
          <a:xfrm>
            <a:off x="2676227" y="1025023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3" name="Text 62"/>
          <p:cNvSpPr/>
          <p:nvPr/>
        </p:nvSpPr>
        <p:spPr>
          <a:xfrm>
            <a:off x="2781002" y="1035501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</a:t>
            </a:r>
            <a:endParaRPr lang="en-US" sz="975" dirty="0"/>
          </a:p>
        </p:txBody>
      </p:sp>
      <p:sp>
        <p:nvSpPr>
          <p:cNvPr id="74" name="Shape 63"/>
          <p:cNvSpPr/>
          <p:nvPr/>
        </p:nvSpPr>
        <p:spPr>
          <a:xfrm>
            <a:off x="3252341" y="1025023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3357116" y="1035501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유머</a:t>
            </a:r>
            <a:endParaRPr lang="en-US" sz="975" dirty="0"/>
          </a:p>
        </p:txBody>
      </p:sp>
      <p:sp>
        <p:nvSpPr>
          <p:cNvPr id="76" name="Shape 65"/>
          <p:cNvSpPr/>
          <p:nvPr/>
        </p:nvSpPr>
        <p:spPr>
          <a:xfrm>
            <a:off x="3828455" y="1025023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7" name="Text 66"/>
          <p:cNvSpPr/>
          <p:nvPr/>
        </p:nvSpPr>
        <p:spPr>
          <a:xfrm>
            <a:off x="3933230" y="1035501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안정감</a:t>
            </a:r>
            <a:endParaRPr lang="en-US" sz="975" dirty="0"/>
          </a:p>
        </p:txBody>
      </p:sp>
      <p:sp>
        <p:nvSpPr>
          <p:cNvPr id="78" name="Shape 67"/>
          <p:cNvSpPr/>
          <p:nvPr/>
        </p:nvSpPr>
        <p:spPr>
          <a:xfrm>
            <a:off x="4511576" y="1025023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79" name="Text 68"/>
          <p:cNvSpPr/>
          <p:nvPr/>
        </p:nvSpPr>
        <p:spPr>
          <a:xfrm>
            <a:off x="4616351" y="1035501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가치관</a:t>
            </a:r>
            <a:endParaRPr lang="en-US" sz="975" dirty="0"/>
          </a:p>
        </p:txBody>
      </p:sp>
      <p:sp>
        <p:nvSpPr>
          <p:cNvPr id="80" name="Shape 69"/>
          <p:cNvSpPr/>
          <p:nvPr/>
        </p:nvSpPr>
        <p:spPr>
          <a:xfrm>
            <a:off x="1524000" y="10678864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1" name="Text 70"/>
          <p:cNvSpPr/>
          <p:nvPr/>
        </p:nvSpPr>
        <p:spPr>
          <a:xfrm>
            <a:off x="1628775" y="10783639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책임감</a:t>
            </a:r>
            <a:endParaRPr lang="en-US" sz="975" dirty="0"/>
          </a:p>
        </p:txBody>
      </p:sp>
      <p:sp>
        <p:nvSpPr>
          <p:cNvPr id="82" name="Shape 71"/>
          <p:cNvSpPr/>
          <p:nvPr/>
        </p:nvSpPr>
        <p:spPr>
          <a:xfrm>
            <a:off x="2207121" y="1067886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3" name="Text 72"/>
          <p:cNvSpPr/>
          <p:nvPr/>
        </p:nvSpPr>
        <p:spPr>
          <a:xfrm>
            <a:off x="2311896" y="1078363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설렘</a:t>
            </a:r>
            <a:endParaRPr lang="en-US" sz="975" dirty="0"/>
          </a:p>
        </p:txBody>
      </p:sp>
      <p:sp>
        <p:nvSpPr>
          <p:cNvPr id="84" name="Shape 73"/>
          <p:cNvSpPr/>
          <p:nvPr/>
        </p:nvSpPr>
        <p:spPr>
          <a:xfrm>
            <a:off x="2783235" y="10678864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5" name="Text 74"/>
          <p:cNvSpPr/>
          <p:nvPr/>
        </p:nvSpPr>
        <p:spPr>
          <a:xfrm>
            <a:off x="2888010" y="10783639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취향 공유</a:t>
            </a:r>
            <a:endParaRPr lang="en-US" sz="975" dirty="0"/>
          </a:p>
        </p:txBody>
      </p:sp>
      <p:sp>
        <p:nvSpPr>
          <p:cNvPr id="86" name="Shape 75"/>
          <p:cNvSpPr/>
          <p:nvPr/>
        </p:nvSpPr>
        <p:spPr>
          <a:xfrm>
            <a:off x="3602682" y="1067886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7" name="Text 76"/>
          <p:cNvSpPr/>
          <p:nvPr/>
        </p:nvSpPr>
        <p:spPr>
          <a:xfrm>
            <a:off x="3707457" y="1078363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</a:t>
            </a:r>
            <a:endParaRPr lang="en-US" sz="975" dirty="0"/>
          </a:p>
        </p:txBody>
      </p:sp>
      <p:sp>
        <p:nvSpPr>
          <p:cNvPr id="88" name="Shape 77"/>
          <p:cNvSpPr/>
          <p:nvPr/>
        </p:nvSpPr>
        <p:spPr>
          <a:xfrm>
            <a:off x="1524000" y="9782175"/>
            <a:ext cx="419100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89" name="Text 78"/>
          <p:cNvSpPr/>
          <p:nvPr/>
        </p:nvSpPr>
        <p:spPr>
          <a:xfrm>
            <a:off x="1651635" y="9782175"/>
            <a:ext cx="393573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1275" dirty="0"/>
          </a:p>
        </p:txBody>
      </p:sp>
      <p:sp>
        <p:nvSpPr>
          <p:cNvPr id="90" name="Shape 79"/>
          <p:cNvSpPr/>
          <p:nvPr/>
        </p:nvSpPr>
        <p:spPr>
          <a:xfrm>
            <a:off x="2981325" y="10458450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91" name="Text 80"/>
          <p:cNvSpPr/>
          <p:nvPr/>
        </p:nvSpPr>
        <p:spPr>
          <a:xfrm>
            <a:off x="7048500" y="3555802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· 나 · 이상형</a:t>
            </a:r>
            <a:endParaRPr lang="en-US" sz="1200" dirty="0"/>
          </a:p>
        </p:txBody>
      </p:sp>
      <p:sp>
        <p:nvSpPr>
          <p:cNvPr id="92" name="Text 81"/>
          <p:cNvSpPr/>
          <p:nvPr/>
        </p:nvSpPr>
        <p:spPr>
          <a:xfrm>
            <a:off x="7048500" y="3955852"/>
            <a:ext cx="11092016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긴 자기소개 대신, 프롬프트 응답으로.</a:t>
            </a:r>
            <a:endParaRPr lang="en-US" sz="5700" dirty="0"/>
          </a:p>
        </p:txBody>
      </p:sp>
      <p:sp>
        <p:nvSpPr>
          <p:cNvPr id="93" name="Text 82"/>
          <p:cNvSpPr/>
          <p:nvPr/>
        </p:nvSpPr>
        <p:spPr>
          <a:xfrm>
            <a:off x="7048500" y="5757863"/>
            <a:ext cx="706374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데이팅 앱 트렌드 — 키워드 칩과 카드 선택으로 부담을 낮추고, 단 한 문장만 직접 입력.</a:t>
            </a:r>
            <a:endParaRPr lang="en-US" sz="1650" dirty="0"/>
          </a:p>
        </p:txBody>
      </p:sp>
      <p:sp>
        <p:nvSpPr>
          <p:cNvPr id="94" name="Text 83"/>
          <p:cNvSpPr/>
          <p:nvPr/>
        </p:nvSpPr>
        <p:spPr>
          <a:xfrm>
            <a:off x="7124700" y="6712148"/>
            <a:ext cx="68770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나를 설명하는 키워드 최대 3개 칩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"나는 이런 사람" 5 카드 단일 선택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이상형은 한 문장 — 가벼운 placeholder 예시 제공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857250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990600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62025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62025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1095375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119188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1119188"/>
            <a:ext cx="228600" cy="1047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85900" y="14382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1533525"/>
            <a:ext cx="152400" cy="152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943100" y="1581150"/>
            <a:ext cx="3532138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2" name="Shape 7"/>
          <p:cNvSpPr/>
          <p:nvPr/>
        </p:nvSpPr>
        <p:spPr>
          <a:xfrm>
            <a:off x="1943100" y="1581150"/>
            <a:ext cx="3037582" cy="5715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3" name="Text 8"/>
          <p:cNvSpPr/>
          <p:nvPr/>
        </p:nvSpPr>
        <p:spPr>
          <a:xfrm>
            <a:off x="5589538" y="1547813"/>
            <a:ext cx="23976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6/7</a:t>
            </a:r>
            <a:endParaRPr lang="en-US" sz="825" dirty="0"/>
          </a:p>
        </p:txBody>
      </p:sp>
      <p:sp>
        <p:nvSpPr>
          <p:cNvPr id="14" name="Text 9"/>
          <p:cNvSpPr/>
          <p:nvPr/>
        </p:nvSpPr>
        <p:spPr>
          <a:xfrm>
            <a:off x="1562100" y="1952625"/>
            <a:ext cx="423824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kern="0" spc="-10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편안한 만남을 위해 선호 조건을 알려주세요.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1562100" y="2647950"/>
            <a:ext cx="4238244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상관없음도 좋은 선택이에요. 선정·매칭 참고용으로만 사용돼요.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1524000" y="3220789"/>
            <a:ext cx="683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 나이대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533876" y="3249364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</a:t>
            </a:r>
            <a:endParaRPr lang="en-US" sz="825" dirty="0"/>
          </a:p>
        </p:txBody>
      </p:sp>
      <p:sp>
        <p:nvSpPr>
          <p:cNvPr id="18" name="Shape 13"/>
          <p:cNvSpPr/>
          <p:nvPr/>
        </p:nvSpPr>
        <p:spPr>
          <a:xfrm>
            <a:off x="1524000" y="3468439"/>
            <a:ext cx="4191000" cy="1200150"/>
          </a:xfrm>
          <a:prstGeom prst="roundRect">
            <a:avLst>
              <a:gd name="adj" fmla="val 12698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704975" y="3649414"/>
            <a:ext cx="3990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세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204817" y="3649414"/>
            <a:ext cx="4054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세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704975" y="3906589"/>
            <a:ext cx="3829050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22" name="Shape 17"/>
          <p:cNvSpPr/>
          <p:nvPr/>
        </p:nvSpPr>
        <p:spPr>
          <a:xfrm>
            <a:off x="2555825" y="3906589"/>
            <a:ext cx="1276499" cy="5715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23" name="Shape 18"/>
          <p:cNvSpPr/>
          <p:nvPr/>
        </p:nvSpPr>
        <p:spPr>
          <a:xfrm>
            <a:off x="2451050" y="3830389"/>
            <a:ext cx="209550" cy="2095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7A1F2B"/>
            </a:solidFill>
            <a:prstDash val="solid"/>
          </a:ln>
          <a:effectLst>
            <a:outerShdw blurRad="57150" dist="190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727400" y="3830389"/>
            <a:ext cx="209550" cy="2095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7A1F2B"/>
            </a:solidFill>
            <a:prstDash val="solid"/>
          </a:ln>
          <a:effectLst>
            <a:outerShdw blurRad="57150" dist="190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1704975" y="4039939"/>
            <a:ext cx="2835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세</a:t>
            </a:r>
            <a:endParaRPr lang="en-US" sz="825" dirty="0"/>
          </a:p>
        </p:txBody>
      </p:sp>
      <p:sp>
        <p:nvSpPr>
          <p:cNvPr id="26" name="Text 21"/>
          <p:cNvSpPr/>
          <p:nvPr/>
        </p:nvSpPr>
        <p:spPr>
          <a:xfrm>
            <a:off x="5326707" y="4039939"/>
            <a:ext cx="2835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세</a:t>
            </a:r>
            <a:endParaRPr lang="en-US" sz="825" dirty="0"/>
          </a:p>
        </p:txBody>
      </p:sp>
      <p:sp>
        <p:nvSpPr>
          <p:cNvPr id="27" name="Text 22"/>
          <p:cNvSpPr/>
          <p:nvPr/>
        </p:nvSpPr>
        <p:spPr>
          <a:xfrm>
            <a:off x="2000250" y="4316164"/>
            <a:ext cx="7995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크게 상관없어요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524000" y="4878139"/>
            <a:ext cx="829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 이상형 키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1524000" y="5125789"/>
            <a:ext cx="957263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628775" y="5230564"/>
            <a:ext cx="7477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크게 상관없음</a:t>
            </a:r>
            <a:endParaRPr lang="en-US" sz="975" dirty="0"/>
          </a:p>
        </p:txBody>
      </p:sp>
      <p:sp>
        <p:nvSpPr>
          <p:cNvPr id="31" name="Shape 26"/>
          <p:cNvSpPr/>
          <p:nvPr/>
        </p:nvSpPr>
        <p:spPr>
          <a:xfrm>
            <a:off x="2557463" y="5125789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662238" y="5230564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나보다 크면</a:t>
            </a:r>
            <a:endParaRPr lang="en-US" sz="975" dirty="0"/>
          </a:p>
        </p:txBody>
      </p:sp>
      <p:sp>
        <p:nvSpPr>
          <p:cNvPr id="33" name="Shape 28"/>
          <p:cNvSpPr/>
          <p:nvPr/>
        </p:nvSpPr>
        <p:spPr>
          <a:xfrm>
            <a:off x="3483918" y="5125789"/>
            <a:ext cx="73357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588693" y="5230564"/>
            <a:ext cx="5240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이상</a:t>
            </a:r>
            <a:endParaRPr lang="en-US" sz="975" dirty="0"/>
          </a:p>
        </p:txBody>
      </p:sp>
      <p:sp>
        <p:nvSpPr>
          <p:cNvPr id="35" name="Shape 30"/>
          <p:cNvSpPr/>
          <p:nvPr/>
        </p:nvSpPr>
        <p:spPr>
          <a:xfrm>
            <a:off x="4293691" y="5125789"/>
            <a:ext cx="731490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398466" y="5230564"/>
            <a:ext cx="5219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 이상</a:t>
            </a:r>
            <a:endParaRPr lang="en-US" sz="975" dirty="0"/>
          </a:p>
        </p:txBody>
      </p:sp>
      <p:sp>
        <p:nvSpPr>
          <p:cNvPr id="37" name="Shape 32"/>
          <p:cNvSpPr/>
          <p:nvPr/>
        </p:nvSpPr>
        <p:spPr>
          <a:xfrm>
            <a:off x="1524000" y="5554414"/>
            <a:ext cx="74324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1628775" y="5659189"/>
            <a:ext cx="5336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이상</a:t>
            </a:r>
            <a:endParaRPr lang="en-US" sz="975" dirty="0"/>
          </a:p>
        </p:txBody>
      </p:sp>
      <p:sp>
        <p:nvSpPr>
          <p:cNvPr id="39" name="Shape 34"/>
          <p:cNvSpPr/>
          <p:nvPr/>
        </p:nvSpPr>
        <p:spPr>
          <a:xfrm>
            <a:off x="2343448" y="5554414"/>
            <a:ext cx="78417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2448223" y="5659189"/>
            <a:ext cx="5746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160~170</a:t>
            </a:r>
            <a:endParaRPr lang="en-US" sz="975" dirty="0"/>
          </a:p>
        </p:txBody>
      </p:sp>
      <p:sp>
        <p:nvSpPr>
          <p:cNvPr id="41" name="Shape 36"/>
          <p:cNvSpPr/>
          <p:nvPr/>
        </p:nvSpPr>
        <p:spPr>
          <a:xfrm>
            <a:off x="3203823" y="5554414"/>
            <a:ext cx="779562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308598" y="5659189"/>
            <a:ext cx="5700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165~175</a:t>
            </a:r>
            <a:endParaRPr lang="en-US" sz="975" dirty="0"/>
          </a:p>
        </p:txBody>
      </p:sp>
      <p:sp>
        <p:nvSpPr>
          <p:cNvPr id="43" name="Text 38"/>
          <p:cNvSpPr/>
          <p:nvPr/>
        </p:nvSpPr>
        <p:spPr>
          <a:xfrm>
            <a:off x="1524000" y="6116389"/>
            <a:ext cx="6612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 MBTI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4964609" y="6144964"/>
            <a:ext cx="82659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개 / 상관없음</a:t>
            </a:r>
            <a:endParaRPr lang="en-US" sz="825" dirty="0"/>
          </a:p>
        </p:txBody>
      </p:sp>
      <p:sp>
        <p:nvSpPr>
          <p:cNvPr id="45" name="Shape 40"/>
          <p:cNvSpPr/>
          <p:nvPr/>
        </p:nvSpPr>
        <p:spPr>
          <a:xfrm>
            <a:off x="1524000" y="6364039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1628775" y="6468814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상관없음</a:t>
            </a:r>
            <a:endParaRPr lang="en-US" sz="975" dirty="0"/>
          </a:p>
        </p:txBody>
      </p:sp>
      <p:sp>
        <p:nvSpPr>
          <p:cNvPr id="47" name="Shape 42"/>
          <p:cNvSpPr/>
          <p:nvPr/>
        </p:nvSpPr>
        <p:spPr>
          <a:xfrm>
            <a:off x="2314129" y="6364039"/>
            <a:ext cx="591889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2418904" y="6468814"/>
            <a:ext cx="38233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ENFP</a:t>
            </a:r>
            <a:endParaRPr lang="en-US" sz="975" dirty="0"/>
          </a:p>
        </p:txBody>
      </p:sp>
      <p:sp>
        <p:nvSpPr>
          <p:cNvPr id="49" name="Shape 44"/>
          <p:cNvSpPr/>
          <p:nvPr/>
        </p:nvSpPr>
        <p:spPr>
          <a:xfrm>
            <a:off x="2982218" y="6364039"/>
            <a:ext cx="57358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3086993" y="6468814"/>
            <a:ext cx="36403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ENFJ</a:t>
            </a:r>
            <a:endParaRPr lang="en-US" sz="975" dirty="0"/>
          </a:p>
        </p:txBody>
      </p:sp>
      <p:sp>
        <p:nvSpPr>
          <p:cNvPr id="51" name="Shape 46"/>
          <p:cNvSpPr/>
          <p:nvPr/>
        </p:nvSpPr>
        <p:spPr>
          <a:xfrm>
            <a:off x="3632002" y="6364039"/>
            <a:ext cx="533549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3736777" y="6468814"/>
            <a:ext cx="3239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INFJ</a:t>
            </a:r>
            <a:endParaRPr lang="en-US" sz="975" dirty="0"/>
          </a:p>
        </p:txBody>
      </p:sp>
      <p:sp>
        <p:nvSpPr>
          <p:cNvPr id="53" name="Shape 48"/>
          <p:cNvSpPr/>
          <p:nvPr/>
        </p:nvSpPr>
        <p:spPr>
          <a:xfrm>
            <a:off x="4241750" y="6364039"/>
            <a:ext cx="5518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346525" y="6468814"/>
            <a:ext cx="3423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INFP</a:t>
            </a:r>
            <a:endParaRPr lang="en-US" sz="975" dirty="0"/>
          </a:p>
        </p:txBody>
      </p:sp>
      <p:sp>
        <p:nvSpPr>
          <p:cNvPr id="55" name="Shape 50"/>
          <p:cNvSpPr/>
          <p:nvPr/>
        </p:nvSpPr>
        <p:spPr>
          <a:xfrm>
            <a:off x="4869805" y="6364039"/>
            <a:ext cx="568672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4974580" y="6468814"/>
            <a:ext cx="35912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ESTJ</a:t>
            </a:r>
            <a:endParaRPr lang="en-US" sz="975" dirty="0"/>
          </a:p>
        </p:txBody>
      </p:sp>
      <p:sp>
        <p:nvSpPr>
          <p:cNvPr id="57" name="Shape 52"/>
          <p:cNvSpPr/>
          <p:nvPr/>
        </p:nvSpPr>
        <p:spPr>
          <a:xfrm>
            <a:off x="1524000" y="6792664"/>
            <a:ext cx="52863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1628775" y="6897439"/>
            <a:ext cx="3190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ISTJ</a:t>
            </a:r>
            <a:endParaRPr lang="en-US" sz="975" dirty="0"/>
          </a:p>
        </p:txBody>
      </p:sp>
      <p:sp>
        <p:nvSpPr>
          <p:cNvPr id="59" name="Shape 54"/>
          <p:cNvSpPr/>
          <p:nvPr/>
        </p:nvSpPr>
        <p:spPr>
          <a:xfrm>
            <a:off x="2128838" y="6792664"/>
            <a:ext cx="589508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2233613" y="6897439"/>
            <a:ext cx="3799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ESTP</a:t>
            </a:r>
            <a:endParaRPr lang="en-US" sz="975" dirty="0"/>
          </a:p>
        </p:txBody>
      </p:sp>
      <p:sp>
        <p:nvSpPr>
          <p:cNvPr id="61" name="Text 56"/>
          <p:cNvSpPr/>
          <p:nvPr/>
        </p:nvSpPr>
        <p:spPr>
          <a:xfrm>
            <a:off x="1524000" y="7354639"/>
            <a:ext cx="56792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 종교</a:t>
            </a:r>
            <a:endParaRPr lang="en-US" sz="1050" dirty="0"/>
          </a:p>
        </p:txBody>
      </p:sp>
      <p:sp>
        <p:nvSpPr>
          <p:cNvPr id="62" name="Shape 57"/>
          <p:cNvSpPr/>
          <p:nvPr/>
        </p:nvSpPr>
        <p:spPr>
          <a:xfrm>
            <a:off x="1524000" y="7602289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1628775" y="7707064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상관없음</a:t>
            </a:r>
            <a:endParaRPr lang="en-US" sz="975" dirty="0"/>
          </a:p>
        </p:txBody>
      </p:sp>
      <p:sp>
        <p:nvSpPr>
          <p:cNvPr id="64" name="Shape 59"/>
          <p:cNvSpPr/>
          <p:nvPr/>
        </p:nvSpPr>
        <p:spPr>
          <a:xfrm>
            <a:off x="2314129" y="76022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2418904" y="77070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무교</a:t>
            </a:r>
            <a:endParaRPr lang="en-US" sz="975" dirty="0"/>
          </a:p>
        </p:txBody>
      </p:sp>
      <p:sp>
        <p:nvSpPr>
          <p:cNvPr id="66" name="Shape 61"/>
          <p:cNvSpPr/>
          <p:nvPr/>
        </p:nvSpPr>
        <p:spPr>
          <a:xfrm>
            <a:off x="2890242" y="760228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2995017" y="770706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기독교</a:t>
            </a:r>
            <a:endParaRPr lang="en-US" sz="975" dirty="0"/>
          </a:p>
        </p:txBody>
      </p:sp>
      <p:sp>
        <p:nvSpPr>
          <p:cNvPr id="68" name="Shape 63"/>
          <p:cNvSpPr/>
          <p:nvPr/>
        </p:nvSpPr>
        <p:spPr>
          <a:xfrm>
            <a:off x="3573363" y="7602289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3678138" y="7707064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천주교</a:t>
            </a:r>
            <a:endParaRPr lang="en-US" sz="975" dirty="0"/>
          </a:p>
        </p:txBody>
      </p:sp>
      <p:sp>
        <p:nvSpPr>
          <p:cNvPr id="70" name="Shape 65"/>
          <p:cNvSpPr/>
          <p:nvPr/>
        </p:nvSpPr>
        <p:spPr>
          <a:xfrm>
            <a:off x="4256484" y="76022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4361259" y="77070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불교</a:t>
            </a:r>
            <a:endParaRPr lang="en-US" sz="975" dirty="0"/>
          </a:p>
        </p:txBody>
      </p:sp>
      <p:sp>
        <p:nvSpPr>
          <p:cNvPr id="72" name="Shape 67"/>
          <p:cNvSpPr/>
          <p:nvPr/>
        </p:nvSpPr>
        <p:spPr>
          <a:xfrm>
            <a:off x="4832598" y="760228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4937373" y="770706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</a:t>
            </a:r>
            <a:endParaRPr lang="en-US" sz="975" dirty="0"/>
          </a:p>
        </p:txBody>
      </p:sp>
      <p:sp>
        <p:nvSpPr>
          <p:cNvPr id="74" name="Text 69"/>
          <p:cNvSpPr/>
          <p:nvPr/>
        </p:nvSpPr>
        <p:spPr>
          <a:xfrm>
            <a:off x="1524000" y="8164264"/>
            <a:ext cx="11749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조심했으면 하는 직군</a:t>
            </a:r>
            <a:endParaRPr lang="en-US" sz="1050" dirty="0"/>
          </a:p>
        </p:txBody>
      </p:sp>
      <p:sp>
        <p:nvSpPr>
          <p:cNvPr id="75" name="Text 70"/>
          <p:cNvSpPr/>
          <p:nvPr/>
        </p:nvSpPr>
        <p:spPr>
          <a:xfrm>
            <a:off x="4511873" y="8192839"/>
            <a:ext cx="127932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시 조심했으면 하는 조건</a:t>
            </a:r>
            <a:endParaRPr lang="en-US" sz="825" dirty="0"/>
          </a:p>
        </p:txBody>
      </p:sp>
      <p:sp>
        <p:nvSpPr>
          <p:cNvPr id="76" name="Shape 71"/>
          <p:cNvSpPr/>
          <p:nvPr/>
        </p:nvSpPr>
        <p:spPr>
          <a:xfrm>
            <a:off x="1524000" y="8411914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1628775" y="8516689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없음</a:t>
            </a:r>
            <a:endParaRPr lang="en-US" sz="975" dirty="0"/>
          </a:p>
        </p:txBody>
      </p:sp>
      <p:sp>
        <p:nvSpPr>
          <p:cNvPr id="78" name="Shape 73"/>
          <p:cNvSpPr/>
          <p:nvPr/>
        </p:nvSpPr>
        <p:spPr>
          <a:xfrm>
            <a:off x="2100114" y="8411914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2204889" y="8516689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교대근무</a:t>
            </a:r>
            <a:endParaRPr lang="en-US" sz="975" dirty="0"/>
          </a:p>
        </p:txBody>
      </p:sp>
      <p:sp>
        <p:nvSpPr>
          <p:cNvPr id="80" name="Shape 75"/>
          <p:cNvSpPr/>
          <p:nvPr/>
        </p:nvSpPr>
        <p:spPr>
          <a:xfrm>
            <a:off x="2890242" y="8411914"/>
            <a:ext cx="85025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2995017" y="8516689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직장군</a:t>
            </a:r>
            <a:endParaRPr lang="en-US" sz="975" dirty="0"/>
          </a:p>
        </p:txBody>
      </p:sp>
      <p:sp>
        <p:nvSpPr>
          <p:cNvPr id="82" name="Shape 77"/>
          <p:cNvSpPr/>
          <p:nvPr/>
        </p:nvSpPr>
        <p:spPr>
          <a:xfrm>
            <a:off x="3816697" y="8411914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3921472" y="8516689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영업직</a:t>
            </a:r>
            <a:endParaRPr lang="en-US" sz="975" dirty="0"/>
          </a:p>
        </p:txBody>
      </p:sp>
      <p:sp>
        <p:nvSpPr>
          <p:cNvPr id="84" name="Shape 79"/>
          <p:cNvSpPr/>
          <p:nvPr/>
        </p:nvSpPr>
        <p:spPr>
          <a:xfrm>
            <a:off x="4499818" y="8411914"/>
            <a:ext cx="606921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4604593" y="8516689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자영업</a:t>
            </a:r>
            <a:endParaRPr lang="en-US" sz="975" dirty="0"/>
          </a:p>
        </p:txBody>
      </p:sp>
      <p:sp>
        <p:nvSpPr>
          <p:cNvPr id="86" name="Shape 81"/>
          <p:cNvSpPr/>
          <p:nvPr/>
        </p:nvSpPr>
        <p:spPr>
          <a:xfrm>
            <a:off x="1524000" y="8840539"/>
            <a:ext cx="713929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1628775" y="8945314"/>
            <a:ext cx="5043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프리랜서</a:t>
            </a:r>
            <a:endParaRPr lang="en-US" sz="975" dirty="0"/>
          </a:p>
        </p:txBody>
      </p:sp>
      <p:sp>
        <p:nvSpPr>
          <p:cNvPr id="88" name="Shape 83"/>
          <p:cNvSpPr/>
          <p:nvPr/>
        </p:nvSpPr>
        <p:spPr>
          <a:xfrm>
            <a:off x="2314129" y="8840539"/>
            <a:ext cx="1016645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9" name="Text 84"/>
          <p:cNvSpPr/>
          <p:nvPr/>
        </p:nvSpPr>
        <p:spPr>
          <a:xfrm>
            <a:off x="2418904" y="8945314"/>
            <a:ext cx="80709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군인/경찰/소방</a:t>
            </a:r>
            <a:endParaRPr lang="en-US" sz="975" dirty="0"/>
          </a:p>
        </p:txBody>
      </p:sp>
      <p:sp>
        <p:nvSpPr>
          <p:cNvPr id="90" name="Shape 85"/>
          <p:cNvSpPr/>
          <p:nvPr/>
        </p:nvSpPr>
        <p:spPr>
          <a:xfrm>
            <a:off x="3406973" y="8840539"/>
            <a:ext cx="499914" cy="3524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3511748" y="8945314"/>
            <a:ext cx="2903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</a:t>
            </a:r>
            <a:endParaRPr lang="en-US" sz="975" dirty="0"/>
          </a:p>
        </p:txBody>
      </p:sp>
      <p:sp>
        <p:nvSpPr>
          <p:cNvPr id="92" name="Shape 87"/>
          <p:cNvSpPr/>
          <p:nvPr/>
        </p:nvSpPr>
        <p:spPr>
          <a:xfrm>
            <a:off x="1524000" y="9402514"/>
            <a:ext cx="4191000" cy="628650"/>
          </a:xfrm>
          <a:prstGeom prst="roundRect">
            <a:avLst>
              <a:gd name="adj" fmla="val 21212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9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6875" y="9640639"/>
            <a:ext cx="138559" cy="152400"/>
          </a:xfrm>
          <a:prstGeom prst="rect">
            <a:avLst/>
          </a:prstGeom>
        </p:spPr>
      </p:pic>
      <p:sp>
        <p:nvSpPr>
          <p:cNvPr id="94" name="Text 88"/>
          <p:cNvSpPr/>
          <p:nvPr/>
        </p:nvSpPr>
        <p:spPr>
          <a:xfrm>
            <a:off x="1900684" y="9545389"/>
            <a:ext cx="37815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 조건은 상대방에게 공개되지 않아요. 회차 추천과 인원 구성 참고용으로만 사용됩니다.</a:t>
            </a:r>
            <a:endParaRPr lang="en-US" sz="900" dirty="0"/>
          </a:p>
        </p:txBody>
      </p:sp>
      <p:sp>
        <p:nvSpPr>
          <p:cNvPr id="95" name="Shape 89"/>
          <p:cNvSpPr/>
          <p:nvPr/>
        </p:nvSpPr>
        <p:spPr>
          <a:xfrm>
            <a:off x="1524000" y="9782175"/>
            <a:ext cx="419100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96" name="Text 90"/>
          <p:cNvSpPr/>
          <p:nvPr/>
        </p:nvSpPr>
        <p:spPr>
          <a:xfrm>
            <a:off x="1651635" y="9782175"/>
            <a:ext cx="393573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1275" dirty="0"/>
          </a:p>
        </p:txBody>
      </p:sp>
      <p:sp>
        <p:nvSpPr>
          <p:cNvPr id="97" name="Shape 91"/>
          <p:cNvSpPr/>
          <p:nvPr/>
        </p:nvSpPr>
        <p:spPr>
          <a:xfrm>
            <a:off x="2981325" y="10458450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98" name="Text 92"/>
          <p:cNvSpPr/>
          <p:nvPr/>
        </p:nvSpPr>
        <p:spPr>
          <a:xfrm>
            <a:off x="7048500" y="3718173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· 선호 조건</a:t>
            </a:r>
            <a:endParaRPr lang="en-US" sz="1200" dirty="0"/>
          </a:p>
        </p:txBody>
      </p:sp>
      <p:sp>
        <p:nvSpPr>
          <p:cNvPr id="99" name="Text 93"/>
          <p:cNvSpPr/>
          <p:nvPr/>
        </p:nvSpPr>
        <p:spPr>
          <a:xfrm>
            <a:off x="7048500" y="4118223"/>
            <a:ext cx="1059561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"상관없음도 좋은 선택이에요."</a:t>
            </a:r>
            <a:endParaRPr lang="en-US" sz="5700" dirty="0"/>
          </a:p>
        </p:txBody>
      </p:sp>
      <p:sp>
        <p:nvSpPr>
          <p:cNvPr id="100" name="Text 94"/>
          <p:cNvSpPr/>
          <p:nvPr/>
        </p:nvSpPr>
        <p:spPr>
          <a:xfrm>
            <a:off x="7048500" y="5920234"/>
            <a:ext cx="706374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민감한 선호 조건은 부드러운 문구로 — "조심했으면 하는 직군"으로 표현.</a:t>
            </a:r>
            <a:endParaRPr lang="en-US" sz="1650" dirty="0"/>
          </a:p>
        </p:txBody>
      </p:sp>
      <p:sp>
        <p:nvSpPr>
          <p:cNvPr id="101" name="Text 95"/>
          <p:cNvSpPr/>
          <p:nvPr/>
        </p:nvSpPr>
        <p:spPr>
          <a:xfrm>
            <a:off x="7124700" y="6549777"/>
            <a:ext cx="68770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 나이대는 범위 슬라이더 · 상관없음 토글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이상형 키 · MBTI · 종교는 다중 칩 + "상관없음"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"상대방에게 공개되지 않아요" 신뢰 안내 카드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857250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990600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62025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62025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1095375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119188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1119188"/>
            <a:ext cx="228600" cy="1047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85900" y="14382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1533525"/>
            <a:ext cx="152400" cy="152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943100" y="1581150"/>
            <a:ext cx="3538984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2" name="Shape 7"/>
          <p:cNvSpPr/>
          <p:nvPr/>
        </p:nvSpPr>
        <p:spPr>
          <a:xfrm>
            <a:off x="1943100" y="1581150"/>
            <a:ext cx="3538984" cy="5715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3" name="Text 8"/>
          <p:cNvSpPr/>
          <p:nvPr/>
        </p:nvSpPr>
        <p:spPr>
          <a:xfrm>
            <a:off x="5596384" y="1547813"/>
            <a:ext cx="2329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825" dirty="0"/>
          </a:p>
        </p:txBody>
      </p:sp>
      <p:sp>
        <p:nvSpPr>
          <p:cNvPr id="14" name="Text 9"/>
          <p:cNvSpPr/>
          <p:nvPr/>
        </p:nvSpPr>
        <p:spPr>
          <a:xfrm>
            <a:off x="1562100" y="1952625"/>
            <a:ext cx="423824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kern="0" spc="-10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안전한 오브닝을 위해 기본 인증을 진행합니다.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1562100" y="2647950"/>
            <a:ext cx="4238244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제출된 인증 자료는 운영진 확인용으로만 사용돼요.</a:t>
            </a:r>
            <a:endParaRPr lang="en-US" sz="975" dirty="0"/>
          </a:p>
        </p:txBody>
      </p:sp>
      <p:sp>
        <p:nvSpPr>
          <p:cNvPr id="16" name="Shape 11"/>
          <p:cNvSpPr/>
          <p:nvPr/>
        </p:nvSpPr>
        <p:spPr>
          <a:xfrm>
            <a:off x="1524000" y="3068389"/>
            <a:ext cx="4191000" cy="704850"/>
          </a:xfrm>
          <a:prstGeom prst="roundRect">
            <a:avLst>
              <a:gd name="adj" fmla="val 24324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704975" y="3249364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DDEBDD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0700" y="3335089"/>
            <a:ext cx="171450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162175" y="3268414"/>
            <a:ext cx="77524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휴대폰 인증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2162175" y="3439864"/>
            <a:ext cx="77524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010-****-2398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5162401" y="3320802"/>
            <a:ext cx="371624" cy="200025"/>
          </a:xfrm>
          <a:prstGeom prst="roundRect">
            <a:avLst>
              <a:gd name="adj" fmla="val 50000"/>
            </a:avLst>
          </a:prstGeom>
          <a:solidFill>
            <a:srgbClr val="DDEBDD"/>
          </a:solidFill>
          <a:ln/>
        </p:spPr>
      </p:sp>
      <p:sp>
        <p:nvSpPr>
          <p:cNvPr id="22" name="Text 16"/>
          <p:cNvSpPr/>
          <p:nvPr/>
        </p:nvSpPr>
        <p:spPr>
          <a:xfrm>
            <a:off x="5257651" y="3358902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25" dirty="0"/>
          </a:p>
        </p:txBody>
      </p:sp>
      <p:sp>
        <p:nvSpPr>
          <p:cNvPr id="23" name="Text 17"/>
          <p:cNvSpPr/>
          <p:nvPr/>
        </p:nvSpPr>
        <p:spPr>
          <a:xfrm>
            <a:off x="1524000" y="3982789"/>
            <a:ext cx="683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사진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533876" y="4011364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825" dirty="0"/>
          </a:p>
        </p:txBody>
      </p:sp>
      <p:sp>
        <p:nvSpPr>
          <p:cNvPr id="25" name="Shape 19"/>
          <p:cNvSpPr/>
          <p:nvPr/>
        </p:nvSpPr>
        <p:spPr>
          <a:xfrm>
            <a:off x="1524000" y="4230439"/>
            <a:ext cx="857250" cy="857250"/>
          </a:xfrm>
          <a:prstGeom prst="roundRect">
            <a:avLst>
              <a:gd name="adj" fmla="val 20000"/>
            </a:avLst>
          </a:prstGeom>
          <a:solidFill>
            <a:srgbClr val="F1E3D0"/>
          </a:solidFill>
          <a:ln w="9525">
            <a:solidFill>
              <a:srgbClr val="D9C5AA"/>
            </a:solidFill>
            <a:prstDash val="dash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7850" y="4478089"/>
            <a:ext cx="209550" cy="2095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70174" y="4725739"/>
            <a:ext cx="24095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2476500" y="4230439"/>
            <a:ext cx="857250" cy="857250"/>
          </a:xfrm>
          <a:prstGeom prst="roundRect">
            <a:avLst>
              <a:gd name="adj" fmla="val 20000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dash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0350" y="4554289"/>
            <a:ext cx="209550" cy="20955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3429000" y="4230439"/>
            <a:ext cx="857250" cy="857250"/>
          </a:xfrm>
          <a:prstGeom prst="roundRect">
            <a:avLst>
              <a:gd name="adj" fmla="val 20000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dash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2850" y="4554289"/>
            <a:ext cx="209550" cy="20955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524000" y="5297239"/>
            <a:ext cx="9094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직장 / 신분 인증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4649688" y="5325814"/>
            <a:ext cx="114151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— 회차 신청 시 필수</a:t>
            </a:r>
            <a:endParaRPr lang="en-US" sz="825" dirty="0"/>
          </a:p>
        </p:txBody>
      </p:sp>
      <p:sp>
        <p:nvSpPr>
          <p:cNvPr id="34" name="Shape 25"/>
          <p:cNvSpPr/>
          <p:nvPr/>
        </p:nvSpPr>
        <p:spPr>
          <a:xfrm>
            <a:off x="1524000" y="5544889"/>
            <a:ext cx="4191000" cy="685800"/>
          </a:xfrm>
          <a:prstGeom prst="roundRect">
            <a:avLst>
              <a:gd name="adj" fmla="val 25000"/>
            </a:avLst>
          </a:prstGeom>
          <a:solidFill>
            <a:srgbClr val="7A1F2B"/>
          </a:solidFill>
          <a:ln w="19050">
            <a:solidFill>
              <a:srgbClr val="F5DFA8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1695450" y="571633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5DFA8">
              <a:alpha val="18000"/>
            </a:srgbClr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1175" y="5802064"/>
            <a:ext cx="171450" cy="17145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152650" y="5735389"/>
            <a:ext cx="31983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명함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2152650" y="5916364"/>
            <a:ext cx="31983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준비됨</a:t>
            </a:r>
            <a:endParaRPr lang="en-US" sz="825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2100" y="5802064"/>
            <a:ext cx="171450" cy="17145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1524000" y="6325939"/>
            <a:ext cx="419100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1685925" y="648786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71650" y="6573589"/>
            <a:ext cx="171450" cy="17145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2143125" y="6506914"/>
            <a:ext cx="35122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사원증</a:t>
            </a:r>
            <a:endParaRPr lang="en-US" sz="1050" dirty="0"/>
          </a:p>
        </p:txBody>
      </p:sp>
      <p:sp>
        <p:nvSpPr>
          <p:cNvPr id="44" name="Text 32"/>
          <p:cNvSpPr/>
          <p:nvPr/>
        </p:nvSpPr>
        <p:spPr>
          <a:xfrm>
            <a:off x="2143125" y="6687889"/>
            <a:ext cx="351224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미선택</a:t>
            </a:r>
            <a:endParaRPr lang="en-US" sz="825" dirty="0"/>
          </a:p>
        </p:txBody>
      </p:sp>
      <p:sp>
        <p:nvSpPr>
          <p:cNvPr id="45" name="Shape 33"/>
          <p:cNvSpPr/>
          <p:nvPr/>
        </p:nvSpPr>
        <p:spPr>
          <a:xfrm>
            <a:off x="1524000" y="7087939"/>
            <a:ext cx="419100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1685925" y="724986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71650" y="7335589"/>
            <a:ext cx="171450" cy="17145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2143125" y="7268914"/>
            <a:ext cx="35122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이메일</a:t>
            </a:r>
            <a:endParaRPr lang="en-US" sz="1050" dirty="0"/>
          </a:p>
        </p:txBody>
      </p:sp>
      <p:sp>
        <p:nvSpPr>
          <p:cNvPr id="49" name="Text 36"/>
          <p:cNvSpPr/>
          <p:nvPr/>
        </p:nvSpPr>
        <p:spPr>
          <a:xfrm>
            <a:off x="2143125" y="7449889"/>
            <a:ext cx="351224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미선택</a:t>
            </a:r>
            <a:endParaRPr lang="en-US" sz="825" dirty="0"/>
          </a:p>
        </p:txBody>
      </p:sp>
      <p:sp>
        <p:nvSpPr>
          <p:cNvPr id="50" name="Shape 37"/>
          <p:cNvSpPr/>
          <p:nvPr/>
        </p:nvSpPr>
        <p:spPr>
          <a:xfrm>
            <a:off x="1524000" y="7849939"/>
            <a:ext cx="4191000" cy="666750"/>
          </a:xfrm>
          <a:prstGeom prst="roundRect">
            <a:avLst>
              <a:gd name="adj" fmla="val 2571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1" name="Shape 38"/>
          <p:cNvSpPr/>
          <p:nvPr/>
        </p:nvSpPr>
        <p:spPr>
          <a:xfrm>
            <a:off x="1685925" y="8011864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1650" y="8097589"/>
            <a:ext cx="171450" cy="171450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2143125" y="8030914"/>
            <a:ext cx="35122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사업자등록증</a:t>
            </a:r>
            <a:endParaRPr lang="en-US" sz="1050" dirty="0"/>
          </a:p>
        </p:txBody>
      </p:sp>
      <p:sp>
        <p:nvSpPr>
          <p:cNvPr id="54" name="Text 40"/>
          <p:cNvSpPr/>
          <p:nvPr/>
        </p:nvSpPr>
        <p:spPr>
          <a:xfrm>
            <a:off x="2143125" y="8211889"/>
            <a:ext cx="351224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미선택</a:t>
            </a:r>
            <a:endParaRPr lang="en-US" sz="825" dirty="0"/>
          </a:p>
        </p:txBody>
      </p:sp>
      <p:sp>
        <p:nvSpPr>
          <p:cNvPr id="55" name="Shape 41"/>
          <p:cNvSpPr/>
          <p:nvPr/>
        </p:nvSpPr>
        <p:spPr>
          <a:xfrm>
            <a:off x="1524000" y="9782175"/>
            <a:ext cx="419100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56" name="Text 42"/>
          <p:cNvSpPr/>
          <p:nvPr/>
        </p:nvSpPr>
        <p:spPr>
          <a:xfrm>
            <a:off x="1651635" y="9782175"/>
            <a:ext cx="393573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시작하기</a:t>
            </a:r>
            <a:endParaRPr lang="en-US" sz="1275" dirty="0"/>
          </a:p>
        </p:txBody>
      </p:sp>
      <p:sp>
        <p:nvSpPr>
          <p:cNvPr id="57" name="Shape 43"/>
          <p:cNvSpPr/>
          <p:nvPr/>
        </p:nvSpPr>
        <p:spPr>
          <a:xfrm>
            <a:off x="2981325" y="10458450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58" name="Text 44"/>
          <p:cNvSpPr/>
          <p:nvPr/>
        </p:nvSpPr>
        <p:spPr>
          <a:xfrm>
            <a:off x="7048500" y="3718173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· 인증</a:t>
            </a:r>
            <a:endParaRPr lang="en-US" sz="1200" dirty="0"/>
          </a:p>
        </p:txBody>
      </p:sp>
      <p:sp>
        <p:nvSpPr>
          <p:cNvPr id="59" name="Text 45"/>
          <p:cNvSpPr/>
          <p:nvPr/>
        </p:nvSpPr>
        <p:spPr>
          <a:xfrm>
            <a:off x="7048500" y="4118223"/>
            <a:ext cx="1059561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안전한 오브닝을 위한 최소 인증.</a:t>
            </a:r>
            <a:endParaRPr lang="en-US" sz="5700" dirty="0"/>
          </a:p>
        </p:txBody>
      </p:sp>
      <p:sp>
        <p:nvSpPr>
          <p:cNvPr id="60" name="Text 46"/>
          <p:cNvSpPr/>
          <p:nvPr/>
        </p:nvSpPr>
        <p:spPr>
          <a:xfrm>
            <a:off x="7048500" y="5920234"/>
            <a:ext cx="706374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 err="1" smtClean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휴대폰은</a:t>
            </a:r>
            <a:r>
              <a:rPr lang="en-US" sz="1650" dirty="0" smtClean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필수, 직장/신분 자료는 선택 — 회차 </a:t>
            </a:r>
            <a:r>
              <a:rPr lang="en-US" sz="1650" dirty="0" err="1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</a:t>
            </a: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50" dirty="0" smtClean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 </a:t>
            </a: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필수로 전환 가능.</a:t>
            </a:r>
            <a:endParaRPr lang="en-US" sz="1650" dirty="0"/>
          </a:p>
        </p:txBody>
      </p:sp>
      <p:sp>
        <p:nvSpPr>
          <p:cNvPr id="61" name="Text 47"/>
          <p:cNvSpPr/>
          <p:nvPr/>
        </p:nvSpPr>
        <p:spPr>
          <a:xfrm>
            <a:off x="7124700" y="6549777"/>
            <a:ext cx="68770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휴대폰 인증 완료 카드 (성공 피드백)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사진 3 슬롯 · 대표 + 추가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직장 인증: 명함 · 사원증 · 회사 메일 · 사업자등록증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857250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990600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62025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62025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1095375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119188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1119188"/>
            <a:ext cx="228600" cy="10477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100" y="1571625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09750" y="1595438"/>
            <a:ext cx="13970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 ANALYSIS</a:t>
            </a:r>
            <a:endParaRPr lang="en-US" sz="825" dirty="0"/>
          </a:p>
        </p:txBody>
      </p:sp>
      <p:sp>
        <p:nvSpPr>
          <p:cNvPr id="11" name="Text 6"/>
          <p:cNvSpPr/>
          <p:nvPr/>
        </p:nvSpPr>
        <p:spPr>
          <a:xfrm>
            <a:off x="1562100" y="1857375"/>
            <a:ext cx="423824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kern="0" spc="-22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케미 분석이 완료되었어요.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1562100" y="2638425"/>
            <a:ext cx="4238244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성향을 가장 잘 닮은 케미 캐릭터를 찾았어요.</a:t>
            </a:r>
            <a:endParaRPr lang="en-US" sz="975" dirty="0"/>
          </a:p>
        </p:txBody>
      </p:sp>
      <p:sp>
        <p:nvSpPr>
          <p:cNvPr id="13" name="Shape 8"/>
          <p:cNvSpPr/>
          <p:nvPr/>
        </p:nvSpPr>
        <p:spPr>
          <a:xfrm>
            <a:off x="1524000" y="3039814"/>
            <a:ext cx="4191000" cy="2560141"/>
          </a:xfrm>
          <a:prstGeom prst="roundRect">
            <a:avLst>
              <a:gd name="adj" fmla="val 10417"/>
            </a:avLst>
          </a:prstGeom>
          <a:solidFill>
            <a:srgbClr val="551321"/>
          </a:solidFill>
          <a:ln/>
        </p:spPr>
      </p:sp>
      <p:sp>
        <p:nvSpPr>
          <p:cNvPr id="14" name="Shape 9"/>
          <p:cNvSpPr/>
          <p:nvPr/>
        </p:nvSpPr>
        <p:spPr>
          <a:xfrm>
            <a:off x="4191000" y="2658814"/>
            <a:ext cx="1905000" cy="1905000"/>
          </a:xfrm>
          <a:prstGeom prst="ellipse">
            <a:avLst/>
          </a:prstGeom>
          <a:ln w="9525">
            <a:solidFill>
              <a:srgbClr val="F5DFA8">
                <a:alpha val="2000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476750" y="2944564"/>
            <a:ext cx="1333500" cy="1333500"/>
          </a:xfrm>
          <a:prstGeom prst="ellipse">
            <a:avLst/>
          </a:prstGeom>
          <a:ln w="9525">
            <a:solidFill>
              <a:srgbClr val="F5DFA8">
                <a:alpha val="35000"/>
              </a:srgbClr>
            </a:solidFill>
            <a:prstDash val="dash"/>
          </a:ln>
        </p:spPr>
      </p:sp>
      <p:sp>
        <p:nvSpPr>
          <p:cNvPr id="16" name="Text 11"/>
          <p:cNvSpPr/>
          <p:nvPr/>
        </p:nvSpPr>
        <p:spPr>
          <a:xfrm>
            <a:off x="1733550" y="3287464"/>
            <a:ext cx="388505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99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CHEMISTRY</a:t>
            </a:r>
            <a:endParaRPr lang="en-US" sz="825" dirty="0"/>
          </a:p>
        </p:txBody>
      </p:sp>
      <p:sp>
        <p:nvSpPr>
          <p:cNvPr id="17" name="Shape 12"/>
          <p:cNvSpPr/>
          <p:nvPr/>
        </p:nvSpPr>
        <p:spPr>
          <a:xfrm>
            <a:off x="1733550" y="3582739"/>
            <a:ext cx="800100" cy="800100"/>
          </a:xfrm>
          <a:prstGeom prst="roundRect">
            <a:avLst>
              <a:gd name="adj" fmla="val 285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DFA8">
                <a:alpha val="35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025997" y="3778002"/>
            <a:ext cx="29125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kern="0" spc="-27" dirty="0">
                <a:solidFill>
                  <a:srgbClr val="F5D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700" dirty="0"/>
          </a:p>
        </p:txBody>
      </p:sp>
      <p:sp>
        <p:nvSpPr>
          <p:cNvPr id="19" name="Text 14"/>
          <p:cNvSpPr/>
          <p:nvPr/>
        </p:nvSpPr>
        <p:spPr>
          <a:xfrm>
            <a:off x="2686050" y="3739902"/>
            <a:ext cx="124182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kern="0" spc="-24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티라미수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2686050" y="4092327"/>
            <a:ext cx="12418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5DFA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Tiramisu · 감성 · 진중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733550" y="4554289"/>
            <a:ext cx="3885057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부드럽지만 깊은 향을 가진 사람. 가까워질수록 진심이 묻어나는 타입이에요.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1733550" y="5133231"/>
            <a:ext cx="371624" cy="219075"/>
          </a:xfrm>
          <a:prstGeom prst="roundRect">
            <a:avLst>
              <a:gd name="adj" fmla="val 50000"/>
            </a:avLst>
          </a:prstGeom>
          <a:solidFill>
            <a:srgbClr val="F5DFA8">
              <a:alpha val="18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1828800" y="5180856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</a:t>
            </a:r>
            <a:endParaRPr lang="en-US" sz="825" dirty="0"/>
          </a:p>
        </p:txBody>
      </p:sp>
      <p:sp>
        <p:nvSpPr>
          <p:cNvPr id="24" name="Shape 19"/>
          <p:cNvSpPr/>
          <p:nvPr/>
        </p:nvSpPr>
        <p:spPr>
          <a:xfrm>
            <a:off x="2162324" y="5133231"/>
            <a:ext cx="371624" cy="219075"/>
          </a:xfrm>
          <a:prstGeom prst="roundRect">
            <a:avLst>
              <a:gd name="adj" fmla="val 50000"/>
            </a:avLst>
          </a:prstGeom>
          <a:solidFill>
            <a:srgbClr val="F5DFA8">
              <a:alpha val="18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2257574" y="5180856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진중</a:t>
            </a:r>
            <a:endParaRPr lang="en-US" sz="825" dirty="0"/>
          </a:p>
        </p:txBody>
      </p:sp>
      <p:sp>
        <p:nvSpPr>
          <p:cNvPr id="26" name="Shape 21"/>
          <p:cNvSpPr/>
          <p:nvPr/>
        </p:nvSpPr>
        <p:spPr>
          <a:xfrm>
            <a:off x="2591098" y="5133231"/>
            <a:ext cx="371624" cy="219075"/>
          </a:xfrm>
          <a:prstGeom prst="roundRect">
            <a:avLst>
              <a:gd name="adj" fmla="val 50000"/>
            </a:avLst>
          </a:prstGeom>
          <a:solidFill>
            <a:srgbClr val="F5DFA8">
              <a:alpha val="18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2686348" y="5180856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따뜻</a:t>
            </a:r>
            <a:endParaRPr lang="en-US" sz="825" dirty="0"/>
          </a:p>
        </p:txBody>
      </p:sp>
      <p:sp>
        <p:nvSpPr>
          <p:cNvPr id="28" name="Shape 23"/>
          <p:cNvSpPr/>
          <p:nvPr/>
        </p:nvSpPr>
        <p:spPr>
          <a:xfrm>
            <a:off x="3019871" y="5133231"/>
            <a:ext cx="667494" cy="219075"/>
          </a:xfrm>
          <a:prstGeom prst="roundRect">
            <a:avLst>
              <a:gd name="adj" fmla="val 50000"/>
            </a:avLst>
          </a:prstGeom>
          <a:solidFill>
            <a:srgbClr val="F5DFA8">
              <a:alpha val="1800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3115121" y="5180856"/>
            <a:ext cx="55319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은은한 깊이</a:t>
            </a:r>
            <a:endParaRPr lang="en-US" sz="825" dirty="0"/>
          </a:p>
        </p:txBody>
      </p:sp>
      <p:sp>
        <p:nvSpPr>
          <p:cNvPr id="30" name="Shape 25"/>
          <p:cNvSpPr/>
          <p:nvPr/>
        </p:nvSpPr>
        <p:spPr>
          <a:xfrm>
            <a:off x="1524000" y="5828556"/>
            <a:ext cx="4191000" cy="727472"/>
          </a:xfrm>
          <a:prstGeom prst="roundRect">
            <a:avLst>
              <a:gd name="adj" fmla="val 28805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975" y="6009531"/>
            <a:ext cx="152400" cy="1524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952625" y="6009531"/>
            <a:ext cx="2972657" cy="403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0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캐릭터는 나의 기본 케미 캐릭터예요. 회차 참여 시에는 오브닝 전용 닉네임이 새롭게 배정될 수 있어요.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1524000" y="9782175"/>
            <a:ext cx="1841153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133302" y="9953625"/>
            <a:ext cx="6225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</a:t>
            </a:r>
            <a:endParaRPr lang="en-US" sz="1275" dirty="0"/>
          </a:p>
        </p:txBody>
      </p:sp>
      <p:sp>
        <p:nvSpPr>
          <p:cNvPr id="35" name="Shape 29"/>
          <p:cNvSpPr/>
          <p:nvPr/>
        </p:nvSpPr>
        <p:spPr>
          <a:xfrm>
            <a:off x="3460403" y="9782175"/>
            <a:ext cx="2254597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4116139" y="9953625"/>
            <a:ext cx="9429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보러가기</a:t>
            </a:r>
            <a:endParaRPr lang="en-US" sz="1275" dirty="0"/>
          </a:p>
        </p:txBody>
      </p:sp>
      <p:sp>
        <p:nvSpPr>
          <p:cNvPr id="37" name="Shape 31"/>
          <p:cNvSpPr/>
          <p:nvPr/>
        </p:nvSpPr>
        <p:spPr>
          <a:xfrm>
            <a:off x="2981325" y="10458450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38" name="Text 32"/>
          <p:cNvSpPr/>
          <p:nvPr/>
        </p:nvSpPr>
        <p:spPr>
          <a:xfrm>
            <a:off x="7048500" y="3718173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 · 분석 완료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7048500" y="4118223"/>
            <a:ext cx="1059561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"당신의 케미 캐릭터가 준비되었어요."</a:t>
            </a:r>
            <a:endParaRPr lang="en-US" sz="5700" dirty="0"/>
          </a:p>
        </p:txBody>
      </p:sp>
      <p:sp>
        <p:nvSpPr>
          <p:cNvPr id="40" name="Text 34"/>
          <p:cNvSpPr/>
          <p:nvPr/>
        </p:nvSpPr>
        <p:spPr>
          <a:xfrm>
            <a:off x="7048500" y="5920234"/>
            <a:ext cx="706374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가입 마지막에 즐거운 보상 — 나만의 케미 캐릭터 리빌.</a:t>
            </a:r>
            <a:endParaRPr lang="en-US" sz="1650" dirty="0"/>
          </a:p>
        </p:txBody>
      </p:sp>
      <p:sp>
        <p:nvSpPr>
          <p:cNvPr id="41" name="Text 35"/>
          <p:cNvSpPr/>
          <p:nvPr/>
        </p:nvSpPr>
        <p:spPr>
          <a:xfrm>
            <a:off x="7124700" y="6549777"/>
            <a:ext cx="68770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버건디 그라데이션 카드 + 골드 모노그램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회차별 닉네임은 따로 배정될 수 있음을 안내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 / 일정 보러가기 2 CTA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444430"/>
          </a:xfrm>
          <a:prstGeom prst="rect">
            <a:avLst/>
          </a:prstGeom>
          <a:solidFill>
            <a:srgbClr val="8A0214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143000"/>
            <a:ext cx="160896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USER APP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333500" y="1619250"/>
            <a:ext cx="16089630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0" kern="0" spc="-5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4 탭</a:t>
            </a:r>
            <a:endParaRPr lang="en-US" sz="10500" dirty="0"/>
          </a:p>
        </p:txBody>
      </p:sp>
      <p:sp>
        <p:nvSpPr>
          <p:cNvPr id="5" name="Text 3"/>
          <p:cNvSpPr/>
          <p:nvPr/>
        </p:nvSpPr>
        <p:spPr>
          <a:xfrm>
            <a:off x="1333500" y="3286125"/>
            <a:ext cx="1079182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5DFA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 · 일정 · 케미Lab · 오브닝 · 마이 5개 탭 중 신청자 일반 흐름의 4개 화면.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857250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990600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62025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62025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1095375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119188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1119188"/>
            <a:ext cx="228600" cy="10477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1438275"/>
            <a:ext cx="209550" cy="2095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09750" y="1447800"/>
            <a:ext cx="115118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Chemistry Oven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2550" y="1438275"/>
            <a:ext cx="209550" cy="20955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5450" y="1438275"/>
            <a:ext cx="209550" cy="20955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1524000" y="1762125"/>
            <a:ext cx="4191000" cy="2476500"/>
          </a:xfrm>
          <a:prstGeom prst="roundRect">
            <a:avLst>
              <a:gd name="adj" fmla="val 10000"/>
            </a:avLst>
          </a:prstGeom>
          <a:solidFill>
            <a:srgbClr val="FBE6D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1533525" y="1771650"/>
            <a:ext cx="4171950" cy="2457450"/>
          </a:xfrm>
          <a:prstGeom prst="rect">
            <a:avLst/>
          </a:prstGeom>
          <a:solidFill>
            <a:srgbClr val="FFEED2">
              <a:alpha val="90000"/>
            </a:srgbClr>
          </a:solidFill>
          <a:ln/>
        </p:spPr>
      </p:sp>
      <p:sp>
        <p:nvSpPr>
          <p:cNvPr id="15" name="Shape 8"/>
          <p:cNvSpPr/>
          <p:nvPr/>
        </p:nvSpPr>
        <p:spPr>
          <a:xfrm>
            <a:off x="1704975" y="1943100"/>
            <a:ext cx="3829050" cy="2114550"/>
          </a:xfrm>
          <a:prstGeom prst="roundRect">
            <a:avLst>
              <a:gd name="adj" fmla="val 8108"/>
            </a:avLst>
          </a:prstGeom>
          <a:blipFill>
            <a:blip r:embed="rId8"/>
            <a:stretch>
              <a:fillRect/>
            </a:stretch>
          </a:blipFill>
          <a:ln w="9525">
            <a:solidFill>
              <a:srgbClr val="D9C5AA"/>
            </a:solidFill>
            <a:prstDash val="dash"/>
          </a:ln>
        </p:spPr>
      </p:sp>
      <p:sp>
        <p:nvSpPr>
          <p:cNvPr id="18" name="Text 11"/>
          <p:cNvSpPr/>
          <p:nvPr/>
        </p:nvSpPr>
        <p:spPr>
          <a:xfrm>
            <a:off x="1524000" y="4505325"/>
            <a:ext cx="431673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kern="0" spc="-22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디저트보다 더 달콤한 순간.</a:t>
            </a:r>
            <a:endParaRPr lang="en-US" sz="2250" dirty="0"/>
          </a:p>
        </p:txBody>
      </p:sp>
      <p:sp>
        <p:nvSpPr>
          <p:cNvPr id="19" name="Text 12"/>
          <p:cNvSpPr/>
          <p:nvPr/>
        </p:nvSpPr>
        <p:spPr>
          <a:xfrm>
            <a:off x="1524000" y="5276850"/>
            <a:ext cx="4316730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0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사람과 사람이 만날 때 피어나는 케미. AI가 연결하고, 베이킹이 가깝게 만듭니다.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1524000" y="6008191"/>
            <a:ext cx="4191000" cy="2571750"/>
          </a:xfrm>
          <a:prstGeom prst="roundRect">
            <a:avLst>
              <a:gd name="adj" fmla="val 8148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1533525" y="6017716"/>
            <a:ext cx="4171950" cy="12573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22" name="Shape 15"/>
          <p:cNvSpPr/>
          <p:nvPr/>
        </p:nvSpPr>
        <p:spPr>
          <a:xfrm>
            <a:off x="1533525" y="6017716"/>
            <a:ext cx="4171950" cy="1257300"/>
          </a:xfrm>
          <a:prstGeom prst="rect">
            <a:avLst/>
          </a:prstGeom>
          <a:solidFill>
            <a:srgbClr val="F5DFA8">
              <a:alpha val="18000"/>
            </a:srgbClr>
          </a:solidFill>
          <a:ln/>
        </p:spPr>
      </p:sp>
      <p:sp>
        <p:nvSpPr>
          <p:cNvPr id="23" name="Shape 16"/>
          <p:cNvSpPr/>
          <p:nvPr/>
        </p:nvSpPr>
        <p:spPr>
          <a:xfrm>
            <a:off x="1704975" y="6170116"/>
            <a:ext cx="607070" cy="228600"/>
          </a:xfrm>
          <a:prstGeom prst="roundRect">
            <a:avLst>
              <a:gd name="adj" fmla="val 50000"/>
            </a:avLst>
          </a:prstGeom>
          <a:solidFill>
            <a:srgbClr val="DDEBDD"/>
          </a:solidFill>
          <a:ln/>
        </p:spPr>
      </p:sp>
      <p:sp>
        <p:nvSpPr>
          <p:cNvPr id="24" name="Text 17"/>
          <p:cNvSpPr/>
          <p:nvPr/>
        </p:nvSpPr>
        <p:spPr>
          <a:xfrm>
            <a:off x="1800225" y="6217741"/>
            <a:ext cx="492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3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가능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2388245" y="6170116"/>
            <a:ext cx="421035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19"/>
          <p:cNvSpPr/>
          <p:nvPr/>
        </p:nvSpPr>
        <p:spPr>
          <a:xfrm>
            <a:off x="2483495" y="6217741"/>
            <a:ext cx="30673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D-12</a:t>
            </a:r>
            <a:endParaRPr lang="en-US" sz="825" dirty="0"/>
          </a:p>
        </p:txBody>
      </p:sp>
      <p:sp>
        <p:nvSpPr>
          <p:cNvPr id="27" name="Text 20"/>
          <p:cNvSpPr/>
          <p:nvPr/>
        </p:nvSpPr>
        <p:spPr>
          <a:xfrm>
            <a:off x="1704975" y="6608266"/>
            <a:ext cx="394392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케미스트리오븐 8기</a:t>
            </a:r>
            <a:endParaRPr lang="en-US" sz="1950" dirty="0"/>
          </a:p>
        </p:txBody>
      </p:sp>
      <p:sp>
        <p:nvSpPr>
          <p:cNvPr id="28" name="Text 21"/>
          <p:cNvSpPr/>
          <p:nvPr/>
        </p:nvSpPr>
        <p:spPr>
          <a:xfrm>
            <a:off x="1704975" y="6979741"/>
            <a:ext cx="394392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4:4 소셜 베이킹 매칭</a:t>
            </a:r>
            <a:endParaRPr lang="en-US" sz="975" dirty="0"/>
          </a:p>
        </p:txBody>
      </p:sp>
      <p:sp>
        <p:nvSpPr>
          <p:cNvPr id="29" name="Shape 22"/>
          <p:cNvSpPr/>
          <p:nvPr/>
        </p:nvSpPr>
        <p:spPr>
          <a:xfrm>
            <a:off x="4657725" y="5731966"/>
            <a:ext cx="1333500" cy="1333500"/>
          </a:xfrm>
          <a:prstGeom prst="ellipse">
            <a:avLst/>
          </a:prstGeom>
          <a:ln w="9525">
            <a:solidFill>
              <a:srgbClr val="F5DFA8">
                <a:alpha val="25000"/>
              </a:srgbClr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4975" y="7451229"/>
            <a:ext cx="133350" cy="1333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895475" y="7446466"/>
            <a:ext cx="73134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6월 14일 (토)</a:t>
            </a:r>
            <a:endParaRPr lang="en-US" sz="938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7451229"/>
            <a:ext cx="133350" cy="13335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848100" y="7446466"/>
            <a:ext cx="98524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오후 2:00 — 6:00</a:t>
            </a:r>
            <a:endParaRPr lang="en-US" sz="938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4975" y="7651254"/>
            <a:ext cx="133350" cy="13335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895475" y="7646491"/>
            <a:ext cx="10605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성수 베이킹 스튜디오</a:t>
            </a:r>
            <a:endParaRPr lang="en-US" sz="938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0" y="7651254"/>
            <a:ext cx="133350" cy="13335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3848100" y="7646491"/>
            <a:ext cx="5729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89,000원</a:t>
            </a:r>
            <a:endParaRPr lang="en-US" sz="938" dirty="0"/>
          </a:p>
        </p:txBody>
      </p:sp>
      <p:sp>
        <p:nvSpPr>
          <p:cNvPr id="38" name="Shape 27"/>
          <p:cNvSpPr/>
          <p:nvPr/>
        </p:nvSpPr>
        <p:spPr>
          <a:xfrm>
            <a:off x="1704975" y="7922716"/>
            <a:ext cx="3829050" cy="476250"/>
          </a:xfrm>
          <a:prstGeom prst="roundRect">
            <a:avLst>
              <a:gd name="adj" fmla="val 36000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39" name="Text 28"/>
          <p:cNvSpPr/>
          <p:nvPr/>
        </p:nvSpPr>
        <p:spPr>
          <a:xfrm>
            <a:off x="3191173" y="8070354"/>
            <a:ext cx="8565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200" b="1" kern="0" spc="-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8기 신청하기</a:t>
            </a:r>
            <a:endParaRPr lang="en-US" sz="1200" dirty="0"/>
          </a:p>
        </p:txBody>
      </p:sp>
      <p:sp>
        <p:nvSpPr>
          <p:cNvPr id="40" name="Text 29"/>
          <p:cNvSpPr/>
          <p:nvPr/>
        </p:nvSpPr>
        <p:spPr>
          <a:xfrm>
            <a:off x="1524000" y="8846641"/>
            <a:ext cx="22225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케미스트리오븐은 이렇게 진행돼요</a:t>
            </a:r>
            <a:endParaRPr lang="en-US" sz="1275" dirty="0"/>
          </a:p>
        </p:txBody>
      </p:sp>
      <p:sp>
        <p:nvSpPr>
          <p:cNvPr id="41" name="Shape 30"/>
          <p:cNvSpPr/>
          <p:nvPr/>
        </p:nvSpPr>
        <p:spPr>
          <a:xfrm>
            <a:off x="1524000" y="9151441"/>
            <a:ext cx="1181100" cy="918121"/>
          </a:xfrm>
          <a:prstGeom prst="roundRect">
            <a:avLst>
              <a:gd name="adj" fmla="val 18674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1666875" y="9294316"/>
            <a:ext cx="971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50" dirty="0"/>
          </a:p>
        </p:txBody>
      </p:sp>
      <p:sp>
        <p:nvSpPr>
          <p:cNvPr id="43" name="Text 32"/>
          <p:cNvSpPr/>
          <p:nvPr/>
        </p:nvSpPr>
        <p:spPr>
          <a:xfrm>
            <a:off x="1666875" y="9599116"/>
            <a:ext cx="9715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</a:t>
            </a:r>
            <a:endParaRPr lang="en-US" sz="1050" dirty="0"/>
          </a:p>
        </p:txBody>
      </p:sp>
      <p:sp>
        <p:nvSpPr>
          <p:cNvPr id="44" name="Text 33"/>
          <p:cNvSpPr/>
          <p:nvPr/>
        </p:nvSpPr>
        <p:spPr>
          <a:xfrm>
            <a:off x="1666875" y="9780091"/>
            <a:ext cx="97155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간단한 성향 질문</a:t>
            </a:r>
            <a:endParaRPr lang="en-US" sz="825" dirty="0"/>
          </a:p>
        </p:txBody>
      </p:sp>
      <p:sp>
        <p:nvSpPr>
          <p:cNvPr id="45" name="Shape 34"/>
          <p:cNvSpPr/>
          <p:nvPr/>
        </p:nvSpPr>
        <p:spPr>
          <a:xfrm>
            <a:off x="2800350" y="9151441"/>
            <a:ext cx="1181100" cy="918121"/>
          </a:xfrm>
          <a:prstGeom prst="roundRect">
            <a:avLst>
              <a:gd name="adj" fmla="val 18674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2943225" y="9294316"/>
            <a:ext cx="971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50" dirty="0"/>
          </a:p>
        </p:txBody>
      </p:sp>
      <p:sp>
        <p:nvSpPr>
          <p:cNvPr id="47" name="Text 36"/>
          <p:cNvSpPr/>
          <p:nvPr/>
        </p:nvSpPr>
        <p:spPr>
          <a:xfrm>
            <a:off x="2943225" y="9599116"/>
            <a:ext cx="9715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케미 분석</a:t>
            </a:r>
            <a:endParaRPr lang="en-US" sz="1050" dirty="0"/>
          </a:p>
        </p:txBody>
      </p:sp>
      <p:sp>
        <p:nvSpPr>
          <p:cNvPr id="48" name="Text 37"/>
          <p:cNvSpPr/>
          <p:nvPr/>
        </p:nvSpPr>
        <p:spPr>
          <a:xfrm>
            <a:off x="2943225" y="9780091"/>
            <a:ext cx="97155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추천</a:t>
            </a:r>
            <a:endParaRPr lang="en-US" sz="825" dirty="0"/>
          </a:p>
        </p:txBody>
      </p:sp>
      <p:sp>
        <p:nvSpPr>
          <p:cNvPr id="49" name="Shape 38"/>
          <p:cNvSpPr/>
          <p:nvPr/>
        </p:nvSpPr>
        <p:spPr>
          <a:xfrm>
            <a:off x="4076700" y="9151441"/>
            <a:ext cx="1181100" cy="918121"/>
          </a:xfrm>
          <a:prstGeom prst="roundRect">
            <a:avLst>
              <a:gd name="adj" fmla="val 18674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4219575" y="9294316"/>
            <a:ext cx="971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50" dirty="0"/>
          </a:p>
        </p:txBody>
      </p:sp>
      <p:sp>
        <p:nvSpPr>
          <p:cNvPr id="51" name="Text 40"/>
          <p:cNvSpPr/>
          <p:nvPr/>
        </p:nvSpPr>
        <p:spPr>
          <a:xfrm>
            <a:off x="4219575" y="9599116"/>
            <a:ext cx="9715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</a:t>
            </a:r>
            <a:endParaRPr lang="en-US" sz="1050" dirty="0"/>
          </a:p>
        </p:txBody>
      </p:sp>
      <p:sp>
        <p:nvSpPr>
          <p:cNvPr id="52" name="Text 41"/>
          <p:cNvSpPr/>
          <p:nvPr/>
        </p:nvSpPr>
        <p:spPr>
          <a:xfrm>
            <a:off x="4219575" y="9780091"/>
            <a:ext cx="97155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회차 인원 확정</a:t>
            </a:r>
            <a:endParaRPr lang="en-US" sz="825" dirty="0"/>
          </a:p>
        </p:txBody>
      </p:sp>
      <p:sp>
        <p:nvSpPr>
          <p:cNvPr id="53" name="Shape 42"/>
          <p:cNvSpPr/>
          <p:nvPr/>
        </p:nvSpPr>
        <p:spPr>
          <a:xfrm>
            <a:off x="5353050" y="9151441"/>
            <a:ext cx="1181100" cy="918121"/>
          </a:xfrm>
          <a:prstGeom prst="roundRect">
            <a:avLst>
              <a:gd name="adj" fmla="val 18674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5495925" y="9294316"/>
            <a:ext cx="971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50" dirty="0"/>
          </a:p>
        </p:txBody>
      </p:sp>
      <p:sp>
        <p:nvSpPr>
          <p:cNvPr id="55" name="Text 44"/>
          <p:cNvSpPr/>
          <p:nvPr/>
        </p:nvSpPr>
        <p:spPr>
          <a:xfrm>
            <a:off x="5495925" y="9599116"/>
            <a:ext cx="9715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오브닝 참여</a:t>
            </a:r>
            <a:endParaRPr lang="en-US" sz="1050" dirty="0"/>
          </a:p>
        </p:txBody>
      </p:sp>
      <p:sp>
        <p:nvSpPr>
          <p:cNvPr id="56" name="Text 45"/>
          <p:cNvSpPr/>
          <p:nvPr/>
        </p:nvSpPr>
        <p:spPr>
          <a:xfrm>
            <a:off x="5495925" y="9780091"/>
            <a:ext cx="97155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베이킹 &amp; 대화</a:t>
            </a:r>
            <a:endParaRPr lang="en-US" sz="825" dirty="0"/>
          </a:p>
        </p:txBody>
      </p:sp>
      <p:sp>
        <p:nvSpPr>
          <p:cNvPr id="57" name="Shape 46"/>
          <p:cNvSpPr/>
          <p:nvPr/>
        </p:nvSpPr>
        <p:spPr>
          <a:xfrm>
            <a:off x="6629400" y="9151441"/>
            <a:ext cx="1181100" cy="918121"/>
          </a:xfrm>
          <a:prstGeom prst="roundRect">
            <a:avLst>
              <a:gd name="adj" fmla="val 18674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8" name="Text 47"/>
          <p:cNvSpPr/>
          <p:nvPr/>
        </p:nvSpPr>
        <p:spPr>
          <a:xfrm>
            <a:off x="6772275" y="9294316"/>
            <a:ext cx="971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50" dirty="0"/>
          </a:p>
        </p:txBody>
      </p:sp>
      <p:sp>
        <p:nvSpPr>
          <p:cNvPr id="59" name="Text 48"/>
          <p:cNvSpPr/>
          <p:nvPr/>
        </p:nvSpPr>
        <p:spPr>
          <a:xfrm>
            <a:off x="6772275" y="9599116"/>
            <a:ext cx="9715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결과</a:t>
            </a:r>
            <a:endParaRPr lang="en-US" sz="1050" dirty="0"/>
          </a:p>
        </p:txBody>
      </p:sp>
      <p:sp>
        <p:nvSpPr>
          <p:cNvPr id="60" name="Text 49"/>
          <p:cNvSpPr/>
          <p:nvPr/>
        </p:nvSpPr>
        <p:spPr>
          <a:xfrm>
            <a:off x="6772275" y="9780091"/>
            <a:ext cx="97155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 리포트</a:t>
            </a:r>
            <a:endParaRPr lang="en-US" sz="825" dirty="0"/>
          </a:p>
        </p:txBody>
      </p:sp>
      <p:sp>
        <p:nvSpPr>
          <p:cNvPr id="61" name="Text 50"/>
          <p:cNvSpPr/>
          <p:nvPr/>
        </p:nvSpPr>
        <p:spPr>
          <a:xfrm>
            <a:off x="1524000" y="10374362"/>
            <a:ext cx="3528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</a:t>
            </a:r>
            <a:endParaRPr lang="en-US" sz="1275" dirty="0"/>
          </a:p>
        </p:txBody>
      </p:sp>
      <p:sp>
        <p:nvSpPr>
          <p:cNvPr id="62" name="Shape 51"/>
          <p:cNvSpPr/>
          <p:nvPr/>
        </p:nvSpPr>
        <p:spPr>
          <a:xfrm>
            <a:off x="1524000" y="10679162"/>
            <a:ext cx="4191000" cy="676275"/>
          </a:xfrm>
          <a:prstGeom prst="roundRect">
            <a:avLst>
              <a:gd name="adj" fmla="val 30986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63" name="Shape 52"/>
          <p:cNvSpPr/>
          <p:nvPr/>
        </p:nvSpPr>
        <p:spPr>
          <a:xfrm>
            <a:off x="1685925" y="1084108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1E3D0"/>
          </a:solidFill>
          <a:ln/>
        </p:spPr>
      </p:sp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1650" y="10926812"/>
            <a:ext cx="171450" cy="171450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2143125" y="10841087"/>
            <a:ext cx="32179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여름 시즌 회차 일정 안내</a:t>
            </a:r>
            <a:endParaRPr lang="en-US" sz="1050" dirty="0"/>
          </a:p>
        </p:txBody>
      </p:sp>
      <p:sp>
        <p:nvSpPr>
          <p:cNvPr id="66" name="Text 54"/>
          <p:cNvSpPr/>
          <p:nvPr/>
        </p:nvSpPr>
        <p:spPr>
          <a:xfrm>
            <a:off x="2143125" y="11022062"/>
            <a:ext cx="321792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7~8월 8·9·10기 일정을 일정 탭에서 미리 확인하실 수 있어요.</a:t>
            </a:r>
            <a:endParaRPr lang="en-US" sz="900" dirty="0"/>
          </a:p>
        </p:txBody>
      </p:sp>
      <p:pic>
        <p:nvPicPr>
          <p:cNvPr id="67" name="Image 1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1625" y="10841087"/>
            <a:ext cx="171450" cy="171450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1524000" y="11622137"/>
            <a:ext cx="17049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참여하신 분들의 케미 후기</a:t>
            </a:r>
            <a:endParaRPr lang="en-US" sz="1275" dirty="0"/>
          </a:p>
        </p:txBody>
      </p:sp>
      <p:sp>
        <p:nvSpPr>
          <p:cNvPr id="69" name="Text 56"/>
          <p:cNvSpPr/>
          <p:nvPr/>
        </p:nvSpPr>
        <p:spPr>
          <a:xfrm>
            <a:off x="5251400" y="11669762"/>
            <a:ext cx="5398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전체보기 ›</a:t>
            </a:r>
            <a:endParaRPr lang="en-US" sz="900" dirty="0"/>
          </a:p>
        </p:txBody>
      </p:sp>
      <p:sp>
        <p:nvSpPr>
          <p:cNvPr id="70" name="Shape 57"/>
          <p:cNvSpPr/>
          <p:nvPr/>
        </p:nvSpPr>
        <p:spPr>
          <a:xfrm>
            <a:off x="1524000" y="11926937"/>
            <a:ext cx="2286000" cy="1390650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85925" y="12088862"/>
            <a:ext cx="114300" cy="114300"/>
          </a:xfrm>
          <a:prstGeom prst="rect">
            <a:avLst/>
          </a:prstGeom>
        </p:spPr>
      </p:pic>
      <p:pic>
        <p:nvPicPr>
          <p:cNvPr id="7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38325" y="12088862"/>
            <a:ext cx="114300" cy="114300"/>
          </a:xfrm>
          <a:prstGeom prst="rect">
            <a:avLst/>
          </a:prstGeom>
        </p:spPr>
      </p:pic>
      <p:pic>
        <p:nvPicPr>
          <p:cNvPr id="73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90725" y="12088862"/>
            <a:ext cx="114300" cy="114300"/>
          </a:xfrm>
          <a:prstGeom prst="rect">
            <a:avLst/>
          </a:prstGeom>
        </p:spPr>
      </p:pic>
      <p:pic>
        <p:nvPicPr>
          <p:cNvPr id="74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43125" y="12088862"/>
            <a:ext cx="114300" cy="114300"/>
          </a:xfrm>
          <a:prstGeom prst="rect">
            <a:avLst/>
          </a:prstGeom>
        </p:spPr>
      </p:pic>
      <p:pic>
        <p:nvPicPr>
          <p:cNvPr id="75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95525" y="12088862"/>
            <a:ext cx="114300" cy="114300"/>
          </a:xfrm>
          <a:prstGeom prst="rect">
            <a:avLst/>
          </a:prstGeom>
        </p:spPr>
      </p:pic>
      <p:sp>
        <p:nvSpPr>
          <p:cNvPr id="76" name="Text 58"/>
          <p:cNvSpPr/>
          <p:nvPr/>
        </p:nvSpPr>
        <p:spPr>
          <a:xfrm>
            <a:off x="1685925" y="12279362"/>
            <a:ext cx="20383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따뜻한 분위기에서 자연스럽게 대화할 수 있었어요. "</a:t>
            </a:r>
            <a:endParaRPr lang="en-US" sz="975" dirty="0"/>
          </a:p>
        </p:txBody>
      </p:sp>
      <p:sp>
        <p:nvSpPr>
          <p:cNvPr id="77" name="Text 59"/>
          <p:cNvSpPr/>
          <p:nvPr/>
        </p:nvSpPr>
        <p:spPr>
          <a:xfrm>
            <a:off x="1685925" y="12998500"/>
            <a:ext cx="58980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몽블랑 · 7기</a:t>
            </a:r>
            <a:endParaRPr lang="en-US" sz="825" dirty="0"/>
          </a:p>
        </p:txBody>
      </p:sp>
      <p:sp>
        <p:nvSpPr>
          <p:cNvPr id="78" name="Shape 60"/>
          <p:cNvSpPr/>
          <p:nvPr/>
        </p:nvSpPr>
        <p:spPr>
          <a:xfrm>
            <a:off x="3120777" y="12965162"/>
            <a:ext cx="527298" cy="190500"/>
          </a:xfrm>
          <a:prstGeom prst="roundRect">
            <a:avLst>
              <a:gd name="adj" fmla="val 50000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9" name="Text 61"/>
          <p:cNvSpPr/>
          <p:nvPr/>
        </p:nvSpPr>
        <p:spPr>
          <a:xfrm>
            <a:off x="3206502" y="13003262"/>
            <a:ext cx="43204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 후기</a:t>
            </a:r>
            <a:endParaRPr lang="en-US" sz="750" dirty="0"/>
          </a:p>
        </p:txBody>
      </p:sp>
      <p:sp>
        <p:nvSpPr>
          <p:cNvPr id="80" name="Shape 62"/>
          <p:cNvSpPr/>
          <p:nvPr/>
        </p:nvSpPr>
        <p:spPr>
          <a:xfrm>
            <a:off x="3924300" y="11926937"/>
            <a:ext cx="2286000" cy="1390650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81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86225" y="12088862"/>
            <a:ext cx="114300" cy="114300"/>
          </a:xfrm>
          <a:prstGeom prst="rect">
            <a:avLst/>
          </a:prstGeom>
        </p:spPr>
      </p:pic>
      <p:pic>
        <p:nvPicPr>
          <p:cNvPr id="82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38625" y="12088862"/>
            <a:ext cx="114300" cy="114300"/>
          </a:xfrm>
          <a:prstGeom prst="rect">
            <a:avLst/>
          </a:prstGeom>
        </p:spPr>
      </p:pic>
      <p:pic>
        <p:nvPicPr>
          <p:cNvPr id="83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91025" y="12088862"/>
            <a:ext cx="114300" cy="114300"/>
          </a:xfrm>
          <a:prstGeom prst="rect">
            <a:avLst/>
          </a:prstGeom>
        </p:spPr>
      </p:pic>
      <p:pic>
        <p:nvPicPr>
          <p:cNvPr id="84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43425" y="12088862"/>
            <a:ext cx="114300" cy="114300"/>
          </a:xfrm>
          <a:prstGeom prst="rect">
            <a:avLst/>
          </a:prstGeom>
        </p:spPr>
      </p:pic>
      <p:pic>
        <p:nvPicPr>
          <p:cNvPr id="85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95825" y="12088862"/>
            <a:ext cx="114300" cy="114300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4086225" y="12279362"/>
            <a:ext cx="20383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"베이킹하면서 어색함이 금방 풀렸어요."</a:t>
            </a:r>
            <a:endParaRPr lang="en-US" sz="975" dirty="0"/>
          </a:p>
        </p:txBody>
      </p:sp>
      <p:sp>
        <p:nvSpPr>
          <p:cNvPr id="87" name="Text 64"/>
          <p:cNvSpPr/>
          <p:nvPr/>
        </p:nvSpPr>
        <p:spPr>
          <a:xfrm>
            <a:off x="4086225" y="12998500"/>
            <a:ext cx="68044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크루아상 · 6기</a:t>
            </a:r>
            <a:endParaRPr lang="en-US" sz="825" dirty="0"/>
          </a:p>
        </p:txBody>
      </p:sp>
      <p:sp>
        <p:nvSpPr>
          <p:cNvPr id="88" name="Shape 65"/>
          <p:cNvSpPr/>
          <p:nvPr/>
        </p:nvSpPr>
        <p:spPr>
          <a:xfrm>
            <a:off x="5521077" y="12965162"/>
            <a:ext cx="527298" cy="190500"/>
          </a:xfrm>
          <a:prstGeom prst="roundRect">
            <a:avLst>
              <a:gd name="adj" fmla="val 50000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9" name="Text 66"/>
          <p:cNvSpPr/>
          <p:nvPr/>
        </p:nvSpPr>
        <p:spPr>
          <a:xfrm>
            <a:off x="5606802" y="13003262"/>
            <a:ext cx="43204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커플 인증</a:t>
            </a:r>
            <a:endParaRPr lang="en-US" sz="750" dirty="0"/>
          </a:p>
        </p:txBody>
      </p:sp>
      <p:sp>
        <p:nvSpPr>
          <p:cNvPr id="90" name="Shape 67"/>
          <p:cNvSpPr/>
          <p:nvPr/>
        </p:nvSpPr>
        <p:spPr>
          <a:xfrm>
            <a:off x="6324600" y="11926937"/>
            <a:ext cx="2286000" cy="1390650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91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6525" y="12088862"/>
            <a:ext cx="114300" cy="114300"/>
          </a:xfrm>
          <a:prstGeom prst="rect">
            <a:avLst/>
          </a:prstGeom>
        </p:spPr>
      </p:pic>
      <p:pic>
        <p:nvPicPr>
          <p:cNvPr id="92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38925" y="12088862"/>
            <a:ext cx="114300" cy="114300"/>
          </a:xfrm>
          <a:prstGeom prst="rect">
            <a:avLst/>
          </a:prstGeom>
        </p:spPr>
      </p:pic>
      <p:pic>
        <p:nvPicPr>
          <p:cNvPr id="93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91325" y="12088862"/>
            <a:ext cx="114300" cy="114300"/>
          </a:xfrm>
          <a:prstGeom prst="rect">
            <a:avLst/>
          </a:prstGeom>
        </p:spPr>
      </p:pic>
      <p:pic>
        <p:nvPicPr>
          <p:cNvPr id="94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43725" y="12088862"/>
            <a:ext cx="114300" cy="114300"/>
          </a:xfrm>
          <a:prstGeom prst="rect">
            <a:avLst/>
          </a:prstGeom>
        </p:spPr>
      </p:pic>
      <p:pic>
        <p:nvPicPr>
          <p:cNvPr id="95" name="Image 2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96125" y="12088862"/>
            <a:ext cx="114300" cy="114300"/>
          </a:xfrm>
          <a:prstGeom prst="rect">
            <a:avLst/>
          </a:prstGeom>
        </p:spPr>
      </p:pic>
      <p:sp>
        <p:nvSpPr>
          <p:cNvPr id="96" name="Text 68"/>
          <p:cNvSpPr/>
          <p:nvPr/>
        </p:nvSpPr>
        <p:spPr>
          <a:xfrm>
            <a:off x="6486525" y="12279362"/>
            <a:ext cx="20383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AI 매칭과 현장 대화가 자연스럽게 이어졌어요. "</a:t>
            </a:r>
            <a:endParaRPr lang="en-US" sz="975" dirty="0"/>
          </a:p>
        </p:txBody>
      </p:sp>
      <p:sp>
        <p:nvSpPr>
          <p:cNvPr id="97" name="Text 69"/>
          <p:cNvSpPr/>
          <p:nvPr/>
        </p:nvSpPr>
        <p:spPr>
          <a:xfrm>
            <a:off x="6486525" y="12998500"/>
            <a:ext cx="7709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에그타르트 · 7기</a:t>
            </a:r>
            <a:endParaRPr lang="en-US" sz="825" dirty="0"/>
          </a:p>
        </p:txBody>
      </p:sp>
      <p:sp>
        <p:nvSpPr>
          <p:cNvPr id="98" name="Shape 70"/>
          <p:cNvSpPr/>
          <p:nvPr/>
        </p:nvSpPr>
        <p:spPr>
          <a:xfrm>
            <a:off x="7839075" y="12965162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9" name="Text 71"/>
          <p:cNvSpPr/>
          <p:nvPr/>
        </p:nvSpPr>
        <p:spPr>
          <a:xfrm>
            <a:off x="7924800" y="13003262"/>
            <a:ext cx="514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데이트 후기</a:t>
            </a:r>
            <a:endParaRPr lang="en-US" sz="750" dirty="0"/>
          </a:p>
        </p:txBody>
      </p:sp>
      <p:sp>
        <p:nvSpPr>
          <p:cNvPr id="100" name="Shape 72"/>
          <p:cNvSpPr/>
          <p:nvPr/>
        </p:nvSpPr>
        <p:spPr>
          <a:xfrm>
            <a:off x="1333500" y="9839325"/>
            <a:ext cx="4572000" cy="742950"/>
          </a:xfrm>
          <a:prstGeom prst="rect">
            <a:avLst/>
          </a:prstGeom>
          <a:solidFill>
            <a:srgbClr val="FFF7EC">
              <a:alpha val="92000"/>
            </a:srgbClr>
          </a:solidFill>
          <a:ln/>
        </p:spPr>
      </p:sp>
      <p:sp>
        <p:nvSpPr>
          <p:cNvPr id="101" name="Shape 73"/>
          <p:cNvSpPr/>
          <p:nvPr/>
        </p:nvSpPr>
        <p:spPr>
          <a:xfrm>
            <a:off x="1333500" y="9839325"/>
            <a:ext cx="457200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102" name="Image 2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85925" y="9944100"/>
            <a:ext cx="209550" cy="209550"/>
          </a:xfrm>
          <a:prstGeom prst="rect">
            <a:avLst/>
          </a:prstGeom>
        </p:spPr>
      </p:pic>
      <p:sp>
        <p:nvSpPr>
          <p:cNvPr id="103" name="Text 74"/>
          <p:cNvSpPr/>
          <p:nvPr/>
        </p:nvSpPr>
        <p:spPr>
          <a:xfrm>
            <a:off x="1745307" y="10191750"/>
            <a:ext cx="1668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825" dirty="0"/>
          </a:p>
        </p:txBody>
      </p:sp>
      <p:pic>
        <p:nvPicPr>
          <p:cNvPr id="104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00325" y="9944100"/>
            <a:ext cx="209550" cy="209550"/>
          </a:xfrm>
          <a:prstGeom prst="rect">
            <a:avLst/>
          </a:prstGeom>
        </p:spPr>
      </p:pic>
      <p:sp>
        <p:nvSpPr>
          <p:cNvPr id="105" name="Text 75"/>
          <p:cNvSpPr/>
          <p:nvPr/>
        </p:nvSpPr>
        <p:spPr>
          <a:xfrm>
            <a:off x="2614464" y="10191750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</a:t>
            </a:r>
            <a:endParaRPr lang="en-US" sz="825" dirty="0"/>
          </a:p>
        </p:txBody>
      </p:sp>
      <p:pic>
        <p:nvPicPr>
          <p:cNvPr id="106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14725" y="9944100"/>
            <a:ext cx="209550" cy="209550"/>
          </a:xfrm>
          <a:prstGeom prst="rect">
            <a:avLst/>
          </a:prstGeom>
        </p:spPr>
      </p:pic>
      <p:sp>
        <p:nvSpPr>
          <p:cNvPr id="107" name="Text 76"/>
          <p:cNvSpPr/>
          <p:nvPr/>
        </p:nvSpPr>
        <p:spPr>
          <a:xfrm>
            <a:off x="3441055" y="10191750"/>
            <a:ext cx="43309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</a:t>
            </a:r>
            <a:endParaRPr lang="en-US" sz="825" dirty="0"/>
          </a:p>
        </p:txBody>
      </p:sp>
      <p:pic>
        <p:nvPicPr>
          <p:cNvPr id="108" name="Image 2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29125" y="9944100"/>
            <a:ext cx="209550" cy="209550"/>
          </a:xfrm>
          <a:prstGeom prst="rect">
            <a:avLst/>
          </a:prstGeom>
        </p:spPr>
      </p:pic>
      <p:sp>
        <p:nvSpPr>
          <p:cNvPr id="109" name="Text 77"/>
          <p:cNvSpPr/>
          <p:nvPr/>
        </p:nvSpPr>
        <p:spPr>
          <a:xfrm>
            <a:off x="4398020" y="10191750"/>
            <a:ext cx="3479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오브닝</a:t>
            </a:r>
            <a:endParaRPr lang="en-US" sz="825" dirty="0"/>
          </a:p>
        </p:txBody>
      </p:sp>
      <p:pic>
        <p:nvPicPr>
          <p:cNvPr id="110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43525" y="9944100"/>
            <a:ext cx="209550" cy="209550"/>
          </a:xfrm>
          <a:prstGeom prst="rect">
            <a:avLst/>
          </a:prstGeom>
        </p:spPr>
      </p:pic>
      <p:sp>
        <p:nvSpPr>
          <p:cNvPr id="111" name="Text 78"/>
          <p:cNvSpPr/>
          <p:nvPr/>
        </p:nvSpPr>
        <p:spPr>
          <a:xfrm>
            <a:off x="5357664" y="10191750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</a:t>
            </a:r>
            <a:endParaRPr lang="en-US" sz="825" dirty="0"/>
          </a:p>
        </p:txBody>
      </p:sp>
      <p:sp>
        <p:nvSpPr>
          <p:cNvPr id="112" name="Shape 79"/>
          <p:cNvSpPr/>
          <p:nvPr/>
        </p:nvSpPr>
        <p:spPr>
          <a:xfrm>
            <a:off x="2981325" y="10458450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113" name="Text 80"/>
          <p:cNvSpPr/>
          <p:nvPr/>
        </p:nvSpPr>
        <p:spPr>
          <a:xfrm>
            <a:off x="7048500" y="3718173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탭 1 · 홈</a:t>
            </a:r>
            <a:endParaRPr lang="en-US" sz="1200" dirty="0"/>
          </a:p>
        </p:txBody>
      </p:sp>
      <p:sp>
        <p:nvSpPr>
          <p:cNvPr id="114" name="Text 81"/>
          <p:cNvSpPr/>
          <p:nvPr/>
        </p:nvSpPr>
        <p:spPr>
          <a:xfrm>
            <a:off x="7048500" y="4118223"/>
            <a:ext cx="1059561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브랜드를 처음 만나는 한 화면.</a:t>
            </a:r>
            <a:endParaRPr lang="en-US" sz="5700" dirty="0"/>
          </a:p>
        </p:txBody>
      </p:sp>
      <p:sp>
        <p:nvSpPr>
          <p:cNvPr id="115" name="Text 82"/>
          <p:cNvSpPr/>
          <p:nvPr/>
        </p:nvSpPr>
        <p:spPr>
          <a:xfrm>
            <a:off x="7048500" y="5920234"/>
            <a:ext cx="706374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디저트 무드의 히어로, 가장 가까운 회차, 5단계 진행 흐름, 케미 후기까지.</a:t>
            </a:r>
            <a:endParaRPr lang="en-US" sz="1650" dirty="0"/>
          </a:p>
        </p:txBody>
      </p:sp>
      <p:sp>
        <p:nvSpPr>
          <p:cNvPr id="116" name="Text 83"/>
          <p:cNvSpPr/>
          <p:nvPr/>
        </p:nvSpPr>
        <p:spPr>
          <a:xfrm>
            <a:off x="7124700" y="6549777"/>
            <a:ext cx="68770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버건디 회차 카드 + D-12 + 신청 가능 뱃지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step 가로 스크롤 카드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 후기 ★ 캐러셀 (참여/커플/데이트)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857250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990600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62025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62025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1095375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119188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1119188"/>
            <a:ext cx="228600" cy="1047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24000" y="1495425"/>
            <a:ext cx="21745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524000" y="1809750"/>
            <a:ext cx="21745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 가능한 회차를 달력에서 확인해보세요.</a:t>
            </a:r>
            <a:endParaRPr lang="en-US" sz="975" dirty="0"/>
          </a:p>
        </p:txBody>
      </p:sp>
      <p:sp>
        <p:nvSpPr>
          <p:cNvPr id="11" name="Text 7"/>
          <p:cNvSpPr/>
          <p:nvPr/>
        </p:nvSpPr>
        <p:spPr>
          <a:xfrm>
            <a:off x="1524000" y="2152650"/>
            <a:ext cx="7137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2026. 06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2256830" y="2209800"/>
            <a:ext cx="3241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048250" y="2124075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4450" y="2200275"/>
            <a:ext cx="152400" cy="1524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410200" y="2124075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200275"/>
            <a:ext cx="152400" cy="1524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524000" y="2543175"/>
            <a:ext cx="4191000" cy="3385542"/>
          </a:xfrm>
          <a:prstGeom prst="roundRect">
            <a:avLst>
              <a:gd name="adj" fmla="val 6190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1628775" y="2686050"/>
            <a:ext cx="61763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B8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825" dirty="0"/>
          </a:p>
        </p:txBody>
      </p:sp>
      <p:sp>
        <p:nvSpPr>
          <p:cNvPr id="19" name="Text 13"/>
          <p:cNvSpPr/>
          <p:nvPr/>
        </p:nvSpPr>
        <p:spPr>
          <a:xfrm>
            <a:off x="2189262" y="2686050"/>
            <a:ext cx="61778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825" dirty="0"/>
          </a:p>
        </p:txBody>
      </p:sp>
      <p:sp>
        <p:nvSpPr>
          <p:cNvPr id="20" name="Text 14"/>
          <p:cNvSpPr/>
          <p:nvPr/>
        </p:nvSpPr>
        <p:spPr>
          <a:xfrm>
            <a:off x="2749897" y="2686050"/>
            <a:ext cx="61778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825" dirty="0"/>
          </a:p>
        </p:txBody>
      </p:sp>
      <p:sp>
        <p:nvSpPr>
          <p:cNvPr id="21" name="Text 15"/>
          <p:cNvSpPr/>
          <p:nvPr/>
        </p:nvSpPr>
        <p:spPr>
          <a:xfrm>
            <a:off x="3310533" y="2686050"/>
            <a:ext cx="61778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825" dirty="0"/>
          </a:p>
        </p:txBody>
      </p:sp>
      <p:sp>
        <p:nvSpPr>
          <p:cNvPr id="22" name="Text 16"/>
          <p:cNvSpPr/>
          <p:nvPr/>
        </p:nvSpPr>
        <p:spPr>
          <a:xfrm>
            <a:off x="3871168" y="2686050"/>
            <a:ext cx="61778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825" dirty="0"/>
          </a:p>
        </p:txBody>
      </p:sp>
      <p:sp>
        <p:nvSpPr>
          <p:cNvPr id="23" name="Text 17"/>
          <p:cNvSpPr/>
          <p:nvPr/>
        </p:nvSpPr>
        <p:spPr>
          <a:xfrm>
            <a:off x="4431804" y="2686050"/>
            <a:ext cx="61778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825" dirty="0"/>
          </a:p>
        </p:txBody>
      </p:sp>
      <p:sp>
        <p:nvSpPr>
          <p:cNvPr id="24" name="Text 18"/>
          <p:cNvSpPr/>
          <p:nvPr/>
        </p:nvSpPr>
        <p:spPr>
          <a:xfrm>
            <a:off x="4992439" y="2686050"/>
            <a:ext cx="61778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825" dirty="0"/>
          </a:p>
        </p:txBody>
      </p:sp>
      <p:sp>
        <p:nvSpPr>
          <p:cNvPr id="25" name="Text 19"/>
          <p:cNvSpPr/>
          <p:nvPr/>
        </p:nvSpPr>
        <p:spPr>
          <a:xfrm>
            <a:off x="2470398" y="3079849"/>
            <a:ext cx="1317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26" name="Text 20"/>
          <p:cNvSpPr/>
          <p:nvPr/>
        </p:nvSpPr>
        <p:spPr>
          <a:xfrm>
            <a:off x="3021955" y="3079849"/>
            <a:ext cx="1498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27" name="Text 21"/>
          <p:cNvSpPr/>
          <p:nvPr/>
        </p:nvSpPr>
        <p:spPr>
          <a:xfrm>
            <a:off x="3580656" y="3079849"/>
            <a:ext cx="15359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28" name="Text 22"/>
          <p:cNvSpPr/>
          <p:nvPr/>
        </p:nvSpPr>
        <p:spPr>
          <a:xfrm>
            <a:off x="4140696" y="3079849"/>
            <a:ext cx="1549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29" name="Text 23"/>
          <p:cNvSpPr/>
          <p:nvPr/>
        </p:nvSpPr>
        <p:spPr>
          <a:xfrm>
            <a:off x="4703118" y="3079849"/>
            <a:ext cx="1513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75" dirty="0"/>
          </a:p>
        </p:txBody>
      </p:sp>
      <p:sp>
        <p:nvSpPr>
          <p:cNvPr id="30" name="Text 24"/>
          <p:cNvSpPr/>
          <p:nvPr/>
        </p:nvSpPr>
        <p:spPr>
          <a:xfrm>
            <a:off x="5262711" y="3079849"/>
            <a:ext cx="15344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75" dirty="0"/>
          </a:p>
        </p:txBody>
      </p:sp>
      <p:sp>
        <p:nvSpPr>
          <p:cNvPr id="31" name="Text 25"/>
          <p:cNvSpPr/>
          <p:nvPr/>
        </p:nvSpPr>
        <p:spPr>
          <a:xfrm>
            <a:off x="1902916" y="3667274"/>
            <a:ext cx="1455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75" dirty="0"/>
          </a:p>
        </p:txBody>
      </p:sp>
      <p:sp>
        <p:nvSpPr>
          <p:cNvPr id="32" name="Text 26"/>
          <p:cNvSpPr/>
          <p:nvPr/>
        </p:nvSpPr>
        <p:spPr>
          <a:xfrm>
            <a:off x="2459831" y="3667423"/>
            <a:ext cx="15284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75" dirty="0"/>
          </a:p>
        </p:txBody>
      </p:sp>
      <p:sp>
        <p:nvSpPr>
          <p:cNvPr id="33" name="Text 27"/>
          <p:cNvSpPr/>
          <p:nvPr/>
        </p:nvSpPr>
        <p:spPr>
          <a:xfrm>
            <a:off x="3020169" y="3667423"/>
            <a:ext cx="15344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75" dirty="0"/>
          </a:p>
        </p:txBody>
      </p:sp>
      <p:sp>
        <p:nvSpPr>
          <p:cNvPr id="34" name="Text 28"/>
          <p:cNvSpPr/>
          <p:nvPr/>
        </p:nvSpPr>
        <p:spPr>
          <a:xfrm>
            <a:off x="3553420" y="3667423"/>
            <a:ext cx="2082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75" dirty="0"/>
          </a:p>
        </p:txBody>
      </p:sp>
      <p:sp>
        <p:nvSpPr>
          <p:cNvPr id="35" name="Text 29"/>
          <p:cNvSpPr/>
          <p:nvPr/>
        </p:nvSpPr>
        <p:spPr>
          <a:xfrm>
            <a:off x="4124474" y="3667423"/>
            <a:ext cx="1872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75" dirty="0"/>
          </a:p>
        </p:txBody>
      </p:sp>
      <p:sp>
        <p:nvSpPr>
          <p:cNvPr id="36" name="Text 30"/>
          <p:cNvSpPr/>
          <p:nvPr/>
        </p:nvSpPr>
        <p:spPr>
          <a:xfrm>
            <a:off x="4676031" y="3667423"/>
            <a:ext cx="20538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75" dirty="0"/>
          </a:p>
        </p:txBody>
      </p:sp>
      <p:sp>
        <p:nvSpPr>
          <p:cNvPr id="37" name="Text 31"/>
          <p:cNvSpPr/>
          <p:nvPr/>
        </p:nvSpPr>
        <p:spPr>
          <a:xfrm>
            <a:off x="5234880" y="3667423"/>
            <a:ext cx="20910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75" dirty="0"/>
          </a:p>
        </p:txBody>
      </p:sp>
      <p:sp>
        <p:nvSpPr>
          <p:cNvPr id="38" name="Shape 32"/>
          <p:cNvSpPr/>
          <p:nvPr/>
        </p:nvSpPr>
        <p:spPr>
          <a:xfrm>
            <a:off x="1666875" y="4042172"/>
            <a:ext cx="541437" cy="568375"/>
          </a:xfrm>
          <a:prstGeom prst="roundRect">
            <a:avLst>
              <a:gd name="adj" fmla="val 21110"/>
            </a:avLst>
          </a:prstGeom>
          <a:solidFill>
            <a:srgbClr val="7A1F2B"/>
          </a:solidFill>
          <a:ln/>
        </p:spPr>
      </p:sp>
      <p:sp>
        <p:nvSpPr>
          <p:cNvPr id="39" name="Text 33"/>
          <p:cNvSpPr/>
          <p:nvPr/>
        </p:nvSpPr>
        <p:spPr>
          <a:xfrm>
            <a:off x="1867793" y="4211985"/>
            <a:ext cx="21565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75" dirty="0"/>
          </a:p>
        </p:txBody>
      </p:sp>
      <p:sp>
        <p:nvSpPr>
          <p:cNvPr id="40" name="Shape 34"/>
          <p:cNvSpPr/>
          <p:nvPr/>
        </p:nvSpPr>
        <p:spPr>
          <a:xfrm>
            <a:off x="1913781" y="4392960"/>
            <a:ext cx="47625" cy="47625"/>
          </a:xfrm>
          <a:prstGeom prst="ellipse">
            <a:avLst/>
          </a:prstGeom>
          <a:solidFill>
            <a:srgbClr val="F5DFA8"/>
          </a:solidFill>
          <a:ln/>
        </p:spPr>
      </p:sp>
      <p:sp>
        <p:nvSpPr>
          <p:cNvPr id="41" name="Text 35"/>
          <p:cNvSpPr/>
          <p:nvPr/>
        </p:nvSpPr>
        <p:spPr>
          <a:xfrm>
            <a:off x="2432745" y="4254996"/>
            <a:ext cx="2068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75" dirty="0"/>
          </a:p>
        </p:txBody>
      </p:sp>
      <p:sp>
        <p:nvSpPr>
          <p:cNvPr id="42" name="Text 36"/>
          <p:cNvSpPr/>
          <p:nvPr/>
        </p:nvSpPr>
        <p:spPr>
          <a:xfrm>
            <a:off x="2992338" y="4254996"/>
            <a:ext cx="2089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75" dirty="0"/>
          </a:p>
        </p:txBody>
      </p:sp>
      <p:sp>
        <p:nvSpPr>
          <p:cNvPr id="43" name="Text 37"/>
          <p:cNvSpPr/>
          <p:nvPr/>
        </p:nvSpPr>
        <p:spPr>
          <a:xfrm>
            <a:off x="3556992" y="4254996"/>
            <a:ext cx="20106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75" dirty="0"/>
          </a:p>
        </p:txBody>
      </p:sp>
      <p:sp>
        <p:nvSpPr>
          <p:cNvPr id="44" name="Text 38"/>
          <p:cNvSpPr/>
          <p:nvPr/>
        </p:nvSpPr>
        <p:spPr>
          <a:xfrm>
            <a:off x="4113907" y="4254996"/>
            <a:ext cx="2083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75" dirty="0"/>
          </a:p>
        </p:txBody>
      </p:sp>
      <p:sp>
        <p:nvSpPr>
          <p:cNvPr id="45" name="Text 39"/>
          <p:cNvSpPr/>
          <p:nvPr/>
        </p:nvSpPr>
        <p:spPr>
          <a:xfrm>
            <a:off x="4674245" y="4254996"/>
            <a:ext cx="2089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75" dirty="0"/>
          </a:p>
        </p:txBody>
      </p:sp>
      <p:sp>
        <p:nvSpPr>
          <p:cNvPr id="46" name="Text 40"/>
          <p:cNvSpPr/>
          <p:nvPr/>
        </p:nvSpPr>
        <p:spPr>
          <a:xfrm>
            <a:off x="5226248" y="4254996"/>
            <a:ext cx="2263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75" dirty="0"/>
          </a:p>
        </p:txBody>
      </p:sp>
      <p:sp>
        <p:nvSpPr>
          <p:cNvPr id="47" name="Text 41"/>
          <p:cNvSpPr/>
          <p:nvPr/>
        </p:nvSpPr>
        <p:spPr>
          <a:xfrm>
            <a:off x="1873002" y="4799558"/>
            <a:ext cx="20538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75" dirty="0"/>
          </a:p>
        </p:txBody>
      </p:sp>
      <p:sp>
        <p:nvSpPr>
          <p:cNvPr id="48" name="Shape 42"/>
          <p:cNvSpPr/>
          <p:nvPr/>
        </p:nvSpPr>
        <p:spPr>
          <a:xfrm>
            <a:off x="1913781" y="4980533"/>
            <a:ext cx="47625" cy="47625"/>
          </a:xfrm>
          <a:prstGeom prst="ellipse">
            <a:avLst/>
          </a:prstGeom>
          <a:solidFill>
            <a:srgbClr val="9B6A2A"/>
          </a:solidFill>
          <a:ln/>
        </p:spPr>
      </p:sp>
      <p:sp>
        <p:nvSpPr>
          <p:cNvPr id="49" name="Text 43"/>
          <p:cNvSpPr/>
          <p:nvPr/>
        </p:nvSpPr>
        <p:spPr>
          <a:xfrm>
            <a:off x="2424410" y="4842570"/>
            <a:ext cx="2235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75" dirty="0"/>
          </a:p>
        </p:txBody>
      </p:sp>
      <p:sp>
        <p:nvSpPr>
          <p:cNvPr id="50" name="Text 44"/>
          <p:cNvSpPr/>
          <p:nvPr/>
        </p:nvSpPr>
        <p:spPr>
          <a:xfrm>
            <a:off x="2983260" y="4842570"/>
            <a:ext cx="2271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75" dirty="0"/>
          </a:p>
        </p:txBody>
      </p:sp>
      <p:sp>
        <p:nvSpPr>
          <p:cNvPr id="51" name="Text 45"/>
          <p:cNvSpPr/>
          <p:nvPr/>
        </p:nvSpPr>
        <p:spPr>
          <a:xfrm>
            <a:off x="3544193" y="4842570"/>
            <a:ext cx="2266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75" dirty="0"/>
          </a:p>
        </p:txBody>
      </p:sp>
      <p:sp>
        <p:nvSpPr>
          <p:cNvPr id="52" name="Text 46"/>
          <p:cNvSpPr/>
          <p:nvPr/>
        </p:nvSpPr>
        <p:spPr>
          <a:xfrm>
            <a:off x="4105573" y="4842570"/>
            <a:ext cx="2250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75" dirty="0"/>
          </a:p>
        </p:txBody>
      </p:sp>
      <p:sp>
        <p:nvSpPr>
          <p:cNvPr id="53" name="Text 47"/>
          <p:cNvSpPr/>
          <p:nvPr/>
        </p:nvSpPr>
        <p:spPr>
          <a:xfrm>
            <a:off x="4665166" y="4842570"/>
            <a:ext cx="2271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75" dirty="0"/>
          </a:p>
        </p:txBody>
      </p:sp>
      <p:sp>
        <p:nvSpPr>
          <p:cNvPr id="54" name="Text 48"/>
          <p:cNvSpPr/>
          <p:nvPr/>
        </p:nvSpPr>
        <p:spPr>
          <a:xfrm>
            <a:off x="5229820" y="4842570"/>
            <a:ext cx="2192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75" dirty="0"/>
          </a:p>
        </p:txBody>
      </p:sp>
      <p:sp>
        <p:nvSpPr>
          <p:cNvPr id="55" name="Text 49"/>
          <p:cNvSpPr/>
          <p:nvPr/>
        </p:nvSpPr>
        <p:spPr>
          <a:xfrm>
            <a:off x="1862435" y="5387132"/>
            <a:ext cx="22651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75" dirty="0"/>
          </a:p>
        </p:txBody>
      </p:sp>
      <p:sp>
        <p:nvSpPr>
          <p:cNvPr id="56" name="Shape 50"/>
          <p:cNvSpPr/>
          <p:nvPr/>
        </p:nvSpPr>
        <p:spPr>
          <a:xfrm>
            <a:off x="1913781" y="5568107"/>
            <a:ext cx="47625" cy="47625"/>
          </a:xfrm>
          <a:prstGeom prst="ellipse">
            <a:avLst/>
          </a:prstGeom>
          <a:solidFill>
            <a:srgbClr val="9A8A7E"/>
          </a:solidFill>
          <a:ln/>
        </p:spPr>
      </p:sp>
      <p:sp>
        <p:nvSpPr>
          <p:cNvPr id="57" name="Text 51"/>
          <p:cNvSpPr/>
          <p:nvPr/>
        </p:nvSpPr>
        <p:spPr>
          <a:xfrm>
            <a:off x="2422624" y="5430143"/>
            <a:ext cx="2271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75" dirty="0"/>
          </a:p>
        </p:txBody>
      </p:sp>
      <p:sp>
        <p:nvSpPr>
          <p:cNvPr id="58" name="Text 52"/>
          <p:cNvSpPr/>
          <p:nvPr/>
        </p:nvSpPr>
        <p:spPr>
          <a:xfrm>
            <a:off x="2981920" y="5430143"/>
            <a:ext cx="22993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75" dirty="0"/>
          </a:p>
        </p:txBody>
      </p:sp>
      <p:sp>
        <p:nvSpPr>
          <p:cNvPr id="59" name="Text 53"/>
          <p:cNvSpPr/>
          <p:nvPr/>
        </p:nvSpPr>
        <p:spPr>
          <a:xfrm>
            <a:off x="1524000" y="6157317"/>
            <a:ext cx="9670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6월 14일 (토)</a:t>
            </a:r>
            <a:endParaRPr lang="en-US" sz="1275" dirty="0"/>
          </a:p>
        </p:txBody>
      </p:sp>
      <p:sp>
        <p:nvSpPr>
          <p:cNvPr id="60" name="Text 54"/>
          <p:cNvSpPr/>
          <p:nvPr/>
        </p:nvSpPr>
        <p:spPr>
          <a:xfrm>
            <a:off x="1524000" y="6376392"/>
            <a:ext cx="9670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날 열리는 회차</a:t>
            </a:r>
            <a:endParaRPr lang="en-US" sz="900" dirty="0"/>
          </a:p>
        </p:txBody>
      </p:sp>
      <p:sp>
        <p:nvSpPr>
          <p:cNvPr id="61" name="Shape 55"/>
          <p:cNvSpPr/>
          <p:nvPr/>
        </p:nvSpPr>
        <p:spPr>
          <a:xfrm>
            <a:off x="1524000" y="6624042"/>
            <a:ext cx="4191000" cy="990600"/>
          </a:xfrm>
          <a:prstGeom prst="roundRect">
            <a:avLst>
              <a:gd name="adj" fmla="val 2115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62" name="Shape 56"/>
          <p:cNvSpPr/>
          <p:nvPr/>
        </p:nvSpPr>
        <p:spPr>
          <a:xfrm>
            <a:off x="1704975" y="6805017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1E3D0"/>
          </a:solidFill>
          <a:ln/>
        </p:spPr>
      </p:sp>
      <p:sp>
        <p:nvSpPr>
          <p:cNvPr id="63" name="Text 57"/>
          <p:cNvSpPr/>
          <p:nvPr/>
        </p:nvSpPr>
        <p:spPr>
          <a:xfrm>
            <a:off x="1916311" y="6947892"/>
            <a:ext cx="26297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750" dirty="0"/>
          </a:p>
        </p:txBody>
      </p:sp>
      <p:sp>
        <p:nvSpPr>
          <p:cNvPr id="64" name="Text 58"/>
          <p:cNvSpPr/>
          <p:nvPr/>
        </p:nvSpPr>
        <p:spPr>
          <a:xfrm>
            <a:off x="1929557" y="7062192"/>
            <a:ext cx="23663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kern="0" spc="-16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650" dirty="0"/>
          </a:p>
        </p:txBody>
      </p:sp>
      <p:sp>
        <p:nvSpPr>
          <p:cNvPr id="65" name="Text 59"/>
          <p:cNvSpPr/>
          <p:nvPr/>
        </p:nvSpPr>
        <p:spPr>
          <a:xfrm>
            <a:off x="2447925" y="6805017"/>
            <a:ext cx="126310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케미스트리오븐 8기</a:t>
            </a:r>
            <a:endParaRPr lang="en-US" sz="1200" dirty="0"/>
          </a:p>
        </p:txBody>
      </p:sp>
      <p:sp>
        <p:nvSpPr>
          <p:cNvPr id="66" name="Shape 60"/>
          <p:cNvSpPr/>
          <p:nvPr/>
        </p:nvSpPr>
        <p:spPr>
          <a:xfrm>
            <a:off x="4926955" y="6805017"/>
            <a:ext cx="607070" cy="228600"/>
          </a:xfrm>
          <a:prstGeom prst="roundRect">
            <a:avLst>
              <a:gd name="adj" fmla="val 50000"/>
            </a:avLst>
          </a:prstGeom>
          <a:solidFill>
            <a:srgbClr val="DDEBDD"/>
          </a:solidFill>
          <a:ln/>
        </p:spPr>
      </p:sp>
      <p:sp>
        <p:nvSpPr>
          <p:cNvPr id="67" name="Text 61"/>
          <p:cNvSpPr/>
          <p:nvPr/>
        </p:nvSpPr>
        <p:spPr>
          <a:xfrm>
            <a:off x="5022205" y="6852642"/>
            <a:ext cx="492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3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가능</a:t>
            </a:r>
            <a:endParaRPr lang="en-US" sz="900" dirty="0"/>
          </a:p>
        </p:txBody>
      </p:sp>
      <p:sp>
        <p:nvSpPr>
          <p:cNvPr id="68" name="Text 62"/>
          <p:cNvSpPr/>
          <p:nvPr/>
        </p:nvSpPr>
        <p:spPr>
          <a:xfrm>
            <a:off x="2447925" y="7071717"/>
            <a:ext cx="317868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4:4 · 오후 2시 · 성수 베이킹 스튜디오</a:t>
            </a:r>
            <a:endParaRPr lang="en-US" sz="900" dirty="0"/>
          </a:p>
        </p:txBody>
      </p:sp>
      <p:sp>
        <p:nvSpPr>
          <p:cNvPr id="69" name="Text 63"/>
          <p:cNvSpPr/>
          <p:nvPr/>
        </p:nvSpPr>
        <p:spPr>
          <a:xfrm>
            <a:off x="2447925" y="7300317"/>
            <a:ext cx="46791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모집 8명</a:t>
            </a:r>
            <a:endParaRPr lang="en-US" sz="900" dirty="0"/>
          </a:p>
        </p:txBody>
      </p:sp>
      <p:sp>
        <p:nvSpPr>
          <p:cNvPr id="70" name="Text 64"/>
          <p:cNvSpPr/>
          <p:nvPr/>
        </p:nvSpPr>
        <p:spPr>
          <a:xfrm>
            <a:off x="2934891" y="7300317"/>
            <a:ext cx="1143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D9C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sp>
        <p:nvSpPr>
          <p:cNvPr id="71" name="Text 65"/>
          <p:cNvSpPr/>
          <p:nvPr/>
        </p:nvSpPr>
        <p:spPr>
          <a:xfrm>
            <a:off x="3068241" y="7300317"/>
            <a:ext cx="5246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89,000원</a:t>
            </a:r>
            <a:endParaRPr lang="en-US" sz="900" dirty="0"/>
          </a:p>
        </p:txBody>
      </p:sp>
      <p:sp>
        <p:nvSpPr>
          <p:cNvPr id="72" name="Shape 66"/>
          <p:cNvSpPr/>
          <p:nvPr/>
        </p:nvSpPr>
        <p:spPr>
          <a:xfrm>
            <a:off x="1524000" y="7728942"/>
            <a:ext cx="4191000" cy="819150"/>
          </a:xfrm>
          <a:prstGeom prst="roundRect">
            <a:avLst>
              <a:gd name="adj" fmla="val 25581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73" name="Shape 67"/>
          <p:cNvSpPr/>
          <p:nvPr/>
        </p:nvSpPr>
        <p:spPr>
          <a:xfrm>
            <a:off x="1704975" y="7909917"/>
            <a:ext cx="457200" cy="457200"/>
          </a:xfrm>
          <a:prstGeom prst="roundRect">
            <a:avLst>
              <a:gd name="adj" fmla="val 29167"/>
            </a:avLst>
          </a:prstGeom>
          <a:solidFill>
            <a:srgbClr val="F4ECE0"/>
          </a:solidFill>
          <a:ln/>
        </p:spPr>
      </p:sp>
      <p:pic>
        <p:nvPicPr>
          <p:cNvPr id="7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8033742"/>
            <a:ext cx="209550" cy="209550"/>
          </a:xfrm>
          <a:prstGeom prst="rect">
            <a:avLst/>
          </a:prstGeom>
        </p:spPr>
      </p:pic>
      <p:sp>
        <p:nvSpPr>
          <p:cNvPr id="75" name="Text 68"/>
          <p:cNvSpPr/>
          <p:nvPr/>
        </p:nvSpPr>
        <p:spPr>
          <a:xfrm>
            <a:off x="2295525" y="7986117"/>
            <a:ext cx="15120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스페셜 — 디저트 LAB Day</a:t>
            </a:r>
            <a:endParaRPr lang="en-US" sz="1050" dirty="0"/>
          </a:p>
        </p:txBody>
      </p:sp>
      <p:sp>
        <p:nvSpPr>
          <p:cNvPr id="76" name="Text 69"/>
          <p:cNvSpPr/>
          <p:nvPr/>
        </p:nvSpPr>
        <p:spPr>
          <a:xfrm>
            <a:off x="2295525" y="8167092"/>
            <a:ext cx="151209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오후 7시 · 한남동</a:t>
            </a:r>
            <a:endParaRPr lang="en-US" sz="825" dirty="0"/>
          </a:p>
        </p:txBody>
      </p:sp>
      <p:sp>
        <p:nvSpPr>
          <p:cNvPr id="77" name="Shape 70"/>
          <p:cNvSpPr/>
          <p:nvPr/>
        </p:nvSpPr>
        <p:spPr>
          <a:xfrm>
            <a:off x="5024586" y="8024217"/>
            <a:ext cx="509439" cy="22860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78" name="Text 71"/>
          <p:cNvSpPr/>
          <p:nvPr/>
        </p:nvSpPr>
        <p:spPr>
          <a:xfrm>
            <a:off x="5119836" y="8071842"/>
            <a:ext cx="3951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중</a:t>
            </a:r>
            <a:endParaRPr lang="en-US" sz="900" dirty="0"/>
          </a:p>
        </p:txBody>
      </p:sp>
      <p:sp>
        <p:nvSpPr>
          <p:cNvPr id="79" name="Text 72"/>
          <p:cNvSpPr/>
          <p:nvPr/>
        </p:nvSpPr>
        <p:spPr>
          <a:xfrm>
            <a:off x="1524000" y="8814792"/>
            <a:ext cx="9419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앞으로의 회차</a:t>
            </a:r>
            <a:endParaRPr lang="en-US" sz="1275" dirty="0"/>
          </a:p>
        </p:txBody>
      </p:sp>
      <p:sp>
        <p:nvSpPr>
          <p:cNvPr id="80" name="Shape 73"/>
          <p:cNvSpPr/>
          <p:nvPr/>
        </p:nvSpPr>
        <p:spPr>
          <a:xfrm>
            <a:off x="1524000" y="9119592"/>
            <a:ext cx="4191000" cy="857250"/>
          </a:xfrm>
          <a:prstGeom prst="roundRect">
            <a:avLst>
              <a:gd name="adj" fmla="val 2444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81" name="Text 74"/>
          <p:cNvSpPr/>
          <p:nvPr/>
        </p:nvSpPr>
        <p:spPr>
          <a:xfrm>
            <a:off x="1704975" y="9300567"/>
            <a:ext cx="11962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케미스트리오븐 9기</a:t>
            </a:r>
            <a:endParaRPr lang="en-US" sz="1125" dirty="0"/>
          </a:p>
        </p:txBody>
      </p:sp>
      <p:sp>
        <p:nvSpPr>
          <p:cNvPr id="82" name="Text 75"/>
          <p:cNvSpPr/>
          <p:nvPr/>
        </p:nvSpPr>
        <p:spPr>
          <a:xfrm>
            <a:off x="1704975" y="9510117"/>
            <a:ext cx="119628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6월 21일 (토) · 오후 2시</a:t>
            </a:r>
            <a:endParaRPr lang="en-US" sz="900" dirty="0"/>
          </a:p>
        </p:txBody>
      </p:sp>
      <p:sp>
        <p:nvSpPr>
          <p:cNvPr id="83" name="Text 76"/>
          <p:cNvSpPr/>
          <p:nvPr/>
        </p:nvSpPr>
        <p:spPr>
          <a:xfrm>
            <a:off x="1704975" y="9662517"/>
            <a:ext cx="119628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연남 베이킹 라운지</a:t>
            </a:r>
            <a:endParaRPr lang="en-US" sz="900" dirty="0"/>
          </a:p>
        </p:txBody>
      </p:sp>
      <p:sp>
        <p:nvSpPr>
          <p:cNvPr id="84" name="Shape 77"/>
          <p:cNvSpPr/>
          <p:nvPr/>
        </p:nvSpPr>
        <p:spPr>
          <a:xfrm>
            <a:off x="4926955" y="9300567"/>
            <a:ext cx="607070" cy="228600"/>
          </a:xfrm>
          <a:prstGeom prst="roundRect">
            <a:avLst>
              <a:gd name="adj" fmla="val 50000"/>
            </a:avLst>
          </a:prstGeom>
          <a:solidFill>
            <a:srgbClr val="F6E2C4"/>
          </a:solidFill>
          <a:ln/>
        </p:spPr>
      </p:sp>
      <p:sp>
        <p:nvSpPr>
          <p:cNvPr id="85" name="Text 78"/>
          <p:cNvSpPr/>
          <p:nvPr/>
        </p:nvSpPr>
        <p:spPr>
          <a:xfrm>
            <a:off x="5022205" y="9348192"/>
            <a:ext cx="492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9B6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예정</a:t>
            </a:r>
            <a:endParaRPr lang="en-US" sz="900" dirty="0"/>
          </a:p>
        </p:txBody>
      </p:sp>
      <p:sp>
        <p:nvSpPr>
          <p:cNvPr id="86" name="Shape 79"/>
          <p:cNvSpPr/>
          <p:nvPr/>
        </p:nvSpPr>
        <p:spPr>
          <a:xfrm>
            <a:off x="1524000" y="10091142"/>
            <a:ext cx="4191000" cy="857250"/>
          </a:xfrm>
          <a:prstGeom prst="roundRect">
            <a:avLst>
              <a:gd name="adj" fmla="val 24444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87" name="Text 80"/>
          <p:cNvSpPr/>
          <p:nvPr/>
        </p:nvSpPr>
        <p:spPr>
          <a:xfrm>
            <a:off x="1704975" y="10272117"/>
            <a:ext cx="12583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케미스트리오븐 10기</a:t>
            </a:r>
            <a:endParaRPr lang="en-US" sz="1125" dirty="0"/>
          </a:p>
        </p:txBody>
      </p:sp>
      <p:sp>
        <p:nvSpPr>
          <p:cNvPr id="88" name="Text 81"/>
          <p:cNvSpPr/>
          <p:nvPr/>
        </p:nvSpPr>
        <p:spPr>
          <a:xfrm>
            <a:off x="1704975" y="10481667"/>
            <a:ext cx="125834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6월 28일 (토) · 오후 2시</a:t>
            </a:r>
            <a:endParaRPr lang="en-US" sz="900" dirty="0"/>
          </a:p>
        </p:txBody>
      </p:sp>
      <p:sp>
        <p:nvSpPr>
          <p:cNvPr id="89" name="Text 82"/>
          <p:cNvSpPr/>
          <p:nvPr/>
        </p:nvSpPr>
        <p:spPr>
          <a:xfrm>
            <a:off x="1704975" y="10634067"/>
            <a:ext cx="125834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</a:t>
            </a:r>
            <a:endParaRPr lang="en-US" sz="900" dirty="0"/>
          </a:p>
        </p:txBody>
      </p:sp>
      <p:sp>
        <p:nvSpPr>
          <p:cNvPr id="90" name="Shape 83"/>
          <p:cNvSpPr/>
          <p:nvPr/>
        </p:nvSpPr>
        <p:spPr>
          <a:xfrm>
            <a:off x="5024586" y="10272117"/>
            <a:ext cx="509439" cy="22860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91" name="Text 84"/>
          <p:cNvSpPr/>
          <p:nvPr/>
        </p:nvSpPr>
        <p:spPr>
          <a:xfrm>
            <a:off x="5119836" y="10319742"/>
            <a:ext cx="3951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중</a:t>
            </a:r>
            <a:endParaRPr lang="en-US" sz="900" dirty="0"/>
          </a:p>
        </p:txBody>
      </p:sp>
      <p:sp>
        <p:nvSpPr>
          <p:cNvPr id="92" name="Shape 85"/>
          <p:cNvSpPr/>
          <p:nvPr/>
        </p:nvSpPr>
        <p:spPr>
          <a:xfrm>
            <a:off x="1333500" y="9839325"/>
            <a:ext cx="4572000" cy="742950"/>
          </a:xfrm>
          <a:prstGeom prst="rect">
            <a:avLst/>
          </a:prstGeom>
          <a:solidFill>
            <a:srgbClr val="FFF7EC">
              <a:alpha val="92000"/>
            </a:srgbClr>
          </a:solidFill>
          <a:ln/>
        </p:spPr>
      </p:sp>
      <p:sp>
        <p:nvSpPr>
          <p:cNvPr id="93" name="Shape 86"/>
          <p:cNvSpPr/>
          <p:nvPr/>
        </p:nvSpPr>
        <p:spPr>
          <a:xfrm>
            <a:off x="1333500" y="9839325"/>
            <a:ext cx="457200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9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5925" y="9944100"/>
            <a:ext cx="209550" cy="209550"/>
          </a:xfrm>
          <a:prstGeom prst="rect">
            <a:avLst/>
          </a:prstGeom>
        </p:spPr>
      </p:pic>
      <p:sp>
        <p:nvSpPr>
          <p:cNvPr id="95" name="Text 87"/>
          <p:cNvSpPr/>
          <p:nvPr/>
        </p:nvSpPr>
        <p:spPr>
          <a:xfrm>
            <a:off x="1745307" y="10191750"/>
            <a:ext cx="1668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825" dirty="0"/>
          </a:p>
        </p:txBody>
      </p:sp>
      <p:pic>
        <p:nvPicPr>
          <p:cNvPr id="9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0325" y="9944100"/>
            <a:ext cx="209550" cy="209550"/>
          </a:xfrm>
          <a:prstGeom prst="rect">
            <a:avLst/>
          </a:prstGeom>
        </p:spPr>
      </p:pic>
      <p:sp>
        <p:nvSpPr>
          <p:cNvPr id="97" name="Text 88"/>
          <p:cNvSpPr/>
          <p:nvPr/>
        </p:nvSpPr>
        <p:spPr>
          <a:xfrm>
            <a:off x="2614464" y="10191750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</a:t>
            </a:r>
            <a:endParaRPr lang="en-US" sz="825" dirty="0"/>
          </a:p>
        </p:txBody>
      </p:sp>
      <p:pic>
        <p:nvPicPr>
          <p:cNvPr id="9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4725" y="9944100"/>
            <a:ext cx="209550" cy="209550"/>
          </a:xfrm>
          <a:prstGeom prst="rect">
            <a:avLst/>
          </a:prstGeom>
        </p:spPr>
      </p:pic>
      <p:sp>
        <p:nvSpPr>
          <p:cNvPr id="99" name="Text 89"/>
          <p:cNvSpPr/>
          <p:nvPr/>
        </p:nvSpPr>
        <p:spPr>
          <a:xfrm>
            <a:off x="3441055" y="10191750"/>
            <a:ext cx="43309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</a:t>
            </a:r>
            <a:endParaRPr lang="en-US" sz="825" dirty="0"/>
          </a:p>
        </p:txBody>
      </p:sp>
      <p:pic>
        <p:nvPicPr>
          <p:cNvPr id="10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9125" y="9944100"/>
            <a:ext cx="209550" cy="209550"/>
          </a:xfrm>
          <a:prstGeom prst="rect">
            <a:avLst/>
          </a:prstGeom>
        </p:spPr>
      </p:pic>
      <p:sp>
        <p:nvSpPr>
          <p:cNvPr id="101" name="Text 90"/>
          <p:cNvSpPr/>
          <p:nvPr/>
        </p:nvSpPr>
        <p:spPr>
          <a:xfrm>
            <a:off x="4398020" y="10191750"/>
            <a:ext cx="3479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오브닝</a:t>
            </a:r>
            <a:endParaRPr lang="en-US" sz="825" dirty="0"/>
          </a:p>
        </p:txBody>
      </p:sp>
      <p:pic>
        <p:nvPicPr>
          <p:cNvPr id="10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3525" y="9944100"/>
            <a:ext cx="209550" cy="209550"/>
          </a:xfrm>
          <a:prstGeom prst="rect">
            <a:avLst/>
          </a:prstGeom>
        </p:spPr>
      </p:pic>
      <p:sp>
        <p:nvSpPr>
          <p:cNvPr id="103" name="Text 91"/>
          <p:cNvSpPr/>
          <p:nvPr/>
        </p:nvSpPr>
        <p:spPr>
          <a:xfrm>
            <a:off x="5357664" y="10191750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</a:t>
            </a:r>
            <a:endParaRPr lang="en-US" sz="825" dirty="0"/>
          </a:p>
        </p:txBody>
      </p:sp>
      <p:sp>
        <p:nvSpPr>
          <p:cNvPr id="104" name="Shape 92"/>
          <p:cNvSpPr/>
          <p:nvPr/>
        </p:nvSpPr>
        <p:spPr>
          <a:xfrm>
            <a:off x="2981325" y="10458450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105" name="Text 93"/>
          <p:cNvSpPr/>
          <p:nvPr/>
        </p:nvSpPr>
        <p:spPr>
          <a:xfrm>
            <a:off x="7048500" y="3718173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탭 2 · 일정</a:t>
            </a:r>
            <a:endParaRPr lang="en-US" sz="1200" dirty="0"/>
          </a:p>
        </p:txBody>
      </p:sp>
      <p:sp>
        <p:nvSpPr>
          <p:cNvPr id="106" name="Text 94"/>
          <p:cNvSpPr/>
          <p:nvPr/>
        </p:nvSpPr>
        <p:spPr>
          <a:xfrm>
            <a:off x="7048500" y="4118223"/>
            <a:ext cx="1059561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달력 한 장으로 회차를 본다.</a:t>
            </a:r>
            <a:endParaRPr lang="en-US" sz="5700" dirty="0"/>
          </a:p>
        </p:txBody>
      </p:sp>
      <p:sp>
        <p:nvSpPr>
          <p:cNvPr id="107" name="Text 95"/>
          <p:cNvSpPr/>
          <p:nvPr/>
        </p:nvSpPr>
        <p:spPr>
          <a:xfrm>
            <a:off x="7048500" y="5920234"/>
            <a:ext cx="706374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회차가 있는 날에 닷이 찍히고, 탭하면 그날의 회차 카드가 펼쳐져요.</a:t>
            </a:r>
            <a:endParaRPr lang="en-US" sz="1650" dirty="0"/>
          </a:p>
        </p:txBody>
      </p:sp>
      <p:sp>
        <p:nvSpPr>
          <p:cNvPr id="108" name="Text 96"/>
          <p:cNvSpPr/>
          <p:nvPr/>
        </p:nvSpPr>
        <p:spPr>
          <a:xfrm>
            <a:off x="7124700" y="6549777"/>
            <a:ext cx="68770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 그리드 · 신청 가능/오픈 예정/기획 중 색 구분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선택된 날짜 회차 카드 (월 큰 숫자 · 인원 · 가격)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앞으로의 회차 리스트 — 상태 뱃지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857250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990600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62025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62025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1095375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119188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1119188"/>
            <a:ext cx="228600" cy="1047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rot="10800000">
            <a:off x="1485900" y="1438275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100" y="1514475"/>
            <a:ext cx="152400" cy="152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73189" y="1514475"/>
            <a:ext cx="5689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회차 상세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448300" y="1438275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0" y="1514475"/>
            <a:ext cx="152400" cy="1524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485900" y="1819275"/>
            <a:ext cx="4267200" cy="1905000"/>
          </a:xfrm>
          <a:prstGeom prst="roundRect">
            <a:avLst>
              <a:gd name="adj" fmla="val 12000"/>
            </a:avLst>
          </a:prstGeom>
          <a:solidFill>
            <a:srgbClr val="551321"/>
          </a:solidFill>
          <a:ln/>
        </p:spPr>
      </p:sp>
      <p:sp>
        <p:nvSpPr>
          <p:cNvPr id="15" name="Shape 9"/>
          <p:cNvSpPr/>
          <p:nvPr/>
        </p:nvSpPr>
        <p:spPr>
          <a:xfrm>
            <a:off x="1485900" y="1819275"/>
            <a:ext cx="4267200" cy="1905000"/>
          </a:xfrm>
          <a:prstGeom prst="rect">
            <a:avLst/>
          </a:prstGeom>
          <a:solidFill>
            <a:srgbClr val="9C3A47"/>
          </a:solidFill>
          <a:ln/>
        </p:spPr>
      </p:sp>
      <p:sp>
        <p:nvSpPr>
          <p:cNvPr id="16" name="Shape 10"/>
          <p:cNvSpPr/>
          <p:nvPr/>
        </p:nvSpPr>
        <p:spPr>
          <a:xfrm>
            <a:off x="2953048" y="2652713"/>
            <a:ext cx="1332756" cy="238125"/>
          </a:xfrm>
          <a:prstGeom prst="roundRect">
            <a:avLst>
              <a:gd name="adj" fmla="val 32000"/>
            </a:avLst>
          </a:prstGeom>
          <a:solidFill>
            <a:srgbClr val="FFF7EC">
              <a:alpha val="85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3067348" y="2709863"/>
            <a:ext cx="118035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7A1F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KEY VISUAL</a:t>
            </a:r>
            <a:endParaRPr lang="en-US" sz="825" dirty="0"/>
          </a:p>
        </p:txBody>
      </p:sp>
      <p:sp>
        <p:nvSpPr>
          <p:cNvPr id="18" name="Shape 12"/>
          <p:cNvSpPr/>
          <p:nvPr/>
        </p:nvSpPr>
        <p:spPr>
          <a:xfrm>
            <a:off x="1657350" y="2724150"/>
            <a:ext cx="607070" cy="228600"/>
          </a:xfrm>
          <a:prstGeom prst="roundRect">
            <a:avLst>
              <a:gd name="adj" fmla="val 50000"/>
            </a:avLst>
          </a:prstGeom>
          <a:solidFill>
            <a:srgbClr val="DDEBDD"/>
          </a:solidFill>
          <a:ln/>
        </p:spPr>
      </p:sp>
      <p:sp>
        <p:nvSpPr>
          <p:cNvPr id="19" name="Text 13"/>
          <p:cNvSpPr/>
          <p:nvPr/>
        </p:nvSpPr>
        <p:spPr>
          <a:xfrm>
            <a:off x="1752600" y="2771775"/>
            <a:ext cx="492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3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가능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657350" y="3028950"/>
            <a:ext cx="40420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-1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케미스트리오븐 8기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1657350" y="3429000"/>
            <a:ext cx="404202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4:4 소셜 베이킹 매칭</a:t>
            </a:r>
            <a:endParaRPr lang="en-US" sz="975" dirty="0"/>
          </a:p>
        </p:txBody>
      </p:sp>
      <p:sp>
        <p:nvSpPr>
          <p:cNvPr id="22" name="Shape 16"/>
          <p:cNvSpPr/>
          <p:nvPr/>
        </p:nvSpPr>
        <p:spPr>
          <a:xfrm>
            <a:off x="1524000" y="3876675"/>
            <a:ext cx="4191000" cy="1838325"/>
          </a:xfrm>
          <a:prstGeom prst="roundRect">
            <a:avLst>
              <a:gd name="adj" fmla="val 11399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4975" y="4133850"/>
            <a:ext cx="152400" cy="1524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952625" y="4138613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일시</a:t>
            </a:r>
            <a:endParaRPr lang="en-US" sz="975" dirty="0"/>
          </a:p>
        </p:txBody>
      </p:sp>
      <p:sp>
        <p:nvSpPr>
          <p:cNvPr id="25" name="Text 18"/>
          <p:cNvSpPr/>
          <p:nvPr/>
        </p:nvSpPr>
        <p:spPr>
          <a:xfrm>
            <a:off x="2581275" y="4133850"/>
            <a:ext cx="20703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6. 14 (토) </a:t>
            </a:r>
            <a:r>
              <a:rPr lang="en-US" sz="1050" b="1" dirty="0" err="1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오후</a:t>
            </a: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 smtClean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3:00 </a:t>
            </a: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6:00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1704975" y="4400550"/>
            <a:ext cx="382905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4975" y="4524375"/>
            <a:ext cx="152400" cy="1524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952625" y="4529138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장소</a:t>
            </a:r>
            <a:endParaRPr lang="en-US" sz="975" dirty="0"/>
          </a:p>
        </p:txBody>
      </p:sp>
      <p:sp>
        <p:nvSpPr>
          <p:cNvPr id="29" name="Text 21"/>
          <p:cNvSpPr/>
          <p:nvPr/>
        </p:nvSpPr>
        <p:spPr>
          <a:xfrm>
            <a:off x="2581275" y="4524375"/>
            <a:ext cx="1769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ko-KR" altLang="en-US" sz="1050" b="1" dirty="0" smtClean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석촌</a:t>
            </a:r>
            <a:r>
              <a:rPr lang="en-US" sz="1050" b="1" dirty="0" smtClean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베이킹 스튜디오 · </a:t>
            </a:r>
            <a:r>
              <a:rPr lang="en-US" sz="1050" b="1" dirty="0" err="1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</a:t>
            </a: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050" b="1" dirty="0" smtClean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송파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1704975" y="4791075"/>
            <a:ext cx="382905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4975" y="4914900"/>
            <a:ext cx="152400" cy="1524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952625" y="4919663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모집</a:t>
            </a:r>
            <a:endParaRPr lang="en-US" sz="975" dirty="0"/>
          </a:p>
        </p:txBody>
      </p:sp>
      <p:sp>
        <p:nvSpPr>
          <p:cNvPr id="33" name="Text 24"/>
          <p:cNvSpPr/>
          <p:nvPr/>
        </p:nvSpPr>
        <p:spPr>
          <a:xfrm>
            <a:off x="2581275" y="4914900"/>
            <a:ext cx="13614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 </a:t>
            </a:r>
            <a:r>
              <a:rPr lang="en-US" sz="1050" b="1" dirty="0" smtClean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5명 </a:t>
            </a: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여 </a:t>
            </a:r>
            <a:r>
              <a:rPr lang="en-US" sz="1050" b="1" dirty="0" smtClean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5명 </a:t>
            </a: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(총 </a:t>
            </a:r>
            <a:r>
              <a:rPr lang="en-US" sz="1050" b="1" dirty="0" smtClean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10명</a:t>
            </a: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1704975" y="5181600"/>
            <a:ext cx="382905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4975" y="5305425"/>
            <a:ext cx="152400" cy="1524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952625" y="5310188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참가비</a:t>
            </a:r>
            <a:endParaRPr lang="en-US" sz="975" dirty="0"/>
          </a:p>
        </p:txBody>
      </p:sp>
      <p:sp>
        <p:nvSpPr>
          <p:cNvPr id="37" name="Text 27"/>
          <p:cNvSpPr/>
          <p:nvPr/>
        </p:nvSpPr>
        <p:spPr>
          <a:xfrm>
            <a:off x="2581275" y="5305425"/>
            <a:ext cx="6450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 smtClean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</a:t>
            </a: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1524000" y="5943600"/>
            <a:ext cx="6652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방식</a:t>
            </a:r>
            <a:endParaRPr lang="en-US" sz="1275" dirty="0"/>
          </a:p>
        </p:txBody>
      </p:sp>
      <p:sp>
        <p:nvSpPr>
          <p:cNvPr id="39" name="Shape 29"/>
          <p:cNvSpPr/>
          <p:nvPr/>
        </p:nvSpPr>
        <p:spPr>
          <a:xfrm>
            <a:off x="1524000" y="6248400"/>
            <a:ext cx="4191000" cy="2409825"/>
          </a:xfrm>
          <a:prstGeom prst="roundRect">
            <a:avLst>
              <a:gd name="adj" fmla="val 8696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1704975" y="6429375"/>
            <a:ext cx="266700" cy="266700"/>
          </a:xfrm>
          <a:prstGeom prst="ellipse">
            <a:avLst/>
          </a:prstGeom>
          <a:solidFill>
            <a:srgbClr val="F1E3D0"/>
          </a:solidFill>
          <a:ln/>
        </p:spPr>
      </p:sp>
      <p:sp>
        <p:nvSpPr>
          <p:cNvPr id="41" name="Text 31"/>
          <p:cNvSpPr/>
          <p:nvPr/>
        </p:nvSpPr>
        <p:spPr>
          <a:xfrm>
            <a:off x="1666875" y="64293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2105025" y="6457950"/>
            <a:ext cx="19143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케미 분석</a:t>
            </a:r>
            <a:endParaRPr lang="en-US" sz="1050" dirty="0"/>
          </a:p>
        </p:txBody>
      </p:sp>
      <p:sp>
        <p:nvSpPr>
          <p:cNvPr id="43" name="Text 33"/>
          <p:cNvSpPr/>
          <p:nvPr/>
        </p:nvSpPr>
        <p:spPr>
          <a:xfrm>
            <a:off x="2105025" y="6629400"/>
            <a:ext cx="191437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성향 질문지를 기반으로 케미 캐릭터 매칭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1704975" y="6858000"/>
            <a:ext cx="266700" cy="266700"/>
          </a:xfrm>
          <a:prstGeom prst="ellipse">
            <a:avLst/>
          </a:prstGeom>
          <a:solidFill>
            <a:srgbClr val="F1E3D0"/>
          </a:solidFill>
          <a:ln/>
        </p:spPr>
      </p:sp>
      <p:sp>
        <p:nvSpPr>
          <p:cNvPr id="45" name="Text 35"/>
          <p:cNvSpPr/>
          <p:nvPr/>
        </p:nvSpPr>
        <p:spPr>
          <a:xfrm>
            <a:off x="1666875" y="68580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2105025" y="6886575"/>
            <a:ext cx="19143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베이킹</a:t>
            </a:r>
            <a:endParaRPr lang="en-US" sz="1050" dirty="0"/>
          </a:p>
        </p:txBody>
      </p:sp>
      <p:sp>
        <p:nvSpPr>
          <p:cNvPr id="47" name="Text 37"/>
          <p:cNvSpPr/>
          <p:nvPr/>
        </p:nvSpPr>
        <p:spPr>
          <a:xfrm>
            <a:off x="2105025" y="7058025"/>
            <a:ext cx="191437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디저트를 만들며 자연스러운 첫 만남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1704975" y="7286625"/>
            <a:ext cx="266700" cy="266700"/>
          </a:xfrm>
          <a:prstGeom prst="ellipse">
            <a:avLst/>
          </a:prstGeom>
          <a:solidFill>
            <a:srgbClr val="F1E3D0"/>
          </a:solidFill>
          <a:ln/>
        </p:spPr>
      </p:sp>
      <p:sp>
        <p:nvSpPr>
          <p:cNvPr id="49" name="Text 39"/>
          <p:cNvSpPr/>
          <p:nvPr/>
        </p:nvSpPr>
        <p:spPr>
          <a:xfrm>
            <a:off x="1666875" y="728662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0"/>
          <p:cNvSpPr/>
          <p:nvPr/>
        </p:nvSpPr>
        <p:spPr>
          <a:xfrm>
            <a:off x="2105025" y="7315200"/>
            <a:ext cx="15545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&amp; 게임</a:t>
            </a:r>
            <a:endParaRPr lang="en-US" sz="1050" dirty="0"/>
          </a:p>
        </p:txBody>
      </p:sp>
      <p:sp>
        <p:nvSpPr>
          <p:cNvPr id="51" name="Text 41"/>
          <p:cNvSpPr/>
          <p:nvPr/>
        </p:nvSpPr>
        <p:spPr>
          <a:xfrm>
            <a:off x="2105025" y="7486650"/>
            <a:ext cx="15545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닉네임으로 라운드별 대화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1704975" y="7715250"/>
            <a:ext cx="266700" cy="266700"/>
          </a:xfrm>
          <a:prstGeom prst="ellipse">
            <a:avLst/>
          </a:prstGeom>
          <a:solidFill>
            <a:srgbClr val="F1E3D0"/>
          </a:solidFill>
          <a:ln/>
        </p:spPr>
      </p:sp>
      <p:sp>
        <p:nvSpPr>
          <p:cNvPr id="53" name="Text 43"/>
          <p:cNvSpPr/>
          <p:nvPr/>
        </p:nvSpPr>
        <p:spPr>
          <a:xfrm>
            <a:off x="1666875" y="77152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54" name="Text 44"/>
          <p:cNvSpPr/>
          <p:nvPr/>
        </p:nvSpPr>
        <p:spPr>
          <a:xfrm>
            <a:off x="2105025" y="7743825"/>
            <a:ext cx="152831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1050" dirty="0"/>
          </a:p>
        </p:txBody>
      </p:sp>
      <p:sp>
        <p:nvSpPr>
          <p:cNvPr id="55" name="Text 45"/>
          <p:cNvSpPr/>
          <p:nvPr/>
        </p:nvSpPr>
        <p:spPr>
          <a:xfrm>
            <a:off x="2105025" y="7915275"/>
            <a:ext cx="152831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첫인상 · 중간 · 최종 라운드 선택</a:t>
            </a:r>
            <a:endParaRPr lang="en-US" sz="900" dirty="0"/>
          </a:p>
        </p:txBody>
      </p:sp>
      <p:sp>
        <p:nvSpPr>
          <p:cNvPr id="56" name="Shape 46"/>
          <p:cNvSpPr/>
          <p:nvPr/>
        </p:nvSpPr>
        <p:spPr>
          <a:xfrm>
            <a:off x="1704975" y="8143875"/>
            <a:ext cx="266700" cy="266700"/>
          </a:xfrm>
          <a:prstGeom prst="ellipse">
            <a:avLst/>
          </a:prstGeom>
          <a:solidFill>
            <a:srgbClr val="F1E3D0"/>
          </a:solidFill>
          <a:ln/>
        </p:spPr>
      </p:sp>
      <p:sp>
        <p:nvSpPr>
          <p:cNvPr id="57" name="Text 47"/>
          <p:cNvSpPr/>
          <p:nvPr/>
        </p:nvSpPr>
        <p:spPr>
          <a:xfrm>
            <a:off x="1666875" y="81438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58" name="Text 48"/>
          <p:cNvSpPr/>
          <p:nvPr/>
        </p:nvSpPr>
        <p:spPr>
          <a:xfrm>
            <a:off x="2105025" y="8172450"/>
            <a:ext cx="18183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결과</a:t>
            </a:r>
            <a:endParaRPr lang="en-US" sz="1050" dirty="0"/>
          </a:p>
        </p:txBody>
      </p:sp>
      <p:sp>
        <p:nvSpPr>
          <p:cNvPr id="59" name="Text 49"/>
          <p:cNvSpPr/>
          <p:nvPr/>
        </p:nvSpPr>
        <p:spPr>
          <a:xfrm>
            <a:off x="2105025" y="8343900"/>
            <a:ext cx="181838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상호 선택 시 연락처 공개 · 케미 리포트</a:t>
            </a:r>
            <a:endParaRPr lang="en-US" sz="900" dirty="0"/>
          </a:p>
        </p:txBody>
      </p:sp>
      <p:sp>
        <p:nvSpPr>
          <p:cNvPr id="60" name="Text 50"/>
          <p:cNvSpPr/>
          <p:nvPr/>
        </p:nvSpPr>
        <p:spPr>
          <a:xfrm>
            <a:off x="1524000" y="8924925"/>
            <a:ext cx="6652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조건</a:t>
            </a:r>
            <a:endParaRPr lang="en-US" sz="1275" dirty="0"/>
          </a:p>
        </p:txBody>
      </p:sp>
      <p:sp>
        <p:nvSpPr>
          <p:cNvPr id="61" name="Shape 51"/>
          <p:cNvSpPr/>
          <p:nvPr/>
        </p:nvSpPr>
        <p:spPr>
          <a:xfrm>
            <a:off x="1524000" y="9229725"/>
            <a:ext cx="4191000" cy="993279"/>
          </a:xfrm>
          <a:prstGeom prst="roundRect">
            <a:avLst>
              <a:gd name="adj" fmla="val 21097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62" name="Text 52"/>
          <p:cNvSpPr/>
          <p:nvPr/>
        </p:nvSpPr>
        <p:spPr>
          <a:xfrm>
            <a:off x="1755775" y="9410700"/>
            <a:ext cx="3888549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101600" indent="-101600" algn="l">
              <a:lnSpc>
                <a:spcPct val="17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25세 — 39세</a:t>
            </a:r>
            <a:endParaRPr lang="en-US" sz="975" dirty="0"/>
          </a:p>
        </p:txBody>
      </p:sp>
      <p:sp>
        <p:nvSpPr>
          <p:cNvPr id="63" name="Text 53"/>
          <p:cNvSpPr/>
          <p:nvPr/>
        </p:nvSpPr>
        <p:spPr>
          <a:xfrm>
            <a:off x="1755775" y="9621143"/>
            <a:ext cx="3888549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101600" indent="-101600" algn="l">
              <a:lnSpc>
                <a:spcPct val="17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실명 / 직장 인증이 가능하신 분</a:t>
            </a:r>
            <a:endParaRPr lang="en-US" sz="975" dirty="0"/>
          </a:p>
        </p:txBody>
      </p:sp>
      <p:sp>
        <p:nvSpPr>
          <p:cNvPr id="64" name="Text 54"/>
          <p:cNvSpPr/>
          <p:nvPr/>
        </p:nvSpPr>
        <p:spPr>
          <a:xfrm>
            <a:off x="1755775" y="9831586"/>
            <a:ext cx="3888549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101600" indent="-101600" algn="l">
              <a:lnSpc>
                <a:spcPct val="17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75" dirty="0" err="1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당일</a:t>
            </a: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75" dirty="0" smtClean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4시간 </a:t>
            </a: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모두 참여 가능하신 분</a:t>
            </a:r>
            <a:endParaRPr lang="en-US" sz="975" dirty="0"/>
          </a:p>
        </p:txBody>
      </p:sp>
      <p:sp>
        <p:nvSpPr>
          <p:cNvPr id="65" name="Text 55"/>
          <p:cNvSpPr/>
          <p:nvPr/>
        </p:nvSpPr>
        <p:spPr>
          <a:xfrm>
            <a:off x="1524000" y="10489704"/>
            <a:ext cx="13340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유의사항 · 환불 규정</a:t>
            </a:r>
            <a:endParaRPr lang="en-US" sz="1275" dirty="0"/>
          </a:p>
        </p:txBody>
      </p:sp>
      <p:sp>
        <p:nvSpPr>
          <p:cNvPr id="66" name="Shape 56"/>
          <p:cNvSpPr/>
          <p:nvPr/>
        </p:nvSpPr>
        <p:spPr>
          <a:xfrm>
            <a:off x="1524000" y="10794504"/>
            <a:ext cx="4191000" cy="969169"/>
          </a:xfrm>
          <a:prstGeom prst="roundRect">
            <a:avLst>
              <a:gd name="adj" fmla="val 21622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67" name="Text 57"/>
          <p:cNvSpPr/>
          <p:nvPr/>
        </p:nvSpPr>
        <p:spPr>
          <a:xfrm>
            <a:off x="1704975" y="10975479"/>
            <a:ext cx="3943922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38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선정 발표 후 24시간 내 입금이 확인되어야 최종 확정됩니다. · 행사 7일 전까지: 전액 환불 / 3일 전: 50% / 이후: 환불 불가 · 견과류 · 글루텐 알레르기는 신청서에 반드시 표기 부탁드려요.</a:t>
            </a:r>
            <a:endParaRPr lang="en-US" sz="938" dirty="0"/>
          </a:p>
        </p:txBody>
      </p:sp>
      <p:sp>
        <p:nvSpPr>
          <p:cNvPr id="68" name="Shape 58"/>
          <p:cNvSpPr/>
          <p:nvPr/>
        </p:nvSpPr>
        <p:spPr>
          <a:xfrm>
            <a:off x="1524000" y="9782175"/>
            <a:ext cx="419100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69" name="Text 59"/>
          <p:cNvSpPr/>
          <p:nvPr/>
        </p:nvSpPr>
        <p:spPr>
          <a:xfrm>
            <a:off x="3304729" y="9953625"/>
            <a:ext cx="6295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신청하기</a:t>
            </a:r>
            <a:endParaRPr lang="en-US" sz="1275" dirty="0"/>
          </a:p>
        </p:txBody>
      </p:sp>
      <p:sp>
        <p:nvSpPr>
          <p:cNvPr id="70" name="Shape 60"/>
          <p:cNvSpPr/>
          <p:nvPr/>
        </p:nvSpPr>
        <p:spPr>
          <a:xfrm>
            <a:off x="2981325" y="10458450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71" name="Text 61"/>
          <p:cNvSpPr/>
          <p:nvPr/>
        </p:nvSpPr>
        <p:spPr>
          <a:xfrm>
            <a:off x="7048500" y="3718173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회차 상세</a:t>
            </a:r>
            <a:endParaRPr lang="en-US" sz="1200" dirty="0"/>
          </a:p>
        </p:txBody>
      </p:sp>
      <p:sp>
        <p:nvSpPr>
          <p:cNvPr id="72" name="Text 62"/>
          <p:cNvSpPr/>
          <p:nvPr/>
        </p:nvSpPr>
        <p:spPr>
          <a:xfrm>
            <a:off x="7048500" y="4118223"/>
            <a:ext cx="1059561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신청 결정에 필요한 모든 정보 한 화면.</a:t>
            </a:r>
            <a:endParaRPr lang="en-US" sz="5700" dirty="0"/>
          </a:p>
        </p:txBody>
      </p:sp>
      <p:sp>
        <p:nvSpPr>
          <p:cNvPr id="73" name="Text 63"/>
          <p:cNvSpPr/>
          <p:nvPr/>
        </p:nvSpPr>
        <p:spPr>
          <a:xfrm>
            <a:off x="7048500" y="5920234"/>
            <a:ext cx="706374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비주얼 · KV 리스트 · 5단계 진행 · 신청 조건 · 환불 규정 · 고정 CTA.</a:t>
            </a:r>
            <a:endParaRPr lang="en-US" sz="1650" dirty="0"/>
          </a:p>
        </p:txBody>
      </p:sp>
      <p:sp>
        <p:nvSpPr>
          <p:cNvPr id="74" name="Text 64"/>
          <p:cNvSpPr/>
          <p:nvPr/>
        </p:nvSpPr>
        <p:spPr>
          <a:xfrm>
            <a:off x="7124700" y="6549777"/>
            <a:ext cx="68770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일시 · 장소 · 모집 · 참가비 4 KV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1~5 진행 방식 — 숫자 monogram + 설명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하단 고정 "신청하기" CTA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857250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990600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62025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62025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1095375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119188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1119188"/>
            <a:ext cx="228600" cy="1047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24000" y="1524000"/>
            <a:ext cx="462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410200" y="1495425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571625"/>
            <a:ext cx="152400" cy="1524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524000" y="1971675"/>
            <a:ext cx="4191000" cy="1485900"/>
          </a:xfrm>
          <a:prstGeom prst="roundRect">
            <a:avLst>
              <a:gd name="adj" fmla="val 1410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1704975" y="2152650"/>
            <a:ext cx="590550" cy="590550"/>
          </a:xfrm>
          <a:prstGeom prst="ellipse">
            <a:avLst/>
          </a:prstGeom>
          <a:solidFill>
            <a:srgbClr val="F5DFA8"/>
          </a:solidFill>
          <a:ln w="9525">
            <a:solidFill>
              <a:srgbClr val="D9C5A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781621" y="2281238"/>
            <a:ext cx="5133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-18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지윤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2428875" y="2238375"/>
            <a:ext cx="288436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김지윤</a:t>
            </a: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1995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2428875" y="2476500"/>
            <a:ext cx="745480" cy="180975"/>
          </a:xfrm>
          <a:prstGeom prst="roundRect">
            <a:avLst>
              <a:gd name="adj" fmla="val 50000"/>
            </a:avLst>
          </a:prstGeom>
          <a:solidFill>
            <a:srgbClr val="DDEBDD"/>
          </a:solidFill>
          <a:ln/>
        </p:spPr>
      </p:sp>
      <p:sp>
        <p:nvSpPr>
          <p:cNvPr id="17" name="Text 12"/>
          <p:cNvSpPr/>
          <p:nvPr/>
        </p:nvSpPr>
        <p:spPr>
          <a:xfrm>
            <a:off x="2505075" y="2505075"/>
            <a:ext cx="6692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실명 인증 완료</a:t>
            </a:r>
            <a:endParaRPr lang="en-US" sz="825" dirty="0"/>
          </a:p>
        </p:txBody>
      </p:sp>
      <p:sp>
        <p:nvSpPr>
          <p:cNvPr id="18" name="Shape 13"/>
          <p:cNvSpPr/>
          <p:nvPr/>
        </p:nvSpPr>
        <p:spPr>
          <a:xfrm>
            <a:off x="3231505" y="2476500"/>
            <a:ext cx="745480" cy="180975"/>
          </a:xfrm>
          <a:prstGeom prst="roundRect">
            <a:avLst>
              <a:gd name="adj" fmla="val 50000"/>
            </a:avLst>
          </a:prstGeom>
          <a:solidFill>
            <a:srgbClr val="DDEBDD"/>
          </a:solidFill>
          <a:ln/>
        </p:spPr>
      </p:sp>
      <p:sp>
        <p:nvSpPr>
          <p:cNvPr id="19" name="Text 14"/>
          <p:cNvSpPr/>
          <p:nvPr/>
        </p:nvSpPr>
        <p:spPr>
          <a:xfrm>
            <a:off x="3307705" y="2505075"/>
            <a:ext cx="6692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직장 인증 완료</a:t>
            </a:r>
            <a:endParaRPr lang="en-US" sz="825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2575" y="2362200"/>
            <a:ext cx="171450" cy="17145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704975" y="2876550"/>
            <a:ext cx="3829050" cy="400050"/>
          </a:xfrm>
          <a:prstGeom prst="roundRect">
            <a:avLst>
              <a:gd name="adj" fmla="val 33333"/>
            </a:avLst>
          </a:prstGeom>
          <a:solidFill>
            <a:srgbClr val="FFF9F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9275" y="2990850"/>
            <a:ext cx="171450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085975" y="3005138"/>
            <a:ext cx="290152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나의 케미 캐릭터</a:t>
            </a:r>
            <a:r>
              <a:rPr lang="en-US" sz="97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티라미수</a:t>
            </a:r>
            <a:endParaRPr lang="en-US" sz="975" dirty="0"/>
          </a:p>
        </p:txBody>
      </p:sp>
      <p:sp>
        <p:nvSpPr>
          <p:cNvPr id="24" name="Text 17"/>
          <p:cNvSpPr/>
          <p:nvPr/>
        </p:nvSpPr>
        <p:spPr>
          <a:xfrm>
            <a:off x="4998244" y="3014663"/>
            <a:ext cx="49768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 ›</a:t>
            </a:r>
            <a:endParaRPr lang="en-US" sz="825" dirty="0"/>
          </a:p>
        </p:txBody>
      </p:sp>
      <p:sp>
        <p:nvSpPr>
          <p:cNvPr id="25" name="Text 18"/>
          <p:cNvSpPr/>
          <p:nvPr/>
        </p:nvSpPr>
        <p:spPr>
          <a:xfrm>
            <a:off x="1524000" y="3762375"/>
            <a:ext cx="6652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현황</a:t>
            </a:r>
            <a:endParaRPr lang="en-US" sz="1275" dirty="0"/>
          </a:p>
        </p:txBody>
      </p:sp>
      <p:sp>
        <p:nvSpPr>
          <p:cNvPr id="26" name="Shape 19"/>
          <p:cNvSpPr/>
          <p:nvPr/>
        </p:nvSpPr>
        <p:spPr>
          <a:xfrm>
            <a:off x="1524000" y="4067175"/>
            <a:ext cx="4191000" cy="1371600"/>
          </a:xfrm>
          <a:prstGeom prst="roundRect">
            <a:avLst>
              <a:gd name="adj" fmla="val 15278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1704975" y="4248150"/>
            <a:ext cx="16897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케미스트리오븐 8기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704975" y="4419600"/>
            <a:ext cx="16897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입금 확인 후 최종 확정됩니다</a:t>
            </a:r>
            <a:endParaRPr lang="en-US" sz="1125" dirty="0"/>
          </a:p>
        </p:txBody>
      </p:sp>
      <p:sp>
        <p:nvSpPr>
          <p:cNvPr id="29" name="Text 22"/>
          <p:cNvSpPr/>
          <p:nvPr/>
        </p:nvSpPr>
        <p:spPr>
          <a:xfrm>
            <a:off x="1704975" y="4629150"/>
            <a:ext cx="16897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6월 14일 (토) · 오후 2시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926955" y="4248150"/>
            <a:ext cx="607070" cy="228600"/>
          </a:xfrm>
          <a:prstGeom prst="roundRect">
            <a:avLst>
              <a:gd name="adj" fmla="val 50000"/>
            </a:avLst>
          </a:prstGeom>
          <a:solidFill>
            <a:srgbClr val="F5DFA8"/>
          </a:solidFill>
          <a:ln/>
        </p:spPr>
      </p:sp>
      <p:sp>
        <p:nvSpPr>
          <p:cNvPr id="31" name="Text 24"/>
          <p:cNvSpPr/>
          <p:nvPr/>
        </p:nvSpPr>
        <p:spPr>
          <a:xfrm>
            <a:off x="5022205" y="4295775"/>
            <a:ext cx="492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입금 대기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1906786" y="4895850"/>
            <a:ext cx="209550" cy="209550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4411" y="4943475"/>
            <a:ext cx="114300" cy="1143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929259" y="5143500"/>
            <a:ext cx="24095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</a:t>
            </a:r>
            <a:endParaRPr lang="en-US" sz="750" dirty="0"/>
          </a:p>
        </p:txBody>
      </p:sp>
      <p:sp>
        <p:nvSpPr>
          <p:cNvPr id="35" name="Shape 27"/>
          <p:cNvSpPr/>
          <p:nvPr/>
        </p:nvSpPr>
        <p:spPr>
          <a:xfrm>
            <a:off x="2375446" y="5022056"/>
            <a:ext cx="76200" cy="14288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6" name="Shape 28"/>
          <p:cNvSpPr/>
          <p:nvPr/>
        </p:nvSpPr>
        <p:spPr>
          <a:xfrm>
            <a:off x="2710755" y="4895850"/>
            <a:ext cx="209550" cy="209550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8380" y="4943475"/>
            <a:ext cx="114300" cy="1143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733080" y="5143500"/>
            <a:ext cx="24095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</a:t>
            </a:r>
            <a:endParaRPr lang="en-US" sz="750" dirty="0"/>
          </a:p>
        </p:txBody>
      </p:sp>
      <p:sp>
        <p:nvSpPr>
          <p:cNvPr id="39" name="Shape 30"/>
          <p:cNvSpPr/>
          <p:nvPr/>
        </p:nvSpPr>
        <p:spPr>
          <a:xfrm>
            <a:off x="3179415" y="5022056"/>
            <a:ext cx="76200" cy="14288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40" name="Shape 31"/>
          <p:cNvSpPr/>
          <p:nvPr/>
        </p:nvSpPr>
        <p:spPr>
          <a:xfrm>
            <a:off x="3514576" y="4895850"/>
            <a:ext cx="209550" cy="209550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2201" y="4943475"/>
            <a:ext cx="114300" cy="1143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537049" y="5143500"/>
            <a:ext cx="24095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</a:t>
            </a:r>
            <a:endParaRPr lang="en-US" sz="750" dirty="0"/>
          </a:p>
        </p:txBody>
      </p:sp>
      <p:sp>
        <p:nvSpPr>
          <p:cNvPr id="43" name="Shape 33"/>
          <p:cNvSpPr/>
          <p:nvPr/>
        </p:nvSpPr>
        <p:spPr>
          <a:xfrm>
            <a:off x="3983236" y="5022056"/>
            <a:ext cx="76200" cy="14288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44" name="Shape 34"/>
          <p:cNvSpPr/>
          <p:nvPr/>
        </p:nvSpPr>
        <p:spPr>
          <a:xfrm>
            <a:off x="4318546" y="4895850"/>
            <a:ext cx="209550" cy="209550"/>
          </a:xfrm>
          <a:prstGeom prst="ellipse">
            <a:avLst/>
          </a:prstGeom>
          <a:solidFill>
            <a:srgbClr val="F5DFA8"/>
          </a:solidFill>
          <a:ln/>
        </p:spPr>
      </p:sp>
      <p:sp>
        <p:nvSpPr>
          <p:cNvPr id="45" name="Shape 35"/>
          <p:cNvSpPr/>
          <p:nvPr/>
        </p:nvSpPr>
        <p:spPr>
          <a:xfrm>
            <a:off x="4385221" y="4962525"/>
            <a:ext cx="76200" cy="76200"/>
          </a:xfrm>
          <a:prstGeom prst="ellipse">
            <a:avLst/>
          </a:prstGeom>
          <a:solidFill>
            <a:srgbClr val="551321"/>
          </a:solidFill>
          <a:ln/>
        </p:spPr>
      </p:sp>
      <p:sp>
        <p:nvSpPr>
          <p:cNvPr id="46" name="Text 36"/>
          <p:cNvSpPr/>
          <p:nvPr/>
        </p:nvSpPr>
        <p:spPr>
          <a:xfrm>
            <a:off x="4340870" y="5143500"/>
            <a:ext cx="24095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입금</a:t>
            </a:r>
            <a:endParaRPr lang="en-US" sz="750" dirty="0"/>
          </a:p>
        </p:txBody>
      </p:sp>
      <p:sp>
        <p:nvSpPr>
          <p:cNvPr id="47" name="Shape 37"/>
          <p:cNvSpPr/>
          <p:nvPr/>
        </p:nvSpPr>
        <p:spPr>
          <a:xfrm>
            <a:off x="4787205" y="5022056"/>
            <a:ext cx="76200" cy="14288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48" name="Shape 38"/>
          <p:cNvSpPr/>
          <p:nvPr/>
        </p:nvSpPr>
        <p:spPr>
          <a:xfrm>
            <a:off x="5122515" y="4895850"/>
            <a:ext cx="209550" cy="2095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C5AA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144839" y="5143500"/>
            <a:ext cx="24095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</a:t>
            </a:r>
            <a:endParaRPr lang="en-US" sz="750" dirty="0"/>
          </a:p>
        </p:txBody>
      </p:sp>
      <p:sp>
        <p:nvSpPr>
          <p:cNvPr id="50" name="Text 40"/>
          <p:cNvSpPr/>
          <p:nvPr/>
        </p:nvSpPr>
        <p:spPr>
          <a:xfrm>
            <a:off x="1524000" y="5705475"/>
            <a:ext cx="7450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· 인증</a:t>
            </a:r>
            <a:endParaRPr lang="en-US" sz="1275" dirty="0"/>
          </a:p>
        </p:txBody>
      </p:sp>
      <p:sp>
        <p:nvSpPr>
          <p:cNvPr id="51" name="Shape 41"/>
          <p:cNvSpPr/>
          <p:nvPr/>
        </p:nvSpPr>
        <p:spPr>
          <a:xfrm>
            <a:off x="1524000" y="6010275"/>
            <a:ext cx="4191000" cy="1171575"/>
          </a:xfrm>
          <a:prstGeom prst="roundRect">
            <a:avLst>
              <a:gd name="adj" fmla="val 17886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52" name="Shape 42"/>
          <p:cNvSpPr/>
          <p:nvPr/>
        </p:nvSpPr>
        <p:spPr>
          <a:xfrm>
            <a:off x="1685925" y="6153150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1E3D0"/>
          </a:solidFill>
          <a:ln/>
        </p:spPr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2125" y="6229350"/>
            <a:ext cx="152400" cy="152400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2105025" y="6229350"/>
            <a:ext cx="29525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내역</a:t>
            </a:r>
            <a:endParaRPr lang="en-US" sz="1050" dirty="0"/>
          </a:p>
        </p:txBody>
      </p:sp>
      <p:sp>
        <p:nvSpPr>
          <p:cNvPr id="55" name="Text 44"/>
          <p:cNvSpPr/>
          <p:nvPr/>
        </p:nvSpPr>
        <p:spPr>
          <a:xfrm>
            <a:off x="5085904" y="6238875"/>
            <a:ext cx="23857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1건</a:t>
            </a:r>
            <a:endParaRPr lang="en-US" sz="900" dirty="0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0675" y="6229350"/>
            <a:ext cx="152400" cy="152400"/>
          </a:xfrm>
          <a:prstGeom prst="rect">
            <a:avLst/>
          </a:prstGeom>
        </p:spPr>
      </p:pic>
      <p:sp>
        <p:nvSpPr>
          <p:cNvPr id="57" name="Shape 45"/>
          <p:cNvSpPr/>
          <p:nvPr/>
        </p:nvSpPr>
        <p:spPr>
          <a:xfrm>
            <a:off x="1533525" y="6591300"/>
            <a:ext cx="41719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58" name="Shape 46"/>
          <p:cNvSpPr/>
          <p:nvPr/>
        </p:nvSpPr>
        <p:spPr>
          <a:xfrm>
            <a:off x="1685925" y="6734175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1E3D0"/>
          </a:solidFill>
          <a:ln/>
        </p:spPr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2125" y="6810375"/>
            <a:ext cx="152400" cy="152400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2105025" y="6810375"/>
            <a:ext cx="291624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관리</a:t>
            </a:r>
            <a:endParaRPr lang="en-US" sz="1050" dirty="0"/>
          </a:p>
        </p:txBody>
      </p:sp>
      <p:sp>
        <p:nvSpPr>
          <p:cNvPr id="61" name="Text 48"/>
          <p:cNvSpPr/>
          <p:nvPr/>
        </p:nvSpPr>
        <p:spPr>
          <a:xfrm>
            <a:off x="5050631" y="6819900"/>
            <a:ext cx="27384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900" dirty="0"/>
          </a:p>
        </p:txBody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0675" y="6810375"/>
            <a:ext cx="152400" cy="152400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1524000" y="7448550"/>
            <a:ext cx="3528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</a:t>
            </a:r>
            <a:endParaRPr lang="en-US" sz="1275" dirty="0"/>
          </a:p>
        </p:txBody>
      </p:sp>
      <p:sp>
        <p:nvSpPr>
          <p:cNvPr id="64" name="Shape 50"/>
          <p:cNvSpPr/>
          <p:nvPr/>
        </p:nvSpPr>
        <p:spPr>
          <a:xfrm>
            <a:off x="1524000" y="7753350"/>
            <a:ext cx="4191000" cy="1171575"/>
          </a:xfrm>
          <a:prstGeom prst="roundRect">
            <a:avLst>
              <a:gd name="adj" fmla="val 17886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65" name="Shape 51"/>
          <p:cNvSpPr/>
          <p:nvPr/>
        </p:nvSpPr>
        <p:spPr>
          <a:xfrm>
            <a:off x="1685925" y="7896225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1E3D0"/>
          </a:solidFill>
          <a:ln/>
        </p:spPr>
      </p:sp>
      <p:pic>
        <p:nvPicPr>
          <p:cNvPr id="66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2125" y="7972425"/>
            <a:ext cx="152400" cy="152400"/>
          </a:xfrm>
          <a:prstGeom prst="rect">
            <a:avLst/>
          </a:prstGeom>
        </p:spPr>
      </p:pic>
      <p:sp>
        <p:nvSpPr>
          <p:cNvPr id="67" name="Text 52"/>
          <p:cNvSpPr/>
          <p:nvPr/>
        </p:nvSpPr>
        <p:spPr>
          <a:xfrm>
            <a:off x="2105025" y="7972425"/>
            <a:ext cx="30542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쓴 후기</a:t>
            </a:r>
            <a:endParaRPr lang="en-US" sz="1050" dirty="0"/>
          </a:p>
        </p:txBody>
      </p:sp>
      <p:sp>
        <p:nvSpPr>
          <p:cNvPr id="68" name="Text 53"/>
          <p:cNvSpPr/>
          <p:nvPr/>
        </p:nvSpPr>
        <p:spPr>
          <a:xfrm>
            <a:off x="5184577" y="7981950"/>
            <a:ext cx="1398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pic>
        <p:nvPicPr>
          <p:cNvPr id="69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0675" y="7972425"/>
            <a:ext cx="152400" cy="152400"/>
          </a:xfrm>
          <a:prstGeom prst="rect">
            <a:avLst/>
          </a:prstGeom>
        </p:spPr>
      </p:pic>
      <p:sp>
        <p:nvSpPr>
          <p:cNvPr id="70" name="Shape 54"/>
          <p:cNvSpPr/>
          <p:nvPr/>
        </p:nvSpPr>
        <p:spPr>
          <a:xfrm>
            <a:off x="1533525" y="8334375"/>
            <a:ext cx="41719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71" name="Shape 55"/>
          <p:cNvSpPr/>
          <p:nvPr/>
        </p:nvSpPr>
        <p:spPr>
          <a:xfrm>
            <a:off x="1685925" y="8477250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1E3D0"/>
          </a:solidFill>
          <a:ln/>
        </p:spPr>
      </p:sp>
      <p:pic>
        <p:nvPicPr>
          <p:cNvPr id="72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62125" y="8553450"/>
            <a:ext cx="152400" cy="152400"/>
          </a:xfrm>
          <a:prstGeom prst="rect">
            <a:avLst/>
          </a:prstGeom>
        </p:spPr>
      </p:pic>
      <p:sp>
        <p:nvSpPr>
          <p:cNvPr id="73" name="Text 56"/>
          <p:cNvSpPr/>
          <p:nvPr/>
        </p:nvSpPr>
        <p:spPr>
          <a:xfrm>
            <a:off x="2105025" y="8553450"/>
            <a:ext cx="30542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받은 케미 리포트</a:t>
            </a:r>
            <a:endParaRPr lang="en-US" sz="1050" dirty="0"/>
          </a:p>
        </p:txBody>
      </p:sp>
      <p:sp>
        <p:nvSpPr>
          <p:cNvPr id="74" name="Text 57"/>
          <p:cNvSpPr/>
          <p:nvPr/>
        </p:nvSpPr>
        <p:spPr>
          <a:xfrm>
            <a:off x="5184577" y="8562975"/>
            <a:ext cx="1398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pic>
        <p:nvPicPr>
          <p:cNvPr id="75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0675" y="8553450"/>
            <a:ext cx="152400" cy="152400"/>
          </a:xfrm>
          <a:prstGeom prst="rect">
            <a:avLst/>
          </a:prstGeom>
        </p:spPr>
      </p:pic>
      <p:sp>
        <p:nvSpPr>
          <p:cNvPr id="76" name="Text 58"/>
          <p:cNvSpPr/>
          <p:nvPr/>
        </p:nvSpPr>
        <p:spPr>
          <a:xfrm>
            <a:off x="1524000" y="9191625"/>
            <a:ext cx="3528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endParaRPr lang="en-US" sz="1275" dirty="0"/>
          </a:p>
        </p:txBody>
      </p:sp>
      <p:sp>
        <p:nvSpPr>
          <p:cNvPr id="77" name="Shape 59"/>
          <p:cNvSpPr/>
          <p:nvPr/>
        </p:nvSpPr>
        <p:spPr>
          <a:xfrm>
            <a:off x="1524000" y="9496425"/>
            <a:ext cx="4191000" cy="2914650"/>
          </a:xfrm>
          <a:prstGeom prst="roundRect">
            <a:avLst>
              <a:gd name="adj" fmla="val 7190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78" name="Shape 60"/>
          <p:cNvSpPr/>
          <p:nvPr/>
        </p:nvSpPr>
        <p:spPr>
          <a:xfrm>
            <a:off x="1685925" y="9639300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1E3D0"/>
          </a:solidFill>
          <a:ln/>
        </p:spPr>
      </p:sp>
      <p:pic>
        <p:nvPicPr>
          <p:cNvPr id="79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62125" y="9715500"/>
            <a:ext cx="152400" cy="152400"/>
          </a:xfrm>
          <a:prstGeom prst="rect">
            <a:avLst/>
          </a:prstGeom>
        </p:spPr>
      </p:pic>
      <p:sp>
        <p:nvSpPr>
          <p:cNvPr id="80" name="Text 61"/>
          <p:cNvSpPr/>
          <p:nvPr/>
        </p:nvSpPr>
        <p:spPr>
          <a:xfrm>
            <a:off x="2105025" y="9715500"/>
            <a:ext cx="32767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설정</a:t>
            </a:r>
            <a:endParaRPr lang="en-US" sz="1050" dirty="0"/>
          </a:p>
        </p:txBody>
      </p:sp>
      <p:pic>
        <p:nvPicPr>
          <p:cNvPr id="81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0675" y="9715500"/>
            <a:ext cx="152400" cy="152400"/>
          </a:xfrm>
          <a:prstGeom prst="rect">
            <a:avLst/>
          </a:prstGeom>
        </p:spPr>
      </p:pic>
      <p:sp>
        <p:nvSpPr>
          <p:cNvPr id="82" name="Shape 62"/>
          <p:cNvSpPr/>
          <p:nvPr/>
        </p:nvSpPr>
        <p:spPr>
          <a:xfrm>
            <a:off x="1533525" y="10077450"/>
            <a:ext cx="41719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83" name="Shape 63"/>
          <p:cNvSpPr/>
          <p:nvPr/>
        </p:nvSpPr>
        <p:spPr>
          <a:xfrm>
            <a:off x="1685925" y="10220325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1E3D0"/>
          </a:solidFill>
          <a:ln/>
        </p:spPr>
      </p:sp>
      <p:pic>
        <p:nvPicPr>
          <p:cNvPr id="84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62125" y="10296525"/>
            <a:ext cx="152400" cy="152400"/>
          </a:xfrm>
          <a:prstGeom prst="rect">
            <a:avLst/>
          </a:prstGeom>
        </p:spPr>
      </p:pic>
      <p:sp>
        <p:nvSpPr>
          <p:cNvPr id="85" name="Text 64"/>
          <p:cNvSpPr/>
          <p:nvPr/>
        </p:nvSpPr>
        <p:spPr>
          <a:xfrm>
            <a:off x="2105025" y="10296525"/>
            <a:ext cx="32767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문의하기</a:t>
            </a:r>
            <a:endParaRPr lang="en-US" sz="1050" dirty="0"/>
          </a:p>
        </p:txBody>
      </p:sp>
      <p:pic>
        <p:nvPicPr>
          <p:cNvPr id="86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0675" y="10296525"/>
            <a:ext cx="152400" cy="152400"/>
          </a:xfrm>
          <a:prstGeom prst="rect">
            <a:avLst/>
          </a:prstGeom>
        </p:spPr>
      </p:pic>
      <p:sp>
        <p:nvSpPr>
          <p:cNvPr id="87" name="Shape 65"/>
          <p:cNvSpPr/>
          <p:nvPr/>
        </p:nvSpPr>
        <p:spPr>
          <a:xfrm>
            <a:off x="1533525" y="10658475"/>
            <a:ext cx="41719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88" name="Shape 66"/>
          <p:cNvSpPr/>
          <p:nvPr/>
        </p:nvSpPr>
        <p:spPr>
          <a:xfrm>
            <a:off x="1685925" y="10801350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1E3D0"/>
          </a:solidFill>
          <a:ln/>
        </p:spPr>
      </p:sp>
      <p:pic>
        <p:nvPicPr>
          <p:cNvPr id="89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2125" y="10877550"/>
            <a:ext cx="152400" cy="152400"/>
          </a:xfrm>
          <a:prstGeom prst="rect">
            <a:avLst/>
          </a:prstGeom>
        </p:spPr>
      </p:pic>
      <p:sp>
        <p:nvSpPr>
          <p:cNvPr id="90" name="Text 67"/>
          <p:cNvSpPr/>
          <p:nvPr/>
        </p:nvSpPr>
        <p:spPr>
          <a:xfrm>
            <a:off x="2105025" y="10877550"/>
            <a:ext cx="32767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약관 및 정책</a:t>
            </a:r>
            <a:endParaRPr lang="en-US" sz="1050" dirty="0"/>
          </a:p>
        </p:txBody>
      </p:sp>
      <p:pic>
        <p:nvPicPr>
          <p:cNvPr id="91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0675" y="10877550"/>
            <a:ext cx="152400" cy="152400"/>
          </a:xfrm>
          <a:prstGeom prst="rect">
            <a:avLst/>
          </a:prstGeom>
        </p:spPr>
      </p:pic>
      <p:sp>
        <p:nvSpPr>
          <p:cNvPr id="92" name="Shape 68"/>
          <p:cNvSpPr/>
          <p:nvPr/>
        </p:nvSpPr>
        <p:spPr>
          <a:xfrm>
            <a:off x="1533525" y="11239500"/>
            <a:ext cx="41719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93" name="Shape 69"/>
          <p:cNvSpPr/>
          <p:nvPr/>
        </p:nvSpPr>
        <p:spPr>
          <a:xfrm>
            <a:off x="1685925" y="11382375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1E3D0"/>
          </a:solidFill>
          <a:ln/>
        </p:spPr>
      </p:sp>
      <p:pic>
        <p:nvPicPr>
          <p:cNvPr id="9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62125" y="11458575"/>
            <a:ext cx="152400" cy="152400"/>
          </a:xfrm>
          <a:prstGeom prst="rect">
            <a:avLst/>
          </a:prstGeom>
        </p:spPr>
      </p:pic>
      <p:sp>
        <p:nvSpPr>
          <p:cNvPr id="95" name="Text 70"/>
          <p:cNvSpPr/>
          <p:nvPr/>
        </p:nvSpPr>
        <p:spPr>
          <a:xfrm>
            <a:off x="2105025" y="11458575"/>
            <a:ext cx="32767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1050" dirty="0"/>
          </a:p>
        </p:txBody>
      </p:sp>
      <p:pic>
        <p:nvPicPr>
          <p:cNvPr id="96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0675" y="11458575"/>
            <a:ext cx="152400" cy="152400"/>
          </a:xfrm>
          <a:prstGeom prst="rect">
            <a:avLst/>
          </a:prstGeom>
        </p:spPr>
      </p:pic>
      <p:sp>
        <p:nvSpPr>
          <p:cNvPr id="97" name="Shape 71"/>
          <p:cNvSpPr/>
          <p:nvPr/>
        </p:nvSpPr>
        <p:spPr>
          <a:xfrm>
            <a:off x="1533525" y="11820525"/>
            <a:ext cx="41719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98" name="Shape 72"/>
          <p:cNvSpPr/>
          <p:nvPr/>
        </p:nvSpPr>
        <p:spPr>
          <a:xfrm>
            <a:off x="1685925" y="11963400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1E3D0"/>
          </a:solidFill>
          <a:ln/>
        </p:spPr>
      </p:sp>
      <p:pic>
        <p:nvPicPr>
          <p:cNvPr id="99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62125" y="12039600"/>
            <a:ext cx="152400" cy="152400"/>
          </a:xfrm>
          <a:prstGeom prst="rect">
            <a:avLst/>
          </a:prstGeom>
        </p:spPr>
      </p:pic>
      <p:sp>
        <p:nvSpPr>
          <p:cNvPr id="100" name="Text 73"/>
          <p:cNvSpPr/>
          <p:nvPr/>
        </p:nvSpPr>
        <p:spPr>
          <a:xfrm>
            <a:off x="2105025" y="12039600"/>
            <a:ext cx="32767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회원탈퇴</a:t>
            </a:r>
            <a:endParaRPr lang="en-US" sz="1050" dirty="0"/>
          </a:p>
        </p:txBody>
      </p:sp>
      <p:pic>
        <p:nvPicPr>
          <p:cNvPr id="101" name="Image 2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0675" y="12039600"/>
            <a:ext cx="152400" cy="152400"/>
          </a:xfrm>
          <a:prstGeom prst="rect">
            <a:avLst/>
          </a:prstGeom>
        </p:spPr>
      </p:pic>
      <p:sp>
        <p:nvSpPr>
          <p:cNvPr id="102" name="Text 74"/>
          <p:cNvSpPr/>
          <p:nvPr/>
        </p:nvSpPr>
        <p:spPr>
          <a:xfrm>
            <a:off x="1455420" y="12601575"/>
            <a:ext cx="43281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 Oven · v1.0.0</a:t>
            </a:r>
            <a:endParaRPr lang="en-US" sz="825" dirty="0"/>
          </a:p>
        </p:txBody>
      </p:sp>
      <p:sp>
        <p:nvSpPr>
          <p:cNvPr id="103" name="Shape 75"/>
          <p:cNvSpPr/>
          <p:nvPr/>
        </p:nvSpPr>
        <p:spPr>
          <a:xfrm>
            <a:off x="1333500" y="9839325"/>
            <a:ext cx="4572000" cy="742950"/>
          </a:xfrm>
          <a:prstGeom prst="rect">
            <a:avLst/>
          </a:prstGeom>
          <a:solidFill>
            <a:srgbClr val="FFF7EC">
              <a:alpha val="92000"/>
            </a:srgbClr>
          </a:solidFill>
          <a:ln/>
        </p:spPr>
      </p:sp>
      <p:sp>
        <p:nvSpPr>
          <p:cNvPr id="104" name="Shape 76"/>
          <p:cNvSpPr/>
          <p:nvPr/>
        </p:nvSpPr>
        <p:spPr>
          <a:xfrm>
            <a:off x="1333500" y="9839325"/>
            <a:ext cx="457200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105" name="Image 2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85925" y="9944100"/>
            <a:ext cx="209550" cy="209550"/>
          </a:xfrm>
          <a:prstGeom prst="rect">
            <a:avLst/>
          </a:prstGeom>
        </p:spPr>
      </p:pic>
      <p:sp>
        <p:nvSpPr>
          <p:cNvPr id="106" name="Text 77"/>
          <p:cNvSpPr/>
          <p:nvPr/>
        </p:nvSpPr>
        <p:spPr>
          <a:xfrm>
            <a:off x="1745307" y="10191750"/>
            <a:ext cx="1668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825" dirty="0"/>
          </a:p>
        </p:txBody>
      </p:sp>
      <p:pic>
        <p:nvPicPr>
          <p:cNvPr id="107" name="Image 2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00325" y="9944100"/>
            <a:ext cx="209550" cy="209550"/>
          </a:xfrm>
          <a:prstGeom prst="rect">
            <a:avLst/>
          </a:prstGeom>
        </p:spPr>
      </p:pic>
      <p:sp>
        <p:nvSpPr>
          <p:cNvPr id="108" name="Text 78"/>
          <p:cNvSpPr/>
          <p:nvPr/>
        </p:nvSpPr>
        <p:spPr>
          <a:xfrm>
            <a:off x="2614464" y="10191750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</a:t>
            </a:r>
            <a:endParaRPr lang="en-US" sz="825" dirty="0"/>
          </a:p>
        </p:txBody>
      </p:sp>
      <p:pic>
        <p:nvPicPr>
          <p:cNvPr id="109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14725" y="9944100"/>
            <a:ext cx="209550" cy="209550"/>
          </a:xfrm>
          <a:prstGeom prst="rect">
            <a:avLst/>
          </a:prstGeom>
        </p:spPr>
      </p:pic>
      <p:sp>
        <p:nvSpPr>
          <p:cNvPr id="110" name="Text 79"/>
          <p:cNvSpPr/>
          <p:nvPr/>
        </p:nvSpPr>
        <p:spPr>
          <a:xfrm>
            <a:off x="3441055" y="10191750"/>
            <a:ext cx="43309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</a:t>
            </a:r>
            <a:endParaRPr lang="en-US" sz="825" dirty="0"/>
          </a:p>
        </p:txBody>
      </p:sp>
      <p:pic>
        <p:nvPicPr>
          <p:cNvPr id="111" name="Image 2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29125" y="9944100"/>
            <a:ext cx="209550" cy="209550"/>
          </a:xfrm>
          <a:prstGeom prst="rect">
            <a:avLst/>
          </a:prstGeom>
        </p:spPr>
      </p:pic>
      <p:sp>
        <p:nvSpPr>
          <p:cNvPr id="112" name="Text 80"/>
          <p:cNvSpPr/>
          <p:nvPr/>
        </p:nvSpPr>
        <p:spPr>
          <a:xfrm>
            <a:off x="4398020" y="10191750"/>
            <a:ext cx="3479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오브닝</a:t>
            </a:r>
            <a:endParaRPr lang="en-US" sz="825" dirty="0"/>
          </a:p>
        </p:txBody>
      </p:sp>
      <p:pic>
        <p:nvPicPr>
          <p:cNvPr id="113" name="Image 3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43525" y="9944100"/>
            <a:ext cx="209550" cy="209550"/>
          </a:xfrm>
          <a:prstGeom prst="rect">
            <a:avLst/>
          </a:prstGeom>
        </p:spPr>
      </p:pic>
      <p:sp>
        <p:nvSpPr>
          <p:cNvPr id="114" name="Text 81"/>
          <p:cNvSpPr/>
          <p:nvPr/>
        </p:nvSpPr>
        <p:spPr>
          <a:xfrm>
            <a:off x="5357664" y="10191750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</a:t>
            </a:r>
            <a:endParaRPr lang="en-US" sz="825" dirty="0"/>
          </a:p>
        </p:txBody>
      </p:sp>
      <p:sp>
        <p:nvSpPr>
          <p:cNvPr id="115" name="Shape 82"/>
          <p:cNvSpPr/>
          <p:nvPr/>
        </p:nvSpPr>
        <p:spPr>
          <a:xfrm>
            <a:off x="2981325" y="10458450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116" name="Text 83"/>
          <p:cNvSpPr/>
          <p:nvPr/>
        </p:nvSpPr>
        <p:spPr>
          <a:xfrm>
            <a:off x="7048500" y="3718173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탭 5 · 마이</a:t>
            </a:r>
            <a:endParaRPr lang="en-US" sz="1200" dirty="0"/>
          </a:p>
        </p:txBody>
      </p:sp>
      <p:sp>
        <p:nvSpPr>
          <p:cNvPr id="117" name="Text 84"/>
          <p:cNvSpPr/>
          <p:nvPr/>
        </p:nvSpPr>
        <p:spPr>
          <a:xfrm>
            <a:off x="7048500" y="4118223"/>
            <a:ext cx="1059561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내 진행 상태를 가장 빨리.</a:t>
            </a:r>
            <a:endParaRPr lang="en-US" sz="5700" dirty="0"/>
          </a:p>
        </p:txBody>
      </p:sp>
      <p:sp>
        <p:nvSpPr>
          <p:cNvPr id="118" name="Text 85"/>
          <p:cNvSpPr/>
          <p:nvPr/>
        </p:nvSpPr>
        <p:spPr>
          <a:xfrm>
            <a:off x="7048500" y="5920234"/>
            <a:ext cx="706374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· 인증 · 신청 현황(5단계 progress) · 결제 · 활동 · 설정.</a:t>
            </a:r>
            <a:endParaRPr lang="en-US" sz="1650" dirty="0"/>
          </a:p>
        </p:txBody>
      </p:sp>
      <p:sp>
        <p:nvSpPr>
          <p:cNvPr id="119" name="Text 86"/>
          <p:cNvSpPr/>
          <p:nvPr/>
        </p:nvSpPr>
        <p:spPr>
          <a:xfrm>
            <a:off x="7124700" y="6549777"/>
            <a:ext cx="68770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 캐릭터 빠른 진입 배너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신청→인증→선정→입금→확정 progress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회원탈퇴는 묶음에서 시각적으로 mute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517928"/>
          </a:xfrm>
          <a:prstGeom prst="rect">
            <a:avLst/>
          </a:prstGeom>
          <a:solidFill>
            <a:srgbClr val="8A0214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143000"/>
            <a:ext cx="160896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케미LAB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333500" y="1676400"/>
            <a:ext cx="16089630" cy="283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0" kern="0" spc="-5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성향 분석 · 캐릭터 · 도감</a:t>
            </a:r>
            <a:endParaRPr lang="en-US" sz="10500" dirty="0"/>
          </a:p>
        </p:txBody>
      </p:sp>
      <p:sp>
        <p:nvSpPr>
          <p:cNvPr id="5" name="Text 3"/>
          <p:cNvSpPr/>
          <p:nvPr/>
        </p:nvSpPr>
        <p:spPr>
          <a:xfrm>
            <a:off x="1333500" y="4743450"/>
            <a:ext cx="107918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5DFA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차갑지 않은 분석. 따뜻한 레시피 연구소처럼.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4022" y="-4606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764235" y="128744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4168797" y="100169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4168797" y="100169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4397397" y="233519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047" y="257332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597" y="257332"/>
            <a:ext cx="228600" cy="1047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59297" y="633569"/>
            <a:ext cx="21120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359297" y="947894"/>
            <a:ext cx="21120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나의 성향과 케미 포인트를 분석해요.</a:t>
            </a:r>
            <a:endParaRPr lang="en-US" sz="975" dirty="0"/>
          </a:p>
        </p:txBody>
      </p:sp>
      <p:sp>
        <p:nvSpPr>
          <p:cNvPr id="11" name="Shape 7"/>
          <p:cNvSpPr/>
          <p:nvPr/>
        </p:nvSpPr>
        <p:spPr>
          <a:xfrm>
            <a:off x="4359297" y="1262219"/>
            <a:ext cx="4191000" cy="1785640"/>
          </a:xfrm>
          <a:prstGeom prst="roundRect">
            <a:avLst>
              <a:gd name="adj" fmla="val 13869"/>
            </a:avLst>
          </a:prstGeom>
          <a:solidFill>
            <a:srgbClr val="FBEED4"/>
          </a:solidFill>
          <a:ln w="9525">
            <a:solidFill>
              <a:srgbClr val="D9C5A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3022" y="985994"/>
            <a:ext cx="1333500" cy="1333500"/>
          </a:xfrm>
          <a:prstGeom prst="ellipse">
            <a:avLst/>
          </a:prstGeom>
          <a:ln w="9525">
            <a:solidFill>
              <a:srgbClr val="C9A961">
                <a:alpha val="50000"/>
              </a:srgbClr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7778772" y="1081244"/>
            <a:ext cx="952500" cy="952500"/>
          </a:xfrm>
          <a:prstGeom prst="ellipse">
            <a:avLst/>
          </a:prstGeom>
          <a:ln w="9525">
            <a:solidFill>
              <a:srgbClr val="C9A961">
                <a:alpha val="30000"/>
              </a:srgbClr>
            </a:solidFill>
            <a:prstDash val="dash"/>
          </a:ln>
        </p:spPr>
      </p:sp>
      <p:sp>
        <p:nvSpPr>
          <p:cNvPr id="14" name="Text 10"/>
          <p:cNvSpPr/>
          <p:nvPr/>
        </p:nvSpPr>
        <p:spPr>
          <a:xfrm>
            <a:off x="4578372" y="1481294"/>
            <a:ext cx="38654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CHEMISTRY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4578372" y="1681319"/>
            <a:ext cx="3865436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kern="0" spc="-24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티라미수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578372" y="2111730"/>
            <a:ext cx="2362200" cy="42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부드럽지만 깊은 향을 가진 사람. 가까워질수록 진심이 묻어나는 타입이에요.</a:t>
            </a:r>
            <a:endParaRPr lang="en-US" sz="975" dirty="0"/>
          </a:p>
        </p:txBody>
      </p:sp>
      <p:sp>
        <p:nvSpPr>
          <p:cNvPr id="17" name="Shape 13"/>
          <p:cNvSpPr/>
          <p:nvPr/>
        </p:nvSpPr>
        <p:spPr>
          <a:xfrm>
            <a:off x="4578372" y="2628759"/>
            <a:ext cx="371624" cy="200025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4673622" y="2666859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</a:t>
            </a:r>
            <a:endParaRPr lang="en-US" sz="825" dirty="0"/>
          </a:p>
        </p:txBody>
      </p:sp>
      <p:sp>
        <p:nvSpPr>
          <p:cNvPr id="19" name="Shape 15"/>
          <p:cNvSpPr/>
          <p:nvPr/>
        </p:nvSpPr>
        <p:spPr>
          <a:xfrm>
            <a:off x="5007146" y="2628759"/>
            <a:ext cx="371624" cy="200025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5102396" y="2666859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진중</a:t>
            </a:r>
            <a:endParaRPr lang="en-US" sz="825" dirty="0"/>
          </a:p>
        </p:txBody>
      </p:sp>
      <p:sp>
        <p:nvSpPr>
          <p:cNvPr id="21" name="Shape 17"/>
          <p:cNvSpPr/>
          <p:nvPr/>
        </p:nvSpPr>
        <p:spPr>
          <a:xfrm>
            <a:off x="5435920" y="2628759"/>
            <a:ext cx="371624" cy="200025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5531170" y="2666859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따뜻</a:t>
            </a:r>
            <a:endParaRPr lang="en-US" sz="825" dirty="0"/>
          </a:p>
        </p:txBody>
      </p:sp>
      <p:sp>
        <p:nvSpPr>
          <p:cNvPr id="23" name="Text 19"/>
          <p:cNvSpPr/>
          <p:nvPr/>
        </p:nvSpPr>
        <p:spPr>
          <a:xfrm>
            <a:off x="4359297" y="3352659"/>
            <a:ext cx="6295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둘러보기</a:t>
            </a:r>
            <a:endParaRPr lang="en-US" sz="1275" dirty="0"/>
          </a:p>
        </p:txBody>
      </p:sp>
      <p:sp>
        <p:nvSpPr>
          <p:cNvPr id="24" name="Shape 20"/>
          <p:cNvSpPr/>
          <p:nvPr/>
        </p:nvSpPr>
        <p:spPr>
          <a:xfrm>
            <a:off x="4359297" y="3657459"/>
            <a:ext cx="2038350" cy="1257300"/>
          </a:xfrm>
          <a:prstGeom prst="roundRect">
            <a:avLst>
              <a:gd name="adj" fmla="val 15152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222" y="3819384"/>
            <a:ext cx="209550" cy="20955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521222" y="4415738"/>
            <a:ext cx="1790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성향 분석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521222" y="4606238"/>
            <a:ext cx="179070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5분 케미 진단</a:t>
            </a:r>
            <a:endParaRPr lang="en-US" sz="825" dirty="0"/>
          </a:p>
        </p:txBody>
      </p:sp>
      <p:sp>
        <p:nvSpPr>
          <p:cNvPr id="28" name="Shape 23"/>
          <p:cNvSpPr/>
          <p:nvPr/>
        </p:nvSpPr>
        <p:spPr>
          <a:xfrm>
            <a:off x="6511947" y="3657459"/>
            <a:ext cx="2038350" cy="1257300"/>
          </a:xfrm>
          <a:prstGeom prst="roundRect">
            <a:avLst>
              <a:gd name="adj" fmla="val 15152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3872" y="3819384"/>
            <a:ext cx="209550" cy="20955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673872" y="4415738"/>
            <a:ext cx="1790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캐릭터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6673872" y="4606238"/>
            <a:ext cx="179070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케미 캐릭터 정보</a:t>
            </a:r>
            <a:endParaRPr lang="en-US" sz="825" dirty="0"/>
          </a:p>
        </p:txBody>
      </p:sp>
      <p:sp>
        <p:nvSpPr>
          <p:cNvPr id="32" name="Shape 26"/>
          <p:cNvSpPr/>
          <p:nvPr/>
        </p:nvSpPr>
        <p:spPr>
          <a:xfrm>
            <a:off x="4359297" y="5029059"/>
            <a:ext cx="2038350" cy="1257300"/>
          </a:xfrm>
          <a:prstGeom prst="roundRect">
            <a:avLst>
              <a:gd name="adj" fmla="val 15152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222" y="5190984"/>
            <a:ext cx="209550" cy="20955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521222" y="5787338"/>
            <a:ext cx="1790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도감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4521222" y="5977838"/>
            <a:ext cx="179070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20종 케미 캐릭터</a:t>
            </a:r>
            <a:endParaRPr lang="en-US" sz="825" dirty="0"/>
          </a:p>
        </p:txBody>
      </p:sp>
      <p:sp>
        <p:nvSpPr>
          <p:cNvPr id="36" name="Shape 29"/>
          <p:cNvSpPr/>
          <p:nvPr/>
        </p:nvSpPr>
        <p:spPr>
          <a:xfrm>
            <a:off x="6511947" y="5029059"/>
            <a:ext cx="2038350" cy="1257300"/>
          </a:xfrm>
          <a:prstGeom prst="roundRect">
            <a:avLst>
              <a:gd name="adj" fmla="val 15152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3872" y="5190984"/>
            <a:ext cx="209550" cy="20955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73872" y="5787338"/>
            <a:ext cx="1790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케미 분석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6673872" y="5977838"/>
            <a:ext cx="179070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나와 잘 맞는 케미</a:t>
            </a:r>
            <a:endParaRPr lang="en-US" sz="825" dirty="0"/>
          </a:p>
        </p:txBody>
      </p:sp>
      <p:sp>
        <p:nvSpPr>
          <p:cNvPr id="40" name="Shape 32"/>
          <p:cNvSpPr/>
          <p:nvPr/>
        </p:nvSpPr>
        <p:spPr>
          <a:xfrm>
            <a:off x="4359297" y="6400659"/>
            <a:ext cx="2038350" cy="1257300"/>
          </a:xfrm>
          <a:prstGeom prst="roundRect">
            <a:avLst>
              <a:gd name="adj" fmla="val 15152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1222" y="6562584"/>
            <a:ext cx="209550" cy="20955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4521222" y="7158938"/>
            <a:ext cx="1790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 기준</a:t>
            </a:r>
            <a:endParaRPr lang="en-US" sz="1050" dirty="0"/>
          </a:p>
        </p:txBody>
      </p:sp>
      <p:sp>
        <p:nvSpPr>
          <p:cNvPr id="43" name="Text 34"/>
          <p:cNvSpPr/>
          <p:nvPr/>
        </p:nvSpPr>
        <p:spPr>
          <a:xfrm>
            <a:off x="4521222" y="7349438"/>
            <a:ext cx="179070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회차 인원이 선정되는 방식</a:t>
            </a:r>
            <a:endParaRPr lang="en-US" sz="825" dirty="0"/>
          </a:p>
        </p:txBody>
      </p:sp>
      <p:sp>
        <p:nvSpPr>
          <p:cNvPr id="44" name="Shape 35"/>
          <p:cNvSpPr/>
          <p:nvPr/>
        </p:nvSpPr>
        <p:spPr>
          <a:xfrm>
            <a:off x="6511947" y="6400659"/>
            <a:ext cx="2038350" cy="1257300"/>
          </a:xfrm>
          <a:prstGeom prst="roundRect">
            <a:avLst>
              <a:gd name="adj" fmla="val 15152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3872" y="6562584"/>
            <a:ext cx="209550" cy="20955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673872" y="7158938"/>
            <a:ext cx="1790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닉네임 설명</a:t>
            </a:r>
            <a:endParaRPr lang="en-US" sz="1050" dirty="0"/>
          </a:p>
        </p:txBody>
      </p:sp>
      <p:sp>
        <p:nvSpPr>
          <p:cNvPr id="47" name="Text 37"/>
          <p:cNvSpPr/>
          <p:nvPr/>
        </p:nvSpPr>
        <p:spPr>
          <a:xfrm>
            <a:off x="6673872" y="7349438"/>
            <a:ext cx="179070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오브닝 닉네임 시스템</a:t>
            </a:r>
            <a:endParaRPr lang="en-US" sz="825" dirty="0"/>
          </a:p>
        </p:txBody>
      </p:sp>
      <p:sp>
        <p:nvSpPr>
          <p:cNvPr id="48" name="Text 38"/>
          <p:cNvSpPr/>
          <p:nvPr/>
        </p:nvSpPr>
        <p:spPr>
          <a:xfrm>
            <a:off x="4359297" y="7924659"/>
            <a:ext cx="8036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리포트</a:t>
            </a:r>
            <a:endParaRPr lang="en-US" sz="1275" dirty="0"/>
          </a:p>
        </p:txBody>
      </p:sp>
      <p:sp>
        <p:nvSpPr>
          <p:cNvPr id="49" name="Shape 39"/>
          <p:cNvSpPr/>
          <p:nvPr/>
        </p:nvSpPr>
        <p:spPr>
          <a:xfrm>
            <a:off x="4359297" y="8229459"/>
            <a:ext cx="4191000" cy="1371600"/>
          </a:xfrm>
          <a:prstGeom prst="roundRect">
            <a:avLst>
              <a:gd name="adj" fmla="val 15278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50" name="Text 40"/>
          <p:cNvSpPr/>
          <p:nvPr/>
        </p:nvSpPr>
        <p:spPr>
          <a:xfrm>
            <a:off x="4540272" y="8410434"/>
            <a:ext cx="10065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7기 케미 리포트</a:t>
            </a:r>
            <a:endParaRPr lang="en-US" sz="900" dirty="0"/>
          </a:p>
        </p:txBody>
      </p:sp>
      <p:sp>
        <p:nvSpPr>
          <p:cNvPr id="51" name="Text 41"/>
          <p:cNvSpPr/>
          <p:nvPr/>
        </p:nvSpPr>
        <p:spPr>
          <a:xfrm>
            <a:off x="4540272" y="8581884"/>
            <a:ext cx="10065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케미 분석</a:t>
            </a:r>
            <a:endParaRPr lang="en-US" sz="1125" dirty="0"/>
          </a:p>
        </p:txBody>
      </p:sp>
      <p:sp>
        <p:nvSpPr>
          <p:cNvPr id="52" name="Text 42"/>
          <p:cNvSpPr/>
          <p:nvPr/>
        </p:nvSpPr>
        <p:spPr>
          <a:xfrm>
            <a:off x="4540272" y="8791434"/>
            <a:ext cx="10065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2026. 5. 24</a:t>
            </a:r>
            <a:endParaRPr lang="en-US" sz="900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9772" y="8410434"/>
            <a:ext cx="209550" cy="209550"/>
          </a:xfrm>
          <a:prstGeom prst="rect">
            <a:avLst/>
          </a:prstGeom>
        </p:spPr>
      </p:pic>
      <p:sp>
        <p:nvSpPr>
          <p:cNvPr id="54" name="Shape 43"/>
          <p:cNvSpPr/>
          <p:nvPr/>
        </p:nvSpPr>
        <p:spPr>
          <a:xfrm>
            <a:off x="4540272" y="9058134"/>
            <a:ext cx="866626" cy="361950"/>
          </a:xfrm>
          <a:prstGeom prst="roundRect">
            <a:avLst>
              <a:gd name="adj" fmla="val 31579"/>
            </a:avLst>
          </a:prstGeom>
          <a:solidFill>
            <a:srgbClr val="9D0E22"/>
          </a:solidFill>
          <a:ln/>
        </p:spPr>
      </p:sp>
      <p:sp>
        <p:nvSpPr>
          <p:cNvPr id="55" name="Text 44"/>
          <p:cNvSpPr/>
          <p:nvPr/>
        </p:nvSpPr>
        <p:spPr>
          <a:xfrm>
            <a:off x="4635522" y="9162909"/>
            <a:ext cx="6761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b="1" kern="0" spc="-1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 열기</a:t>
            </a:r>
            <a:endParaRPr lang="en-US" sz="1050" dirty="0"/>
          </a:p>
        </p:txBody>
      </p:sp>
      <p:sp>
        <p:nvSpPr>
          <p:cNvPr id="56" name="Shape 45"/>
          <p:cNvSpPr/>
          <p:nvPr/>
        </p:nvSpPr>
        <p:spPr>
          <a:xfrm>
            <a:off x="5483098" y="9058134"/>
            <a:ext cx="1010841" cy="361950"/>
          </a:xfrm>
          <a:prstGeom prst="roundRect">
            <a:avLst>
              <a:gd name="adj" fmla="val 31579"/>
            </a:avLst>
          </a:prstGeom>
          <a:solidFill>
            <a:srgbClr val="9D0E22"/>
          </a:solidFill>
          <a:ln/>
        </p:spPr>
      </p:sp>
      <p:sp>
        <p:nvSpPr>
          <p:cNvPr id="57" name="Text 46"/>
          <p:cNvSpPr/>
          <p:nvPr/>
        </p:nvSpPr>
        <p:spPr>
          <a:xfrm>
            <a:off x="5578348" y="9162909"/>
            <a:ext cx="8203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b="1" kern="0" spc="-1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다시 보기</a:t>
            </a:r>
            <a:endParaRPr lang="en-US" sz="1050" dirty="0"/>
          </a:p>
        </p:txBody>
      </p:sp>
      <p:sp>
        <p:nvSpPr>
          <p:cNvPr id="58" name="Shape 47"/>
          <p:cNvSpPr/>
          <p:nvPr/>
        </p:nvSpPr>
        <p:spPr>
          <a:xfrm>
            <a:off x="4168797" y="8977469"/>
            <a:ext cx="4572000" cy="742950"/>
          </a:xfrm>
          <a:prstGeom prst="rect">
            <a:avLst/>
          </a:prstGeom>
          <a:solidFill>
            <a:srgbClr val="FFF7EC">
              <a:alpha val="92000"/>
            </a:srgbClr>
          </a:solidFill>
          <a:ln/>
        </p:spPr>
      </p:sp>
      <p:sp>
        <p:nvSpPr>
          <p:cNvPr id="59" name="Shape 48"/>
          <p:cNvSpPr/>
          <p:nvPr/>
        </p:nvSpPr>
        <p:spPr>
          <a:xfrm>
            <a:off x="4168797" y="8977469"/>
            <a:ext cx="457200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21222" y="9082244"/>
            <a:ext cx="209550" cy="209550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4580604" y="9329894"/>
            <a:ext cx="1668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825" dirty="0"/>
          </a:p>
        </p:txBody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35622" y="9082244"/>
            <a:ext cx="209550" cy="209550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5449761" y="9329894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</a:t>
            </a:r>
            <a:endParaRPr lang="en-US" sz="825" dirty="0"/>
          </a:p>
        </p:txBody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0022" y="9082244"/>
            <a:ext cx="209550" cy="209550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6274268" y="9329894"/>
            <a:ext cx="43710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</a:t>
            </a:r>
            <a:endParaRPr lang="en-US" sz="825" dirty="0"/>
          </a:p>
        </p:txBody>
      </p:sp>
      <p:pic>
        <p:nvPicPr>
          <p:cNvPr id="66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64422" y="9082244"/>
            <a:ext cx="209550" cy="209550"/>
          </a:xfrm>
          <a:prstGeom prst="rect">
            <a:avLst/>
          </a:prstGeom>
        </p:spPr>
      </p:pic>
      <p:sp>
        <p:nvSpPr>
          <p:cNvPr id="67" name="Text 52"/>
          <p:cNvSpPr/>
          <p:nvPr/>
        </p:nvSpPr>
        <p:spPr>
          <a:xfrm>
            <a:off x="7233317" y="9329894"/>
            <a:ext cx="3479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오브닝</a:t>
            </a:r>
            <a:endParaRPr lang="en-US" sz="825" dirty="0"/>
          </a:p>
        </p:txBody>
      </p:sp>
      <p:pic>
        <p:nvPicPr>
          <p:cNvPr id="68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78822" y="9082244"/>
            <a:ext cx="209550" cy="209550"/>
          </a:xfrm>
          <a:prstGeom prst="rect">
            <a:avLst/>
          </a:prstGeom>
        </p:spPr>
      </p:pic>
      <p:sp>
        <p:nvSpPr>
          <p:cNvPr id="69" name="Text 53"/>
          <p:cNvSpPr/>
          <p:nvPr/>
        </p:nvSpPr>
        <p:spPr>
          <a:xfrm>
            <a:off x="8192961" y="9329894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</a:t>
            </a:r>
            <a:endParaRPr lang="en-US" sz="825" dirty="0"/>
          </a:p>
        </p:txBody>
      </p:sp>
      <p:sp>
        <p:nvSpPr>
          <p:cNvPr id="70" name="Shape 54"/>
          <p:cNvSpPr/>
          <p:nvPr/>
        </p:nvSpPr>
        <p:spPr>
          <a:xfrm>
            <a:off x="5816622" y="9596594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71" name="Text 55"/>
          <p:cNvSpPr/>
          <p:nvPr/>
        </p:nvSpPr>
        <p:spPr>
          <a:xfrm>
            <a:off x="5853531" y="10053794"/>
            <a:ext cx="127873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 — 메인</a:t>
            </a:r>
            <a:endParaRPr lang="en-US" sz="1350" dirty="0"/>
          </a:p>
        </p:txBody>
      </p:sp>
      <p:sp>
        <p:nvSpPr>
          <p:cNvPr id="72" name="Shape 56"/>
          <p:cNvSpPr/>
          <p:nvPr/>
        </p:nvSpPr>
        <p:spPr>
          <a:xfrm>
            <a:off x="10424000" y="-4606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73" name="Shape 57"/>
          <p:cNvSpPr/>
          <p:nvPr/>
        </p:nvSpPr>
        <p:spPr>
          <a:xfrm>
            <a:off x="12124213" y="128744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74" name="Shape 58"/>
          <p:cNvSpPr/>
          <p:nvPr/>
        </p:nvSpPr>
        <p:spPr>
          <a:xfrm>
            <a:off x="10528775" y="100169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75" name="Shape 59"/>
          <p:cNvSpPr/>
          <p:nvPr/>
        </p:nvSpPr>
        <p:spPr>
          <a:xfrm>
            <a:off x="10528775" y="100169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76" name="Text 60"/>
          <p:cNvSpPr/>
          <p:nvPr/>
        </p:nvSpPr>
        <p:spPr>
          <a:xfrm>
            <a:off x="10757375" y="233519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7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4025" y="257332"/>
            <a:ext cx="161925" cy="104775"/>
          </a:xfrm>
          <a:prstGeom prst="rect">
            <a:avLst/>
          </a:prstGeom>
        </p:spPr>
      </p:pic>
      <p:pic>
        <p:nvPicPr>
          <p:cNvPr id="78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3575" y="257332"/>
            <a:ext cx="228600" cy="104775"/>
          </a:xfrm>
          <a:prstGeom prst="rect">
            <a:avLst/>
          </a:prstGeom>
        </p:spPr>
      </p:pic>
      <p:sp>
        <p:nvSpPr>
          <p:cNvPr id="79" name="Shape 61"/>
          <p:cNvSpPr/>
          <p:nvPr/>
        </p:nvSpPr>
        <p:spPr>
          <a:xfrm>
            <a:off x="10681175" y="57641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80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76425" y="671669"/>
            <a:ext cx="152400" cy="152400"/>
          </a:xfrm>
          <a:prstGeom prst="rect">
            <a:avLst/>
          </a:prstGeom>
        </p:spPr>
      </p:pic>
      <p:sp>
        <p:nvSpPr>
          <p:cNvPr id="81" name="Text 62"/>
          <p:cNvSpPr/>
          <p:nvPr/>
        </p:nvSpPr>
        <p:spPr>
          <a:xfrm>
            <a:off x="12568464" y="671669"/>
            <a:ext cx="5689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캐릭터</a:t>
            </a:r>
            <a:endParaRPr lang="en-US" sz="1050" dirty="0"/>
          </a:p>
        </p:txBody>
      </p:sp>
      <p:sp>
        <p:nvSpPr>
          <p:cNvPr id="82" name="Shape 63"/>
          <p:cNvSpPr/>
          <p:nvPr/>
        </p:nvSpPr>
        <p:spPr>
          <a:xfrm>
            <a:off x="14605475" y="57641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83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700725" y="671669"/>
            <a:ext cx="152400" cy="152400"/>
          </a:xfrm>
          <a:prstGeom prst="rect">
            <a:avLst/>
          </a:prstGeom>
        </p:spPr>
      </p:pic>
      <p:sp>
        <p:nvSpPr>
          <p:cNvPr id="84" name="Shape 64"/>
          <p:cNvSpPr/>
          <p:nvPr/>
        </p:nvSpPr>
        <p:spPr>
          <a:xfrm>
            <a:off x="10719275" y="1071719"/>
            <a:ext cx="4191000" cy="2112466"/>
          </a:xfrm>
          <a:prstGeom prst="roundRect">
            <a:avLst>
              <a:gd name="adj" fmla="val 12625"/>
            </a:avLst>
          </a:prstGeom>
          <a:solidFill>
            <a:srgbClr val="551321"/>
          </a:solidFill>
          <a:ln/>
        </p:spPr>
      </p:sp>
      <p:sp>
        <p:nvSpPr>
          <p:cNvPr id="85" name="Shape 65"/>
          <p:cNvSpPr/>
          <p:nvPr/>
        </p:nvSpPr>
        <p:spPr>
          <a:xfrm>
            <a:off x="13576775" y="690719"/>
            <a:ext cx="1714500" cy="1714500"/>
          </a:xfrm>
          <a:prstGeom prst="ellipse">
            <a:avLst/>
          </a:prstGeom>
          <a:ln w="9525">
            <a:solidFill>
              <a:srgbClr val="F5DFA8">
                <a:alpha val="18000"/>
              </a:srgbClr>
            </a:solidFill>
            <a:prstDash val="solid"/>
          </a:ln>
        </p:spPr>
      </p:sp>
      <p:sp>
        <p:nvSpPr>
          <p:cNvPr id="86" name="Shape 66"/>
          <p:cNvSpPr/>
          <p:nvPr/>
        </p:nvSpPr>
        <p:spPr>
          <a:xfrm>
            <a:off x="13767275" y="881219"/>
            <a:ext cx="1333500" cy="1333500"/>
          </a:xfrm>
          <a:prstGeom prst="ellipse">
            <a:avLst/>
          </a:prstGeom>
          <a:ln w="9525">
            <a:solidFill>
              <a:srgbClr val="F5DFA8">
                <a:alpha val="25000"/>
              </a:srgbClr>
            </a:solidFill>
            <a:prstDash val="solid"/>
          </a:ln>
        </p:spPr>
      </p:sp>
      <p:sp>
        <p:nvSpPr>
          <p:cNvPr id="87" name="Text 67"/>
          <p:cNvSpPr/>
          <p:nvPr/>
        </p:nvSpPr>
        <p:spPr>
          <a:xfrm>
            <a:off x="10928825" y="1338419"/>
            <a:ext cx="388505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CHEMISTRY</a:t>
            </a:r>
            <a:endParaRPr lang="en-US" sz="825" dirty="0"/>
          </a:p>
        </p:txBody>
      </p:sp>
      <p:sp>
        <p:nvSpPr>
          <p:cNvPr id="88" name="Shape 68"/>
          <p:cNvSpPr/>
          <p:nvPr/>
        </p:nvSpPr>
        <p:spPr>
          <a:xfrm>
            <a:off x="10928825" y="1633694"/>
            <a:ext cx="742950" cy="742950"/>
          </a:xfrm>
          <a:prstGeom prst="roundRect">
            <a:avLst>
              <a:gd name="adj" fmla="val 2820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DFA8">
                <a:alpha val="35000"/>
              </a:srgbClr>
            </a:solidFill>
            <a:prstDash val="solid"/>
          </a:ln>
        </p:spPr>
      </p:sp>
      <p:sp>
        <p:nvSpPr>
          <p:cNvPr id="89" name="Text 69"/>
          <p:cNvSpPr/>
          <p:nvPr/>
        </p:nvSpPr>
        <p:spPr>
          <a:xfrm>
            <a:off x="11204604" y="1819432"/>
            <a:ext cx="26744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kern="0" spc="-24" dirty="0">
                <a:solidFill>
                  <a:srgbClr val="F5D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400" dirty="0"/>
          </a:p>
        </p:txBody>
      </p:sp>
      <p:sp>
        <p:nvSpPr>
          <p:cNvPr id="90" name="Text 70"/>
          <p:cNvSpPr/>
          <p:nvPr/>
        </p:nvSpPr>
        <p:spPr>
          <a:xfrm>
            <a:off x="11824175" y="1757519"/>
            <a:ext cx="131474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50" kern="0" spc="-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티라미수</a:t>
            </a:r>
            <a:endParaRPr lang="en-US" sz="2550" dirty="0"/>
          </a:p>
        </p:txBody>
      </p:sp>
      <p:sp>
        <p:nvSpPr>
          <p:cNvPr id="91" name="Text 71"/>
          <p:cNvSpPr/>
          <p:nvPr/>
        </p:nvSpPr>
        <p:spPr>
          <a:xfrm>
            <a:off x="11824175" y="2119469"/>
            <a:ext cx="13147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5DFA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Tiramisu · 여성 캐릭터</a:t>
            </a:r>
            <a:endParaRPr lang="en-US" sz="900" dirty="0"/>
          </a:p>
        </p:txBody>
      </p:sp>
      <p:sp>
        <p:nvSpPr>
          <p:cNvPr id="92" name="Text 72"/>
          <p:cNvSpPr/>
          <p:nvPr/>
        </p:nvSpPr>
        <p:spPr>
          <a:xfrm>
            <a:off x="10928825" y="2548094"/>
            <a:ext cx="3885057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부드럽지만 깊은 향을 가진 사람. 가까워질수록 진심이 묻어나는 타입이에요.</a:t>
            </a:r>
            <a:endParaRPr lang="en-US" sz="1050" dirty="0"/>
          </a:p>
        </p:txBody>
      </p:sp>
      <p:sp>
        <p:nvSpPr>
          <p:cNvPr id="93" name="Text 73"/>
          <p:cNvSpPr/>
          <p:nvPr/>
        </p:nvSpPr>
        <p:spPr>
          <a:xfrm>
            <a:off x="10719275" y="3450885"/>
            <a:ext cx="8036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성향 키워드</a:t>
            </a:r>
            <a:endParaRPr lang="en-US" sz="1275" dirty="0"/>
          </a:p>
        </p:txBody>
      </p:sp>
      <p:sp>
        <p:nvSpPr>
          <p:cNvPr id="94" name="Shape 74"/>
          <p:cNvSpPr/>
          <p:nvPr/>
        </p:nvSpPr>
        <p:spPr>
          <a:xfrm>
            <a:off x="10719275" y="3755685"/>
            <a:ext cx="606921" cy="314325"/>
          </a:xfrm>
          <a:prstGeom prst="roundRect">
            <a:avLst>
              <a:gd name="adj" fmla="val 50000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5" name="Text 75"/>
          <p:cNvSpPr/>
          <p:nvPr/>
        </p:nvSpPr>
        <p:spPr>
          <a:xfrm>
            <a:off x="10862150" y="3841410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감성적</a:t>
            </a:r>
            <a:endParaRPr lang="en-US" sz="975" dirty="0"/>
          </a:p>
        </p:txBody>
      </p:sp>
      <p:sp>
        <p:nvSpPr>
          <p:cNvPr id="96" name="Shape 76"/>
          <p:cNvSpPr/>
          <p:nvPr/>
        </p:nvSpPr>
        <p:spPr>
          <a:xfrm>
            <a:off x="11402396" y="3755685"/>
            <a:ext cx="606921" cy="314325"/>
          </a:xfrm>
          <a:prstGeom prst="roundRect">
            <a:avLst>
              <a:gd name="adj" fmla="val 50000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7" name="Text 77"/>
          <p:cNvSpPr/>
          <p:nvPr/>
        </p:nvSpPr>
        <p:spPr>
          <a:xfrm>
            <a:off x="11545271" y="3841410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진중함</a:t>
            </a:r>
            <a:endParaRPr lang="en-US" sz="975" dirty="0"/>
          </a:p>
        </p:txBody>
      </p:sp>
      <p:sp>
        <p:nvSpPr>
          <p:cNvPr id="98" name="Shape 78"/>
          <p:cNvSpPr/>
          <p:nvPr/>
        </p:nvSpPr>
        <p:spPr>
          <a:xfrm>
            <a:off x="12085517" y="3755685"/>
            <a:ext cx="606921" cy="314325"/>
          </a:xfrm>
          <a:prstGeom prst="roundRect">
            <a:avLst>
              <a:gd name="adj" fmla="val 50000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9" name="Text 79"/>
          <p:cNvSpPr/>
          <p:nvPr/>
        </p:nvSpPr>
        <p:spPr>
          <a:xfrm>
            <a:off x="12228392" y="3841410"/>
            <a:ext cx="3973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따뜻함</a:t>
            </a:r>
            <a:endParaRPr lang="en-US" sz="975" dirty="0"/>
          </a:p>
        </p:txBody>
      </p:sp>
      <p:sp>
        <p:nvSpPr>
          <p:cNvPr id="100" name="Shape 80"/>
          <p:cNvSpPr/>
          <p:nvPr/>
        </p:nvSpPr>
        <p:spPr>
          <a:xfrm>
            <a:off x="12768638" y="3755685"/>
            <a:ext cx="850255" cy="314325"/>
          </a:xfrm>
          <a:prstGeom prst="roundRect">
            <a:avLst>
              <a:gd name="adj" fmla="val 50000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01" name="Text 81"/>
          <p:cNvSpPr/>
          <p:nvPr/>
        </p:nvSpPr>
        <p:spPr>
          <a:xfrm>
            <a:off x="12911513" y="3841410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조용한 깊이</a:t>
            </a:r>
            <a:endParaRPr lang="en-US" sz="975" dirty="0"/>
          </a:p>
        </p:txBody>
      </p:sp>
      <p:sp>
        <p:nvSpPr>
          <p:cNvPr id="102" name="Shape 82"/>
          <p:cNvSpPr/>
          <p:nvPr/>
        </p:nvSpPr>
        <p:spPr>
          <a:xfrm>
            <a:off x="13695093" y="3755685"/>
            <a:ext cx="850255" cy="314325"/>
          </a:xfrm>
          <a:prstGeom prst="roundRect">
            <a:avLst>
              <a:gd name="adj" fmla="val 50000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03" name="Text 83"/>
          <p:cNvSpPr/>
          <p:nvPr/>
        </p:nvSpPr>
        <p:spPr>
          <a:xfrm>
            <a:off x="13837968" y="3841410"/>
            <a:ext cx="640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은은한 유머</a:t>
            </a:r>
            <a:endParaRPr lang="en-US" sz="975" dirty="0"/>
          </a:p>
        </p:txBody>
      </p:sp>
      <p:sp>
        <p:nvSpPr>
          <p:cNvPr id="104" name="Text 84"/>
          <p:cNvSpPr/>
          <p:nvPr/>
        </p:nvSpPr>
        <p:spPr>
          <a:xfrm>
            <a:off x="10719275" y="4336710"/>
            <a:ext cx="12900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 맞는 대화 스타일</a:t>
            </a:r>
            <a:endParaRPr lang="en-US" sz="1275" dirty="0"/>
          </a:p>
        </p:txBody>
      </p:sp>
      <p:sp>
        <p:nvSpPr>
          <p:cNvPr id="105" name="Shape 85"/>
          <p:cNvSpPr/>
          <p:nvPr/>
        </p:nvSpPr>
        <p:spPr>
          <a:xfrm>
            <a:off x="10719275" y="4641510"/>
            <a:ext cx="4191000" cy="798909"/>
          </a:xfrm>
          <a:prstGeom prst="roundRect">
            <a:avLst>
              <a:gd name="adj" fmla="val 26230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106" name="Text 86"/>
          <p:cNvSpPr/>
          <p:nvPr/>
        </p:nvSpPr>
        <p:spPr>
          <a:xfrm>
            <a:off x="10900250" y="4822485"/>
            <a:ext cx="3943922" cy="475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가벼운 농담보다, 한 가지 주제로 깊이 들어가는 대화에서 빛납니다. 상대의 작은 표현에도 의미를 발견하는 편이에요.</a:t>
            </a:r>
            <a:endParaRPr lang="en-US" sz="1013" dirty="0"/>
          </a:p>
        </p:txBody>
      </p:sp>
      <p:sp>
        <p:nvSpPr>
          <p:cNvPr id="107" name="Text 87"/>
          <p:cNvSpPr/>
          <p:nvPr/>
        </p:nvSpPr>
        <p:spPr>
          <a:xfrm>
            <a:off x="10719275" y="5707120"/>
            <a:ext cx="12900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 맞는 케미 캐릭터</a:t>
            </a:r>
            <a:endParaRPr lang="en-US" sz="1275" dirty="0"/>
          </a:p>
        </p:txBody>
      </p:sp>
      <p:sp>
        <p:nvSpPr>
          <p:cNvPr id="108" name="Shape 88"/>
          <p:cNvSpPr/>
          <p:nvPr/>
        </p:nvSpPr>
        <p:spPr>
          <a:xfrm>
            <a:off x="10719275" y="6011920"/>
            <a:ext cx="1333500" cy="1133475"/>
          </a:xfrm>
          <a:prstGeom prst="roundRect">
            <a:avLst>
              <a:gd name="adj" fmla="val 15126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09" name="Shape 89"/>
          <p:cNvSpPr/>
          <p:nvPr/>
        </p:nvSpPr>
        <p:spPr>
          <a:xfrm>
            <a:off x="10862150" y="6154795"/>
            <a:ext cx="457200" cy="457200"/>
          </a:xfrm>
          <a:prstGeom prst="roundRect">
            <a:avLst>
              <a:gd name="adj" fmla="val 29167"/>
            </a:avLst>
          </a:prstGeom>
          <a:solidFill>
            <a:srgbClr val="F1E3D0"/>
          </a:solidFill>
          <a:ln/>
        </p:spPr>
      </p:sp>
      <p:sp>
        <p:nvSpPr>
          <p:cNvPr id="110" name="Text 90"/>
          <p:cNvSpPr/>
          <p:nvPr/>
        </p:nvSpPr>
        <p:spPr>
          <a:xfrm>
            <a:off x="10990440" y="6235757"/>
            <a:ext cx="2766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크</a:t>
            </a:r>
            <a:endParaRPr lang="en-US" sz="1650" dirty="0"/>
          </a:p>
        </p:txBody>
      </p:sp>
      <p:sp>
        <p:nvSpPr>
          <p:cNvPr id="111" name="Text 91"/>
          <p:cNvSpPr/>
          <p:nvPr/>
        </p:nvSpPr>
        <p:spPr>
          <a:xfrm>
            <a:off x="10862150" y="6707245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크루아상</a:t>
            </a:r>
            <a:endParaRPr lang="en-US" sz="1050" dirty="0"/>
          </a:p>
        </p:txBody>
      </p:sp>
      <p:sp>
        <p:nvSpPr>
          <p:cNvPr id="112" name="Text 92"/>
          <p:cNvSpPr/>
          <p:nvPr/>
        </p:nvSpPr>
        <p:spPr>
          <a:xfrm>
            <a:off x="10862150" y="6878695"/>
            <a:ext cx="11239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겉바속촉 신사</a:t>
            </a:r>
            <a:endParaRPr lang="en-US" sz="825" dirty="0"/>
          </a:p>
        </p:txBody>
      </p:sp>
      <p:sp>
        <p:nvSpPr>
          <p:cNvPr id="113" name="Shape 93"/>
          <p:cNvSpPr/>
          <p:nvPr/>
        </p:nvSpPr>
        <p:spPr>
          <a:xfrm>
            <a:off x="12148025" y="6011920"/>
            <a:ext cx="1333500" cy="1133475"/>
          </a:xfrm>
          <a:prstGeom prst="roundRect">
            <a:avLst>
              <a:gd name="adj" fmla="val 15126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14" name="Shape 94"/>
          <p:cNvSpPr/>
          <p:nvPr/>
        </p:nvSpPr>
        <p:spPr>
          <a:xfrm>
            <a:off x="12290900" y="6154795"/>
            <a:ext cx="457200" cy="457200"/>
          </a:xfrm>
          <a:prstGeom prst="roundRect">
            <a:avLst>
              <a:gd name="adj" fmla="val 29167"/>
            </a:avLst>
          </a:prstGeom>
          <a:solidFill>
            <a:srgbClr val="F1E3D0"/>
          </a:solidFill>
          <a:ln/>
        </p:spPr>
      </p:sp>
      <p:sp>
        <p:nvSpPr>
          <p:cNvPr id="115" name="Text 95"/>
          <p:cNvSpPr/>
          <p:nvPr/>
        </p:nvSpPr>
        <p:spPr>
          <a:xfrm>
            <a:off x="12419190" y="6235757"/>
            <a:ext cx="2766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소</a:t>
            </a:r>
            <a:endParaRPr lang="en-US" sz="1650" dirty="0"/>
          </a:p>
        </p:txBody>
      </p:sp>
      <p:sp>
        <p:nvSpPr>
          <p:cNvPr id="116" name="Text 96"/>
          <p:cNvSpPr/>
          <p:nvPr/>
        </p:nvSpPr>
        <p:spPr>
          <a:xfrm>
            <a:off x="12290900" y="6707245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소금빵</a:t>
            </a:r>
            <a:endParaRPr lang="en-US" sz="1050" dirty="0"/>
          </a:p>
        </p:txBody>
      </p:sp>
      <p:sp>
        <p:nvSpPr>
          <p:cNvPr id="117" name="Text 97"/>
          <p:cNvSpPr/>
          <p:nvPr/>
        </p:nvSpPr>
        <p:spPr>
          <a:xfrm>
            <a:off x="12290900" y="6878695"/>
            <a:ext cx="11239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담백한 다정</a:t>
            </a:r>
            <a:endParaRPr lang="en-US" sz="825" dirty="0"/>
          </a:p>
        </p:txBody>
      </p:sp>
      <p:sp>
        <p:nvSpPr>
          <p:cNvPr id="118" name="Shape 98"/>
          <p:cNvSpPr/>
          <p:nvPr/>
        </p:nvSpPr>
        <p:spPr>
          <a:xfrm>
            <a:off x="13576775" y="6011920"/>
            <a:ext cx="1333500" cy="1133475"/>
          </a:xfrm>
          <a:prstGeom prst="roundRect">
            <a:avLst>
              <a:gd name="adj" fmla="val 15126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19" name="Shape 99"/>
          <p:cNvSpPr/>
          <p:nvPr/>
        </p:nvSpPr>
        <p:spPr>
          <a:xfrm>
            <a:off x="13719650" y="6154795"/>
            <a:ext cx="457200" cy="457200"/>
          </a:xfrm>
          <a:prstGeom prst="roundRect">
            <a:avLst>
              <a:gd name="adj" fmla="val 29167"/>
            </a:avLst>
          </a:prstGeom>
          <a:solidFill>
            <a:srgbClr val="F1E3D0"/>
          </a:solidFill>
          <a:ln/>
        </p:spPr>
      </p:sp>
      <p:sp>
        <p:nvSpPr>
          <p:cNvPr id="120" name="Text 100"/>
          <p:cNvSpPr/>
          <p:nvPr/>
        </p:nvSpPr>
        <p:spPr>
          <a:xfrm>
            <a:off x="13847940" y="6235757"/>
            <a:ext cx="2766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까</a:t>
            </a:r>
            <a:endParaRPr lang="en-US" sz="1650" dirty="0"/>
          </a:p>
        </p:txBody>
      </p:sp>
      <p:sp>
        <p:nvSpPr>
          <p:cNvPr id="121" name="Text 101"/>
          <p:cNvSpPr/>
          <p:nvPr/>
        </p:nvSpPr>
        <p:spPr>
          <a:xfrm>
            <a:off x="13719650" y="6707245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까눌레</a:t>
            </a:r>
            <a:endParaRPr lang="en-US" sz="1050" dirty="0"/>
          </a:p>
        </p:txBody>
      </p:sp>
      <p:sp>
        <p:nvSpPr>
          <p:cNvPr id="122" name="Text 102"/>
          <p:cNvSpPr/>
          <p:nvPr/>
        </p:nvSpPr>
        <p:spPr>
          <a:xfrm>
            <a:off x="13719650" y="6878695"/>
            <a:ext cx="11239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깊은 향의 사람</a:t>
            </a:r>
            <a:endParaRPr lang="en-US" sz="825" dirty="0"/>
          </a:p>
        </p:txBody>
      </p:sp>
      <p:sp>
        <p:nvSpPr>
          <p:cNvPr id="123" name="Text 103"/>
          <p:cNvSpPr/>
          <p:nvPr/>
        </p:nvSpPr>
        <p:spPr>
          <a:xfrm>
            <a:off x="10719275" y="7412095"/>
            <a:ext cx="13925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주의하면 좋은 포인트</a:t>
            </a:r>
            <a:endParaRPr lang="en-US" sz="1275" dirty="0"/>
          </a:p>
        </p:txBody>
      </p:sp>
      <p:sp>
        <p:nvSpPr>
          <p:cNvPr id="124" name="Shape 104"/>
          <p:cNvSpPr/>
          <p:nvPr/>
        </p:nvSpPr>
        <p:spPr>
          <a:xfrm>
            <a:off x="10719275" y="7716895"/>
            <a:ext cx="4191000" cy="798909"/>
          </a:xfrm>
          <a:prstGeom prst="roundRect">
            <a:avLst>
              <a:gd name="adj" fmla="val 26230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125" name="Text 105"/>
          <p:cNvSpPr/>
          <p:nvPr/>
        </p:nvSpPr>
        <p:spPr>
          <a:xfrm>
            <a:off x="10900250" y="7897870"/>
            <a:ext cx="3943922" cy="475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서두르지 않는 편이라, 처음엔 거리감이 있어 보일 수 있어요. 상대의 반응을 살피기보다 먼저 한 발 다가가는 시도가 도움이 됩니다.</a:t>
            </a:r>
            <a:endParaRPr lang="en-US" sz="1013" dirty="0"/>
          </a:p>
        </p:txBody>
      </p:sp>
      <p:sp>
        <p:nvSpPr>
          <p:cNvPr id="126" name="Shape 106"/>
          <p:cNvSpPr/>
          <p:nvPr/>
        </p:nvSpPr>
        <p:spPr>
          <a:xfrm>
            <a:off x="10719275" y="8706304"/>
            <a:ext cx="2053233" cy="476250"/>
          </a:xfrm>
          <a:prstGeom prst="roundRect">
            <a:avLst>
              <a:gd name="adj" fmla="val 36000"/>
            </a:avLst>
          </a:prstGeom>
          <a:solidFill>
            <a:srgbClr val="9D0E22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127" name="Text 107"/>
          <p:cNvSpPr/>
          <p:nvPr/>
        </p:nvSpPr>
        <p:spPr>
          <a:xfrm>
            <a:off x="11217403" y="8853942"/>
            <a:ext cx="105682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b="1" kern="0" spc="-12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도감 보기</a:t>
            </a:r>
            <a:endParaRPr lang="en-US" sz="1200" dirty="0"/>
          </a:p>
        </p:txBody>
      </p:sp>
      <p:sp>
        <p:nvSpPr>
          <p:cNvPr id="128" name="Shape 108"/>
          <p:cNvSpPr/>
          <p:nvPr/>
        </p:nvSpPr>
        <p:spPr>
          <a:xfrm>
            <a:off x="12867758" y="8706304"/>
            <a:ext cx="2042517" cy="476250"/>
          </a:xfrm>
          <a:prstGeom prst="roundRect">
            <a:avLst>
              <a:gd name="adj" fmla="val 36000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129" name="Text 109"/>
          <p:cNvSpPr/>
          <p:nvPr/>
        </p:nvSpPr>
        <p:spPr>
          <a:xfrm>
            <a:off x="13442979" y="8853942"/>
            <a:ext cx="89207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b="1" kern="0" spc="-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다시 분석하기</a:t>
            </a:r>
            <a:endParaRPr lang="en-US" sz="1200" dirty="0"/>
          </a:p>
        </p:txBody>
      </p:sp>
      <p:sp>
        <p:nvSpPr>
          <p:cNvPr id="130" name="Shape 110"/>
          <p:cNvSpPr/>
          <p:nvPr/>
        </p:nvSpPr>
        <p:spPr>
          <a:xfrm>
            <a:off x="12176600" y="9596594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131" name="Text 111"/>
          <p:cNvSpPr/>
          <p:nvPr/>
        </p:nvSpPr>
        <p:spPr>
          <a:xfrm>
            <a:off x="12293877" y="10053794"/>
            <a:ext cx="11179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캐릭터 상세</a:t>
            </a:r>
            <a:endParaRPr lang="en-US" sz="1350" dirty="0"/>
          </a:p>
        </p:txBody>
      </p:sp>
      <p:sp>
        <p:nvSpPr>
          <p:cNvPr id="132" name="Text 112"/>
          <p:cNvSpPr/>
          <p:nvPr/>
        </p:nvSpPr>
        <p:spPr>
          <a:xfrm>
            <a:off x="57543" y="100169"/>
            <a:ext cx="3202941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분석 </a:t>
            </a:r>
            <a:r>
              <a:rPr lang="en-US" sz="3300" dirty="0" err="1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결과를</a:t>
            </a:r>
            <a:r>
              <a:rPr lang="en-US" sz="3300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300" dirty="0" smtClean="0">
              <a:solidFill>
                <a:srgbClr val="8A0214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l">
              <a:buNone/>
            </a:pPr>
            <a:r>
              <a:rPr lang="en-US" sz="3300" dirty="0" err="1" smtClean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만나는</a:t>
            </a:r>
            <a:r>
              <a:rPr lang="en-US" sz="3300" dirty="0" smtClean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300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두 화면</a:t>
            </a:r>
            <a:endParaRPr lang="en-US" sz="3300" dirty="0"/>
          </a:p>
        </p:txBody>
      </p:sp>
      <p:sp>
        <p:nvSpPr>
          <p:cNvPr id="133" name="Text 113"/>
          <p:cNvSpPr/>
          <p:nvPr/>
        </p:nvSpPr>
        <p:spPr>
          <a:xfrm>
            <a:off x="16292512" y="876300"/>
            <a:ext cx="11191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3 · 케미Lab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857250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990600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962025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962025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1095375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119188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1119188"/>
            <a:ext cx="228600" cy="1047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85900" y="14382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1533525"/>
            <a:ext cx="152400" cy="152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15593" y="1533525"/>
            <a:ext cx="6841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도감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410200" y="14382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5450" y="1533525"/>
            <a:ext cx="152400" cy="152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24000" y="1895475"/>
            <a:ext cx="43167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케미 캐릭터 20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1524000" y="2286000"/>
            <a:ext cx="43167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디저트의 결을 빌려, 사람의 결을 표현해요.</a:t>
            </a:r>
            <a:endParaRPr lang="en-US" sz="975" dirty="0"/>
          </a:p>
        </p:txBody>
      </p:sp>
      <p:sp>
        <p:nvSpPr>
          <p:cNvPr id="16" name="Shape 10"/>
          <p:cNvSpPr/>
          <p:nvPr/>
        </p:nvSpPr>
        <p:spPr>
          <a:xfrm>
            <a:off x="1524000" y="2562225"/>
            <a:ext cx="494556" cy="33337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17" name="Text 11"/>
          <p:cNvSpPr/>
          <p:nvPr/>
        </p:nvSpPr>
        <p:spPr>
          <a:xfrm>
            <a:off x="1619250" y="2638425"/>
            <a:ext cx="30405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</a:t>
            </a:r>
            <a:endParaRPr lang="en-US" sz="975" dirty="0"/>
          </a:p>
        </p:txBody>
      </p:sp>
      <p:sp>
        <p:nvSpPr>
          <p:cNvPr id="18" name="Shape 12"/>
          <p:cNvSpPr/>
          <p:nvPr/>
        </p:nvSpPr>
        <p:spPr>
          <a:xfrm>
            <a:off x="2075706" y="2562225"/>
            <a:ext cx="494556" cy="333375"/>
          </a:xfrm>
          <a:prstGeom prst="roundRect">
            <a:avLst>
              <a:gd name="adj" fmla="val 50000"/>
            </a:avLst>
          </a:prstGeom>
          <a:solidFill>
            <a:srgbClr val="FFF9F0"/>
          </a:solidFill>
          <a:ln/>
        </p:spPr>
      </p:sp>
      <p:sp>
        <p:nvSpPr>
          <p:cNvPr id="19" name="Text 13"/>
          <p:cNvSpPr/>
          <p:nvPr/>
        </p:nvSpPr>
        <p:spPr>
          <a:xfrm>
            <a:off x="2170956" y="2638425"/>
            <a:ext cx="30405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남성</a:t>
            </a:r>
            <a:endParaRPr lang="en-US" sz="975" dirty="0"/>
          </a:p>
        </p:txBody>
      </p:sp>
      <p:sp>
        <p:nvSpPr>
          <p:cNvPr id="20" name="Shape 14"/>
          <p:cNvSpPr/>
          <p:nvPr/>
        </p:nvSpPr>
        <p:spPr>
          <a:xfrm>
            <a:off x="2627412" y="2562225"/>
            <a:ext cx="494556" cy="333375"/>
          </a:xfrm>
          <a:prstGeom prst="roundRect">
            <a:avLst>
              <a:gd name="adj" fmla="val 50000"/>
            </a:avLst>
          </a:prstGeom>
          <a:solidFill>
            <a:srgbClr val="FFF9F0"/>
          </a:solidFill>
          <a:ln/>
        </p:spPr>
      </p:sp>
      <p:sp>
        <p:nvSpPr>
          <p:cNvPr id="21" name="Text 15"/>
          <p:cNvSpPr/>
          <p:nvPr/>
        </p:nvSpPr>
        <p:spPr>
          <a:xfrm>
            <a:off x="2722662" y="2638425"/>
            <a:ext cx="30405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여성</a:t>
            </a:r>
            <a:endParaRPr lang="en-US" sz="975" dirty="0"/>
          </a:p>
        </p:txBody>
      </p:sp>
      <p:sp>
        <p:nvSpPr>
          <p:cNvPr id="22" name="Shape 16"/>
          <p:cNvSpPr/>
          <p:nvPr/>
        </p:nvSpPr>
        <p:spPr>
          <a:xfrm>
            <a:off x="3179118" y="2562225"/>
            <a:ext cx="642938" cy="333375"/>
          </a:xfrm>
          <a:prstGeom prst="roundRect">
            <a:avLst>
              <a:gd name="adj" fmla="val 50000"/>
            </a:avLst>
          </a:prstGeom>
          <a:solidFill>
            <a:srgbClr val="FFF9F0"/>
          </a:solidFill>
          <a:ln/>
        </p:spPr>
      </p:sp>
      <p:sp>
        <p:nvSpPr>
          <p:cNvPr id="23" name="Text 17"/>
          <p:cNvSpPr/>
          <p:nvPr/>
        </p:nvSpPr>
        <p:spPr>
          <a:xfrm>
            <a:off x="3274368" y="2638425"/>
            <a:ext cx="45243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 맞는</a:t>
            </a:r>
            <a:endParaRPr lang="en-US" sz="975" dirty="0"/>
          </a:p>
        </p:txBody>
      </p:sp>
      <p:sp>
        <p:nvSpPr>
          <p:cNvPr id="24" name="Shape 18"/>
          <p:cNvSpPr/>
          <p:nvPr/>
        </p:nvSpPr>
        <p:spPr>
          <a:xfrm>
            <a:off x="1524000" y="3048000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666875" y="3190875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26" name="Text 20"/>
          <p:cNvSpPr/>
          <p:nvPr/>
        </p:nvSpPr>
        <p:spPr>
          <a:xfrm>
            <a:off x="1815108" y="3281363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크</a:t>
            </a:r>
            <a:endParaRPr lang="en-US" sz="1950" dirty="0"/>
          </a:p>
        </p:txBody>
      </p:sp>
      <p:sp>
        <p:nvSpPr>
          <p:cNvPr id="27" name="Text 21"/>
          <p:cNvSpPr/>
          <p:nvPr/>
        </p:nvSpPr>
        <p:spPr>
          <a:xfrm>
            <a:off x="1666875" y="3819525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크루아상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666875" y="4010025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담백 · 신사</a:t>
            </a:r>
            <a:endParaRPr lang="en-US" sz="825" dirty="0"/>
          </a:p>
        </p:txBody>
      </p:sp>
      <p:sp>
        <p:nvSpPr>
          <p:cNvPr id="29" name="Shape 23"/>
          <p:cNvSpPr/>
          <p:nvPr/>
        </p:nvSpPr>
        <p:spPr>
          <a:xfrm>
            <a:off x="3676650" y="3048000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819525" y="3190875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31" name="Text 25"/>
          <p:cNvSpPr/>
          <p:nvPr/>
        </p:nvSpPr>
        <p:spPr>
          <a:xfrm>
            <a:off x="3967758" y="3281363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소</a:t>
            </a:r>
            <a:endParaRPr lang="en-US" sz="1950" dirty="0"/>
          </a:p>
        </p:txBody>
      </p:sp>
      <p:sp>
        <p:nvSpPr>
          <p:cNvPr id="32" name="Text 26"/>
          <p:cNvSpPr/>
          <p:nvPr/>
        </p:nvSpPr>
        <p:spPr>
          <a:xfrm>
            <a:off x="3819525" y="3819525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소금빵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3819525" y="4010025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다정 · 은은한 매력</a:t>
            </a:r>
            <a:endParaRPr lang="en-US" sz="825" dirty="0"/>
          </a:p>
        </p:txBody>
      </p:sp>
      <p:sp>
        <p:nvSpPr>
          <p:cNvPr id="34" name="Shape 28"/>
          <p:cNvSpPr/>
          <p:nvPr/>
        </p:nvSpPr>
        <p:spPr>
          <a:xfrm>
            <a:off x="1524000" y="4419005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666875" y="456188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36" name="Text 30"/>
          <p:cNvSpPr/>
          <p:nvPr/>
        </p:nvSpPr>
        <p:spPr>
          <a:xfrm>
            <a:off x="1815108" y="4652367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단</a:t>
            </a:r>
            <a:endParaRPr lang="en-US" sz="1950" dirty="0"/>
          </a:p>
        </p:txBody>
      </p:sp>
      <p:sp>
        <p:nvSpPr>
          <p:cNvPr id="37" name="Text 31"/>
          <p:cNvSpPr/>
          <p:nvPr/>
        </p:nvSpPr>
        <p:spPr>
          <a:xfrm>
            <a:off x="1666875" y="5190530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단팥빵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1666875" y="5381030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든든 · 한결같음</a:t>
            </a:r>
            <a:endParaRPr lang="en-US" sz="825" dirty="0"/>
          </a:p>
        </p:txBody>
      </p:sp>
      <p:sp>
        <p:nvSpPr>
          <p:cNvPr id="39" name="Shape 33"/>
          <p:cNvSpPr/>
          <p:nvPr/>
        </p:nvSpPr>
        <p:spPr>
          <a:xfrm>
            <a:off x="3676650" y="4419005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3819525" y="4561880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41" name="Text 35"/>
          <p:cNvSpPr/>
          <p:nvPr/>
        </p:nvSpPr>
        <p:spPr>
          <a:xfrm>
            <a:off x="3967758" y="4652367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스</a:t>
            </a:r>
            <a:endParaRPr lang="en-US" sz="1950" dirty="0"/>
          </a:p>
        </p:txBody>
      </p:sp>
      <p:sp>
        <p:nvSpPr>
          <p:cNvPr id="42" name="Text 36"/>
          <p:cNvSpPr/>
          <p:nvPr/>
        </p:nvSpPr>
        <p:spPr>
          <a:xfrm>
            <a:off x="3819525" y="5190530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스콘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3819525" y="5381030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깔끔 · 정돈됨</a:t>
            </a:r>
            <a:endParaRPr lang="en-US" sz="825" dirty="0"/>
          </a:p>
        </p:txBody>
      </p:sp>
      <p:sp>
        <p:nvSpPr>
          <p:cNvPr id="44" name="Shape 38"/>
          <p:cNvSpPr/>
          <p:nvPr/>
        </p:nvSpPr>
        <p:spPr>
          <a:xfrm>
            <a:off x="1524000" y="5790009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666875" y="5932884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46" name="Text 40"/>
          <p:cNvSpPr/>
          <p:nvPr/>
        </p:nvSpPr>
        <p:spPr>
          <a:xfrm>
            <a:off x="1815108" y="6023372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초</a:t>
            </a:r>
            <a:endParaRPr lang="en-US" sz="1950" dirty="0"/>
          </a:p>
        </p:txBody>
      </p:sp>
      <p:sp>
        <p:nvSpPr>
          <p:cNvPr id="47" name="Text 41"/>
          <p:cNvSpPr/>
          <p:nvPr/>
        </p:nvSpPr>
        <p:spPr>
          <a:xfrm>
            <a:off x="1666875" y="6561534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초콜릿</a:t>
            </a:r>
            <a:endParaRPr lang="en-US" sz="1050" dirty="0"/>
          </a:p>
        </p:txBody>
      </p:sp>
      <p:sp>
        <p:nvSpPr>
          <p:cNvPr id="48" name="Text 42"/>
          <p:cNvSpPr/>
          <p:nvPr/>
        </p:nvSpPr>
        <p:spPr>
          <a:xfrm>
            <a:off x="1666875" y="6752034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진한 매력 · 대담</a:t>
            </a:r>
            <a:endParaRPr lang="en-US" sz="825" dirty="0"/>
          </a:p>
        </p:txBody>
      </p:sp>
      <p:sp>
        <p:nvSpPr>
          <p:cNvPr id="49" name="Shape 43"/>
          <p:cNvSpPr/>
          <p:nvPr/>
        </p:nvSpPr>
        <p:spPr>
          <a:xfrm>
            <a:off x="3676650" y="5790009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3819525" y="5932884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51" name="Text 45"/>
          <p:cNvSpPr/>
          <p:nvPr/>
        </p:nvSpPr>
        <p:spPr>
          <a:xfrm>
            <a:off x="3967758" y="6023372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바</a:t>
            </a:r>
            <a:endParaRPr lang="en-US" sz="1950" dirty="0"/>
          </a:p>
        </p:txBody>
      </p:sp>
      <p:sp>
        <p:nvSpPr>
          <p:cNvPr id="52" name="Text 46"/>
          <p:cNvSpPr/>
          <p:nvPr/>
        </p:nvSpPr>
        <p:spPr>
          <a:xfrm>
            <a:off x="3819525" y="6561534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바게트</a:t>
            </a:r>
            <a:endParaRPr lang="en-US" sz="1050" dirty="0"/>
          </a:p>
        </p:txBody>
      </p:sp>
      <p:sp>
        <p:nvSpPr>
          <p:cNvPr id="53" name="Text 47"/>
          <p:cNvSpPr/>
          <p:nvPr/>
        </p:nvSpPr>
        <p:spPr>
          <a:xfrm>
            <a:off x="3819525" y="6752034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단단함 · 심플</a:t>
            </a:r>
            <a:endParaRPr lang="en-US" sz="825" dirty="0"/>
          </a:p>
        </p:txBody>
      </p:sp>
      <p:sp>
        <p:nvSpPr>
          <p:cNvPr id="54" name="Shape 48"/>
          <p:cNvSpPr/>
          <p:nvPr/>
        </p:nvSpPr>
        <p:spPr>
          <a:xfrm>
            <a:off x="1524000" y="7161014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1666875" y="7303889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56" name="Text 50"/>
          <p:cNvSpPr/>
          <p:nvPr/>
        </p:nvSpPr>
        <p:spPr>
          <a:xfrm>
            <a:off x="1815108" y="7394377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휘</a:t>
            </a:r>
            <a:endParaRPr lang="en-US" sz="1950" dirty="0"/>
          </a:p>
        </p:txBody>
      </p:sp>
      <p:sp>
        <p:nvSpPr>
          <p:cNvPr id="57" name="Text 51"/>
          <p:cNvSpPr/>
          <p:nvPr/>
        </p:nvSpPr>
        <p:spPr>
          <a:xfrm>
            <a:off x="1666875" y="7932539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휘낭시에</a:t>
            </a:r>
            <a:endParaRPr lang="en-US" sz="1050" dirty="0"/>
          </a:p>
        </p:txBody>
      </p:sp>
      <p:sp>
        <p:nvSpPr>
          <p:cNvPr id="58" name="Text 52"/>
          <p:cNvSpPr/>
          <p:nvPr/>
        </p:nvSpPr>
        <p:spPr>
          <a:xfrm>
            <a:off x="1666875" y="8123039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포근 · 부드러움</a:t>
            </a:r>
            <a:endParaRPr lang="en-US" sz="825" dirty="0"/>
          </a:p>
        </p:txBody>
      </p:sp>
      <p:sp>
        <p:nvSpPr>
          <p:cNvPr id="59" name="Shape 53"/>
          <p:cNvSpPr/>
          <p:nvPr/>
        </p:nvSpPr>
        <p:spPr>
          <a:xfrm>
            <a:off x="3676650" y="7161014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3819525" y="7303889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61" name="Text 55"/>
          <p:cNvSpPr/>
          <p:nvPr/>
        </p:nvSpPr>
        <p:spPr>
          <a:xfrm>
            <a:off x="3967758" y="7394377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에</a:t>
            </a:r>
            <a:endParaRPr lang="en-US" sz="1950" dirty="0"/>
          </a:p>
        </p:txBody>
      </p:sp>
      <p:sp>
        <p:nvSpPr>
          <p:cNvPr id="62" name="Text 56"/>
          <p:cNvSpPr/>
          <p:nvPr/>
        </p:nvSpPr>
        <p:spPr>
          <a:xfrm>
            <a:off x="3819525" y="7932539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에클레어</a:t>
            </a:r>
            <a:endParaRPr lang="en-US" sz="1050" dirty="0"/>
          </a:p>
        </p:txBody>
      </p:sp>
      <p:sp>
        <p:nvSpPr>
          <p:cNvPr id="63" name="Text 57"/>
          <p:cNvSpPr/>
          <p:nvPr/>
        </p:nvSpPr>
        <p:spPr>
          <a:xfrm>
            <a:off x="3819525" y="8123039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유쾌 · 센스</a:t>
            </a:r>
            <a:endParaRPr lang="en-US" sz="825" dirty="0"/>
          </a:p>
        </p:txBody>
      </p:sp>
      <p:sp>
        <p:nvSpPr>
          <p:cNvPr id="64" name="Shape 58"/>
          <p:cNvSpPr/>
          <p:nvPr/>
        </p:nvSpPr>
        <p:spPr>
          <a:xfrm>
            <a:off x="1524000" y="8532019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1666875" y="8674894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66" name="Text 60"/>
          <p:cNvSpPr/>
          <p:nvPr/>
        </p:nvSpPr>
        <p:spPr>
          <a:xfrm>
            <a:off x="1815108" y="8765381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까</a:t>
            </a:r>
            <a:endParaRPr lang="en-US" sz="1950" dirty="0"/>
          </a:p>
        </p:txBody>
      </p:sp>
      <p:sp>
        <p:nvSpPr>
          <p:cNvPr id="67" name="Text 61"/>
          <p:cNvSpPr/>
          <p:nvPr/>
        </p:nvSpPr>
        <p:spPr>
          <a:xfrm>
            <a:off x="1666875" y="9303544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까눌레</a:t>
            </a:r>
            <a:endParaRPr lang="en-US" sz="1050" dirty="0"/>
          </a:p>
        </p:txBody>
      </p:sp>
      <p:sp>
        <p:nvSpPr>
          <p:cNvPr id="68" name="Text 62"/>
          <p:cNvSpPr/>
          <p:nvPr/>
        </p:nvSpPr>
        <p:spPr>
          <a:xfrm>
            <a:off x="1666875" y="9494044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· 반전매력</a:t>
            </a:r>
            <a:endParaRPr lang="en-US" sz="825" dirty="0"/>
          </a:p>
        </p:txBody>
      </p:sp>
      <p:sp>
        <p:nvSpPr>
          <p:cNvPr id="69" name="Shape 63"/>
          <p:cNvSpPr/>
          <p:nvPr/>
        </p:nvSpPr>
        <p:spPr>
          <a:xfrm>
            <a:off x="3676650" y="8532019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3819525" y="8674894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71" name="Text 65"/>
          <p:cNvSpPr/>
          <p:nvPr/>
        </p:nvSpPr>
        <p:spPr>
          <a:xfrm>
            <a:off x="3967758" y="8765381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마</a:t>
            </a:r>
            <a:endParaRPr lang="en-US" sz="1950" dirty="0"/>
          </a:p>
        </p:txBody>
      </p:sp>
      <p:sp>
        <p:nvSpPr>
          <p:cNvPr id="72" name="Text 66"/>
          <p:cNvSpPr/>
          <p:nvPr/>
        </p:nvSpPr>
        <p:spPr>
          <a:xfrm>
            <a:off x="3819525" y="9303544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마카롱</a:t>
            </a:r>
            <a:endParaRPr lang="en-US" sz="1050" dirty="0"/>
          </a:p>
        </p:txBody>
      </p:sp>
      <p:sp>
        <p:nvSpPr>
          <p:cNvPr id="73" name="Text 67"/>
          <p:cNvSpPr/>
          <p:nvPr/>
        </p:nvSpPr>
        <p:spPr>
          <a:xfrm>
            <a:off x="3819525" y="9494044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세련 · 감각적</a:t>
            </a:r>
            <a:endParaRPr lang="en-US" sz="825" dirty="0"/>
          </a:p>
        </p:txBody>
      </p:sp>
      <p:sp>
        <p:nvSpPr>
          <p:cNvPr id="74" name="Shape 68"/>
          <p:cNvSpPr/>
          <p:nvPr/>
        </p:nvSpPr>
        <p:spPr>
          <a:xfrm>
            <a:off x="1524000" y="9903023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3180308" y="10007798"/>
            <a:ext cx="277267" cy="161925"/>
          </a:xfrm>
          <a:prstGeom prst="roundRect">
            <a:avLst>
              <a:gd name="adj" fmla="val 35294"/>
            </a:avLst>
          </a:prstGeom>
          <a:solidFill>
            <a:srgbClr val="F5DFA8"/>
          </a:solidFill>
          <a:ln/>
        </p:spPr>
      </p:sp>
      <p:sp>
        <p:nvSpPr>
          <p:cNvPr id="76" name="Text 70"/>
          <p:cNvSpPr/>
          <p:nvPr/>
        </p:nvSpPr>
        <p:spPr>
          <a:xfrm>
            <a:off x="3246983" y="10036373"/>
            <a:ext cx="22011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b="1" kern="0" spc="34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</a:t>
            </a:r>
            <a:endParaRPr lang="en-US" sz="675" dirty="0"/>
          </a:p>
        </p:txBody>
      </p:sp>
      <p:sp>
        <p:nvSpPr>
          <p:cNvPr id="77" name="Shape 71"/>
          <p:cNvSpPr/>
          <p:nvPr/>
        </p:nvSpPr>
        <p:spPr>
          <a:xfrm>
            <a:off x="1666875" y="10045898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7A1F2B"/>
          </a:solidFill>
          <a:ln/>
        </p:spPr>
      </p:sp>
      <p:sp>
        <p:nvSpPr>
          <p:cNvPr id="78" name="Text 72"/>
          <p:cNvSpPr/>
          <p:nvPr/>
        </p:nvSpPr>
        <p:spPr>
          <a:xfrm>
            <a:off x="1815108" y="10136386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F5D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</a:t>
            </a:r>
            <a:endParaRPr lang="en-US" sz="1950" dirty="0"/>
          </a:p>
        </p:txBody>
      </p:sp>
      <p:sp>
        <p:nvSpPr>
          <p:cNvPr id="79" name="Text 73"/>
          <p:cNvSpPr/>
          <p:nvPr/>
        </p:nvSpPr>
        <p:spPr>
          <a:xfrm>
            <a:off x="1666875" y="10674548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티라미수</a:t>
            </a:r>
            <a:endParaRPr lang="en-US" sz="1050" dirty="0"/>
          </a:p>
        </p:txBody>
      </p:sp>
      <p:sp>
        <p:nvSpPr>
          <p:cNvPr id="80" name="Text 74"/>
          <p:cNvSpPr/>
          <p:nvPr/>
        </p:nvSpPr>
        <p:spPr>
          <a:xfrm>
            <a:off x="1666875" y="10865048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 · 진중</a:t>
            </a:r>
            <a:endParaRPr lang="en-US" sz="825" dirty="0"/>
          </a:p>
        </p:txBody>
      </p:sp>
      <p:sp>
        <p:nvSpPr>
          <p:cNvPr id="81" name="Shape 75"/>
          <p:cNvSpPr/>
          <p:nvPr/>
        </p:nvSpPr>
        <p:spPr>
          <a:xfrm>
            <a:off x="3676650" y="9903023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>
            <a:off x="3819525" y="10045898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83" name="Text 77"/>
          <p:cNvSpPr/>
          <p:nvPr/>
        </p:nvSpPr>
        <p:spPr>
          <a:xfrm>
            <a:off x="3967758" y="10136386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마</a:t>
            </a:r>
            <a:endParaRPr lang="en-US" sz="1950" dirty="0"/>
          </a:p>
        </p:txBody>
      </p:sp>
      <p:sp>
        <p:nvSpPr>
          <p:cNvPr id="84" name="Text 78"/>
          <p:cNvSpPr/>
          <p:nvPr/>
        </p:nvSpPr>
        <p:spPr>
          <a:xfrm>
            <a:off x="3819525" y="10674548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마들렌</a:t>
            </a:r>
            <a:endParaRPr lang="en-US" sz="1050" dirty="0"/>
          </a:p>
        </p:txBody>
      </p:sp>
      <p:sp>
        <p:nvSpPr>
          <p:cNvPr id="85" name="Text 79"/>
          <p:cNvSpPr/>
          <p:nvPr/>
        </p:nvSpPr>
        <p:spPr>
          <a:xfrm>
            <a:off x="3819525" y="10865048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따뜻 · 다정</a:t>
            </a:r>
            <a:endParaRPr lang="en-US" sz="825" dirty="0"/>
          </a:p>
        </p:txBody>
      </p:sp>
      <p:sp>
        <p:nvSpPr>
          <p:cNvPr id="86" name="Shape 80"/>
          <p:cNvSpPr/>
          <p:nvPr/>
        </p:nvSpPr>
        <p:spPr>
          <a:xfrm>
            <a:off x="1524000" y="11274028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7" name="Shape 81"/>
          <p:cNvSpPr/>
          <p:nvPr/>
        </p:nvSpPr>
        <p:spPr>
          <a:xfrm>
            <a:off x="1666875" y="11416903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88" name="Text 82"/>
          <p:cNvSpPr/>
          <p:nvPr/>
        </p:nvSpPr>
        <p:spPr>
          <a:xfrm>
            <a:off x="1815108" y="11507391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피</a:t>
            </a:r>
            <a:endParaRPr lang="en-US" sz="1950" dirty="0"/>
          </a:p>
        </p:txBody>
      </p:sp>
      <p:sp>
        <p:nvSpPr>
          <p:cNvPr id="89" name="Text 83"/>
          <p:cNvSpPr/>
          <p:nvPr/>
        </p:nvSpPr>
        <p:spPr>
          <a:xfrm>
            <a:off x="1666875" y="12045553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피낭시에</a:t>
            </a:r>
            <a:endParaRPr lang="en-US" sz="1050" dirty="0"/>
          </a:p>
        </p:txBody>
      </p:sp>
      <p:sp>
        <p:nvSpPr>
          <p:cNvPr id="90" name="Text 84"/>
          <p:cNvSpPr/>
          <p:nvPr/>
        </p:nvSpPr>
        <p:spPr>
          <a:xfrm>
            <a:off x="1666875" y="12236053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고급스러움 · 우아</a:t>
            </a:r>
            <a:endParaRPr lang="en-US" sz="825" dirty="0"/>
          </a:p>
        </p:txBody>
      </p:sp>
      <p:sp>
        <p:nvSpPr>
          <p:cNvPr id="91" name="Shape 85"/>
          <p:cNvSpPr/>
          <p:nvPr/>
        </p:nvSpPr>
        <p:spPr>
          <a:xfrm>
            <a:off x="3676650" y="11274028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2" name="Shape 86"/>
          <p:cNvSpPr/>
          <p:nvPr/>
        </p:nvSpPr>
        <p:spPr>
          <a:xfrm>
            <a:off x="3819525" y="11416903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93" name="Text 87"/>
          <p:cNvSpPr/>
          <p:nvPr/>
        </p:nvSpPr>
        <p:spPr>
          <a:xfrm>
            <a:off x="3967758" y="11507391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에</a:t>
            </a:r>
            <a:endParaRPr lang="en-US" sz="1950" dirty="0"/>
          </a:p>
        </p:txBody>
      </p:sp>
      <p:sp>
        <p:nvSpPr>
          <p:cNvPr id="94" name="Text 88"/>
          <p:cNvSpPr/>
          <p:nvPr/>
        </p:nvSpPr>
        <p:spPr>
          <a:xfrm>
            <a:off x="3819525" y="12045553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에그타르트</a:t>
            </a:r>
            <a:endParaRPr lang="en-US" sz="1050" dirty="0"/>
          </a:p>
        </p:txBody>
      </p:sp>
      <p:sp>
        <p:nvSpPr>
          <p:cNvPr id="95" name="Text 89"/>
          <p:cNvSpPr/>
          <p:nvPr/>
        </p:nvSpPr>
        <p:spPr>
          <a:xfrm>
            <a:off x="3819525" y="12236053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싱그러움 · 발랄</a:t>
            </a:r>
            <a:endParaRPr lang="en-US" sz="825" dirty="0"/>
          </a:p>
        </p:txBody>
      </p:sp>
      <p:sp>
        <p:nvSpPr>
          <p:cNvPr id="96" name="Shape 90"/>
          <p:cNvSpPr/>
          <p:nvPr/>
        </p:nvSpPr>
        <p:spPr>
          <a:xfrm>
            <a:off x="1524000" y="12645033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7" name="Shape 91"/>
          <p:cNvSpPr/>
          <p:nvPr/>
        </p:nvSpPr>
        <p:spPr>
          <a:xfrm>
            <a:off x="1666875" y="12787908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98" name="Text 92"/>
          <p:cNvSpPr/>
          <p:nvPr/>
        </p:nvSpPr>
        <p:spPr>
          <a:xfrm>
            <a:off x="1815108" y="12878395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푸</a:t>
            </a:r>
            <a:endParaRPr lang="en-US" sz="1950" dirty="0"/>
          </a:p>
        </p:txBody>
      </p:sp>
      <p:sp>
        <p:nvSpPr>
          <p:cNvPr id="99" name="Text 93"/>
          <p:cNvSpPr/>
          <p:nvPr/>
        </p:nvSpPr>
        <p:spPr>
          <a:xfrm>
            <a:off x="1666875" y="13416558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푸딩</a:t>
            </a:r>
            <a:endParaRPr lang="en-US" sz="1050" dirty="0"/>
          </a:p>
        </p:txBody>
      </p:sp>
      <p:sp>
        <p:nvSpPr>
          <p:cNvPr id="100" name="Text 94"/>
          <p:cNvSpPr/>
          <p:nvPr/>
        </p:nvSpPr>
        <p:spPr>
          <a:xfrm>
            <a:off x="1666875" y="13607058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포근 · 순수</a:t>
            </a:r>
            <a:endParaRPr lang="en-US" sz="825" dirty="0"/>
          </a:p>
        </p:txBody>
      </p:sp>
      <p:sp>
        <p:nvSpPr>
          <p:cNvPr id="101" name="Shape 95"/>
          <p:cNvSpPr/>
          <p:nvPr/>
        </p:nvSpPr>
        <p:spPr>
          <a:xfrm>
            <a:off x="3676650" y="12645033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02" name="Shape 96"/>
          <p:cNvSpPr/>
          <p:nvPr/>
        </p:nvSpPr>
        <p:spPr>
          <a:xfrm>
            <a:off x="3819525" y="12787908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103" name="Text 97"/>
          <p:cNvSpPr/>
          <p:nvPr/>
        </p:nvSpPr>
        <p:spPr>
          <a:xfrm>
            <a:off x="3967758" y="12878395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파</a:t>
            </a:r>
            <a:endParaRPr lang="en-US" sz="1950" dirty="0"/>
          </a:p>
        </p:txBody>
      </p:sp>
      <p:sp>
        <p:nvSpPr>
          <p:cNvPr id="104" name="Text 98"/>
          <p:cNvSpPr/>
          <p:nvPr/>
        </p:nvSpPr>
        <p:spPr>
          <a:xfrm>
            <a:off x="3819525" y="13416558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파블로바</a:t>
            </a:r>
            <a:endParaRPr lang="en-US" sz="1050" dirty="0"/>
          </a:p>
        </p:txBody>
      </p:sp>
      <p:sp>
        <p:nvSpPr>
          <p:cNvPr id="105" name="Text 99"/>
          <p:cNvSpPr/>
          <p:nvPr/>
        </p:nvSpPr>
        <p:spPr>
          <a:xfrm>
            <a:off x="3819525" y="13607058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낭만 · 감수성</a:t>
            </a:r>
            <a:endParaRPr lang="en-US" sz="825" dirty="0"/>
          </a:p>
        </p:txBody>
      </p:sp>
      <p:sp>
        <p:nvSpPr>
          <p:cNvPr id="106" name="Shape 100"/>
          <p:cNvSpPr/>
          <p:nvPr/>
        </p:nvSpPr>
        <p:spPr>
          <a:xfrm>
            <a:off x="1524000" y="14016038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07" name="Shape 101"/>
          <p:cNvSpPr/>
          <p:nvPr/>
        </p:nvSpPr>
        <p:spPr>
          <a:xfrm>
            <a:off x="1666875" y="14158913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108" name="Text 102"/>
          <p:cNvSpPr/>
          <p:nvPr/>
        </p:nvSpPr>
        <p:spPr>
          <a:xfrm>
            <a:off x="1815108" y="14249400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샤</a:t>
            </a:r>
            <a:endParaRPr lang="en-US" sz="1950" dirty="0"/>
          </a:p>
        </p:txBody>
      </p:sp>
      <p:sp>
        <p:nvSpPr>
          <p:cNvPr id="109" name="Text 103"/>
          <p:cNvSpPr/>
          <p:nvPr/>
        </p:nvSpPr>
        <p:spPr>
          <a:xfrm>
            <a:off x="1666875" y="14787563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샤를로트</a:t>
            </a:r>
            <a:endParaRPr lang="en-US" sz="1050" dirty="0"/>
          </a:p>
        </p:txBody>
      </p:sp>
      <p:sp>
        <p:nvSpPr>
          <p:cNvPr id="110" name="Text 104"/>
          <p:cNvSpPr/>
          <p:nvPr/>
        </p:nvSpPr>
        <p:spPr>
          <a:xfrm>
            <a:off x="1666875" y="14978062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클래식 · 지적</a:t>
            </a:r>
            <a:endParaRPr lang="en-US" sz="825" dirty="0"/>
          </a:p>
        </p:txBody>
      </p:sp>
      <p:sp>
        <p:nvSpPr>
          <p:cNvPr id="111" name="Shape 105"/>
          <p:cNvSpPr/>
          <p:nvPr/>
        </p:nvSpPr>
        <p:spPr>
          <a:xfrm>
            <a:off x="3676650" y="14016038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12" name="Shape 106"/>
          <p:cNvSpPr/>
          <p:nvPr/>
        </p:nvSpPr>
        <p:spPr>
          <a:xfrm>
            <a:off x="3819525" y="14158913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113" name="Text 107"/>
          <p:cNvSpPr/>
          <p:nvPr/>
        </p:nvSpPr>
        <p:spPr>
          <a:xfrm>
            <a:off x="3967758" y="14249400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밀</a:t>
            </a:r>
            <a:endParaRPr lang="en-US" sz="1950" dirty="0"/>
          </a:p>
        </p:txBody>
      </p:sp>
      <p:sp>
        <p:nvSpPr>
          <p:cNvPr id="114" name="Text 108"/>
          <p:cNvSpPr/>
          <p:nvPr/>
        </p:nvSpPr>
        <p:spPr>
          <a:xfrm>
            <a:off x="3819525" y="14787563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밀푀유</a:t>
            </a:r>
            <a:endParaRPr lang="en-US" sz="1050" dirty="0"/>
          </a:p>
        </p:txBody>
      </p:sp>
      <p:sp>
        <p:nvSpPr>
          <p:cNvPr id="115" name="Text 109"/>
          <p:cNvSpPr/>
          <p:nvPr/>
        </p:nvSpPr>
        <p:spPr>
          <a:xfrm>
            <a:off x="3819525" y="14978062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섬세 · 다층적</a:t>
            </a:r>
            <a:endParaRPr lang="en-US" sz="825" dirty="0"/>
          </a:p>
        </p:txBody>
      </p:sp>
      <p:sp>
        <p:nvSpPr>
          <p:cNvPr id="116" name="Shape 110"/>
          <p:cNvSpPr/>
          <p:nvPr/>
        </p:nvSpPr>
        <p:spPr>
          <a:xfrm>
            <a:off x="1524000" y="15387042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17" name="Shape 111"/>
          <p:cNvSpPr/>
          <p:nvPr/>
        </p:nvSpPr>
        <p:spPr>
          <a:xfrm>
            <a:off x="1666875" y="15529917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118" name="Text 112"/>
          <p:cNvSpPr/>
          <p:nvPr/>
        </p:nvSpPr>
        <p:spPr>
          <a:xfrm>
            <a:off x="1815108" y="15620405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몽</a:t>
            </a:r>
            <a:endParaRPr lang="en-US" sz="1950" dirty="0"/>
          </a:p>
        </p:txBody>
      </p:sp>
      <p:sp>
        <p:nvSpPr>
          <p:cNvPr id="119" name="Text 113"/>
          <p:cNvSpPr/>
          <p:nvPr/>
        </p:nvSpPr>
        <p:spPr>
          <a:xfrm>
            <a:off x="1666875" y="16158567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몽블랑</a:t>
            </a:r>
            <a:endParaRPr lang="en-US" sz="1050" dirty="0"/>
          </a:p>
        </p:txBody>
      </p:sp>
      <p:sp>
        <p:nvSpPr>
          <p:cNvPr id="120" name="Text 114"/>
          <p:cNvSpPr/>
          <p:nvPr/>
        </p:nvSpPr>
        <p:spPr>
          <a:xfrm>
            <a:off x="1666875" y="16349067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우아 · 차분</a:t>
            </a:r>
            <a:endParaRPr lang="en-US" sz="825" dirty="0"/>
          </a:p>
        </p:txBody>
      </p:sp>
      <p:sp>
        <p:nvSpPr>
          <p:cNvPr id="121" name="Shape 115"/>
          <p:cNvSpPr/>
          <p:nvPr/>
        </p:nvSpPr>
        <p:spPr>
          <a:xfrm>
            <a:off x="3676650" y="15387042"/>
            <a:ext cx="2038350" cy="1256705"/>
          </a:xfrm>
          <a:prstGeom prst="roundRect">
            <a:avLst>
              <a:gd name="adj" fmla="val 13643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3819525" y="15529917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123" name="Text 117"/>
          <p:cNvSpPr/>
          <p:nvPr/>
        </p:nvSpPr>
        <p:spPr>
          <a:xfrm>
            <a:off x="3967758" y="15620405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타</a:t>
            </a:r>
            <a:endParaRPr lang="en-US" sz="1950" dirty="0"/>
          </a:p>
        </p:txBody>
      </p:sp>
      <p:sp>
        <p:nvSpPr>
          <p:cNvPr id="124" name="Text 118"/>
          <p:cNvSpPr/>
          <p:nvPr/>
        </p:nvSpPr>
        <p:spPr>
          <a:xfrm>
            <a:off x="3819525" y="16158567"/>
            <a:ext cx="182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타르트</a:t>
            </a:r>
            <a:endParaRPr lang="en-US" sz="1050" dirty="0"/>
          </a:p>
        </p:txBody>
      </p:sp>
      <p:sp>
        <p:nvSpPr>
          <p:cNvPr id="125" name="Text 119"/>
          <p:cNvSpPr/>
          <p:nvPr/>
        </p:nvSpPr>
        <p:spPr>
          <a:xfrm>
            <a:off x="3819525" y="16349067"/>
            <a:ext cx="182880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톡톡 · 새콤한 매력</a:t>
            </a:r>
            <a:endParaRPr lang="en-US" sz="825" dirty="0"/>
          </a:p>
        </p:txBody>
      </p:sp>
      <p:sp>
        <p:nvSpPr>
          <p:cNvPr id="126" name="Shape 120"/>
          <p:cNvSpPr/>
          <p:nvPr/>
        </p:nvSpPr>
        <p:spPr>
          <a:xfrm>
            <a:off x="2981325" y="10458450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127" name="Text 121"/>
          <p:cNvSpPr/>
          <p:nvPr/>
        </p:nvSpPr>
        <p:spPr>
          <a:xfrm>
            <a:off x="7048500" y="3718173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도감</a:t>
            </a:r>
            <a:endParaRPr lang="en-US" sz="1200" dirty="0"/>
          </a:p>
        </p:txBody>
      </p:sp>
      <p:sp>
        <p:nvSpPr>
          <p:cNvPr id="128" name="Text 122"/>
          <p:cNvSpPr/>
          <p:nvPr/>
        </p:nvSpPr>
        <p:spPr>
          <a:xfrm>
            <a:off x="7048500" y="4118223"/>
            <a:ext cx="1059561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남녀 각 10개, 총 20개 케미 캐릭터.</a:t>
            </a:r>
            <a:endParaRPr lang="en-US" sz="5700" dirty="0"/>
          </a:p>
        </p:txBody>
      </p:sp>
      <p:sp>
        <p:nvSpPr>
          <p:cNvPr id="129" name="Text 123"/>
          <p:cNvSpPr/>
          <p:nvPr/>
        </p:nvSpPr>
        <p:spPr>
          <a:xfrm>
            <a:off x="7048500" y="5920234"/>
            <a:ext cx="706374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10:10 회차 확장을 대비한 캐릭터 시스템. 모노그램 + 디저트 메타포.</a:t>
            </a:r>
            <a:endParaRPr lang="en-US" sz="1650" dirty="0"/>
          </a:p>
        </p:txBody>
      </p:sp>
      <p:sp>
        <p:nvSpPr>
          <p:cNvPr id="130" name="Text 124"/>
          <p:cNvSpPr/>
          <p:nvPr/>
        </p:nvSpPr>
        <p:spPr>
          <a:xfrm>
            <a:off x="7124699" y="6549776"/>
            <a:ext cx="7771171" cy="2431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/ 남성 / 여성 / 잘 맞는 필터 칩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2-up 카드 — 내 캐릭터엔 골드 MY 배지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티라미수 · 크루아상 · 까눌레 · 몽블랑 · </a:t>
            </a:r>
            <a:r>
              <a:rPr lang="en-US" sz="1500" dirty="0" smtClean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ko-KR" altLang="en-US" sz="1500" dirty="0" smtClean="0"/>
              <a:t>기본 남녀 </a:t>
            </a:r>
            <a:r>
              <a:rPr lang="en-US" altLang="ko-KR" sz="1500" dirty="0" smtClean="0"/>
              <a:t>10</a:t>
            </a:r>
            <a:r>
              <a:rPr lang="ko-KR" altLang="en-US" sz="1500" dirty="0" smtClean="0"/>
              <a:t>가지 캐릭터 기본 운영 </a:t>
            </a:r>
            <a:r>
              <a:rPr lang="en-US" altLang="ko-KR" sz="1500" dirty="0" smtClean="0"/>
              <a:t>(</a:t>
            </a:r>
            <a:r>
              <a:rPr lang="ko-KR" altLang="en-US" sz="1500" dirty="0" smtClean="0"/>
              <a:t>남자 </a:t>
            </a:r>
            <a:r>
              <a:rPr lang="en-US" altLang="ko-KR" sz="1500" dirty="0" smtClean="0"/>
              <a:t>– </a:t>
            </a:r>
            <a:r>
              <a:rPr lang="ko-KR" altLang="en-US" sz="1500" dirty="0" err="1" smtClean="0"/>
              <a:t>크루아상</a:t>
            </a:r>
            <a:r>
              <a:rPr lang="en-US" altLang="ko-KR" sz="1500" dirty="0" smtClean="0"/>
              <a:t>, </a:t>
            </a:r>
            <a:r>
              <a:rPr lang="ko-KR" altLang="en-US" sz="1500" dirty="0" err="1" smtClean="0"/>
              <a:t>단팥빵</a:t>
            </a:r>
            <a:r>
              <a:rPr lang="en-US" altLang="ko-KR" sz="1500" dirty="0" smtClean="0"/>
              <a:t>, </a:t>
            </a:r>
            <a:r>
              <a:rPr lang="ko-KR" altLang="en-US" sz="1500" dirty="0" err="1" smtClean="0"/>
              <a:t>소금빵</a:t>
            </a:r>
            <a:r>
              <a:rPr lang="en-US" altLang="ko-KR" sz="1500" dirty="0" smtClean="0"/>
              <a:t>, </a:t>
            </a:r>
            <a:r>
              <a:rPr lang="ko-KR" altLang="en-US" sz="1500" dirty="0" err="1" smtClean="0"/>
              <a:t>스콘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초콜릿</a:t>
            </a:r>
            <a:r>
              <a:rPr lang="en-US" altLang="ko-KR" sz="1500" dirty="0" smtClean="0"/>
              <a:t/>
            </a:r>
            <a:br>
              <a:rPr lang="en-US" altLang="ko-KR" sz="1500" dirty="0" smtClean="0"/>
            </a:br>
            <a:r>
              <a:rPr lang="en-US" altLang="ko-KR" sz="1500" dirty="0" smtClean="0"/>
              <a:t>                                                                     </a:t>
            </a:r>
            <a:r>
              <a:rPr lang="ko-KR" altLang="en-US" sz="1500" dirty="0" smtClean="0"/>
              <a:t>여자 </a:t>
            </a:r>
            <a:r>
              <a:rPr lang="en-US" altLang="ko-KR" sz="1500" dirty="0" smtClean="0"/>
              <a:t>-  </a:t>
            </a:r>
            <a:r>
              <a:rPr lang="ko-KR" altLang="en-US" sz="1500" dirty="0" err="1" smtClean="0"/>
              <a:t>티라미수</a:t>
            </a:r>
            <a:r>
              <a:rPr lang="en-US" altLang="ko-KR" sz="1500" dirty="0" smtClean="0"/>
              <a:t>, </a:t>
            </a:r>
            <a:r>
              <a:rPr lang="ko-KR" altLang="en-US" sz="1500" dirty="0" err="1" smtClean="0"/>
              <a:t>피낭시에</a:t>
            </a:r>
            <a:r>
              <a:rPr lang="en-US" altLang="ko-KR" sz="1500" dirty="0" smtClean="0"/>
              <a:t>, </a:t>
            </a:r>
            <a:r>
              <a:rPr lang="ko-KR" altLang="en-US" sz="1500" dirty="0" err="1" smtClean="0"/>
              <a:t>마들렌</a:t>
            </a:r>
            <a:r>
              <a:rPr lang="en-US" altLang="ko-KR" sz="1500" dirty="0" smtClean="0"/>
              <a:t>, </a:t>
            </a:r>
            <a:r>
              <a:rPr lang="ko-KR" altLang="en-US" sz="1500" dirty="0" err="1" smtClean="0"/>
              <a:t>에그타르트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푸딩</a:t>
            </a:r>
            <a:endParaRPr lang="en-US" altLang="ko-KR" sz="1500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6844605"/>
          </a:xfrm>
          <a:prstGeom prst="rect">
            <a:avLst/>
          </a:prstGeom>
          <a:solidFill>
            <a:srgbClr val="8A0214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143000"/>
            <a:ext cx="160896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OVENING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333500" y="1619250"/>
            <a:ext cx="16089630" cy="283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0" kern="0" spc="-5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당일을 위한 5개 상태 화면</a:t>
            </a:r>
            <a:endParaRPr lang="en-US" sz="10500" dirty="0"/>
          </a:p>
        </p:txBody>
      </p:sp>
      <p:sp>
        <p:nvSpPr>
          <p:cNvPr id="5" name="Text 3"/>
          <p:cNvSpPr/>
          <p:nvPr/>
        </p:nvSpPr>
        <p:spPr>
          <a:xfrm>
            <a:off x="1333500" y="4686300"/>
            <a:ext cx="1079182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5DFA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참여자 전용 탭. 신청 전 → 대기 → 투표 → 자리배치 → 매칭 결과.</a:t>
            </a:r>
            <a:endParaRPr lang="en-US" sz="1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296867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오브닝 5개 상태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515356" y="876300"/>
            <a:ext cx="29047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탭, 회차 진행에 따라 모습이 바뀌어요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71575" y="1619250"/>
            <a:ext cx="2914650" cy="5981700"/>
          </a:xfrm>
          <a:prstGeom prst="roundRect">
            <a:avLst>
              <a:gd name="adj" fmla="val 11765"/>
            </a:avLst>
          </a:prstGeom>
          <a:solidFill>
            <a:srgbClr val="0F0A07"/>
          </a:solidFill>
          <a:ln/>
          <a:effectLst>
            <a:outerShdw blurRad="571500" dist="285750" dir="5400000" algn="bl" rotWithShape="0">
              <a:srgbClr val="3A1E14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00275" y="171450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6" name="Shape 4"/>
          <p:cNvSpPr/>
          <p:nvPr/>
        </p:nvSpPr>
        <p:spPr>
          <a:xfrm>
            <a:off x="1247775" y="1695450"/>
            <a:ext cx="2762250" cy="5829300"/>
          </a:xfrm>
          <a:prstGeom prst="roundRect">
            <a:avLst>
              <a:gd name="adj" fmla="val 9655"/>
            </a:avLst>
          </a:prstGeom>
          <a:solidFill>
            <a:srgbClr val="FFF7EC"/>
          </a:solidFill>
          <a:ln/>
        </p:spPr>
      </p:sp>
      <p:sp>
        <p:nvSpPr>
          <p:cNvPr id="7" name="Shape 5"/>
          <p:cNvSpPr/>
          <p:nvPr/>
        </p:nvSpPr>
        <p:spPr>
          <a:xfrm>
            <a:off x="1247775" y="1695450"/>
            <a:ext cx="2762250" cy="582930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8" name="Text 6"/>
          <p:cNvSpPr/>
          <p:nvPr/>
        </p:nvSpPr>
        <p:spPr>
          <a:xfrm>
            <a:off x="1476375" y="1828800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275" y="1852612"/>
            <a:ext cx="161925" cy="104775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825" y="1852612"/>
            <a:ext cx="228600" cy="10477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438275" y="2228850"/>
            <a:ext cx="714077" cy="200025"/>
          </a:xfrm>
          <a:prstGeom prst="roundRect">
            <a:avLst>
              <a:gd name="adj" fmla="val 50000"/>
            </a:avLst>
          </a:prstGeom>
          <a:solidFill>
            <a:srgbClr val="551321"/>
          </a:solidFill>
          <a:ln/>
        </p:spPr>
      </p:sp>
      <p:sp>
        <p:nvSpPr>
          <p:cNvPr id="12" name="Text 8"/>
          <p:cNvSpPr/>
          <p:nvPr/>
        </p:nvSpPr>
        <p:spPr>
          <a:xfrm>
            <a:off x="1533525" y="2266950"/>
            <a:ext cx="59977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OVENING</a:t>
            </a:r>
            <a:endParaRPr lang="en-US" sz="825" dirty="0"/>
          </a:p>
        </p:txBody>
      </p:sp>
      <p:sp>
        <p:nvSpPr>
          <p:cNvPr id="13" name="Text 9"/>
          <p:cNvSpPr/>
          <p:nvPr/>
        </p:nvSpPr>
        <p:spPr>
          <a:xfrm>
            <a:off x="1438275" y="2562225"/>
            <a:ext cx="24574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kern="0" spc="-22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아직 열려 있는 오브닝이 없어요.</a:t>
            </a:r>
            <a:endParaRPr lang="en-US" sz="2250" dirty="0"/>
          </a:p>
        </p:txBody>
      </p:sp>
      <p:sp>
        <p:nvSpPr>
          <p:cNvPr id="14" name="Shape 10"/>
          <p:cNvSpPr/>
          <p:nvPr/>
        </p:nvSpPr>
        <p:spPr>
          <a:xfrm>
            <a:off x="1438275" y="3419475"/>
            <a:ext cx="2381250" cy="2095500"/>
          </a:xfrm>
          <a:prstGeom prst="roundRect">
            <a:avLst>
              <a:gd name="adj" fmla="val 10909"/>
            </a:avLst>
          </a:prstGeom>
          <a:solidFill>
            <a:srgbClr val="FFF9F0"/>
          </a:solidFill>
          <a:ln w="9525">
            <a:solidFill>
              <a:srgbClr val="D9C5AA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2295525" y="3875336"/>
            <a:ext cx="666750" cy="666750"/>
          </a:xfrm>
          <a:prstGeom prst="roundRect">
            <a:avLst>
              <a:gd name="adj" fmla="val 31429"/>
            </a:avLst>
          </a:prstGeom>
          <a:solidFill>
            <a:srgbClr val="7A1F2B">
              <a:alpha val="6000"/>
            </a:srgbClr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0" y="4056311"/>
            <a:ext cx="304800" cy="304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65833" y="4675436"/>
            <a:ext cx="1926134" cy="42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일정에서 참여할 회차를 신청해보세요. 선정되면 오브닝이 열려요.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1438275" y="5781675"/>
            <a:ext cx="23437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오브닝에서는 어떤 일이 일어나나요?</a:t>
            </a:r>
            <a:endParaRPr lang="en-US" sz="1275" dirty="0"/>
          </a:p>
        </p:txBody>
      </p:sp>
      <p:sp>
        <p:nvSpPr>
          <p:cNvPr id="19" name="Shape 14"/>
          <p:cNvSpPr/>
          <p:nvPr/>
        </p:nvSpPr>
        <p:spPr>
          <a:xfrm>
            <a:off x="1438275" y="620077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6286500"/>
            <a:ext cx="171450" cy="171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914525" y="6210300"/>
            <a:ext cx="1981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닉네임 공개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914525" y="6391275"/>
            <a:ext cx="19812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회차 내 익명으로 진행돼요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1438275" y="6657975"/>
            <a:ext cx="23812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24" name="Shape 18"/>
          <p:cNvSpPr/>
          <p:nvPr/>
        </p:nvSpPr>
        <p:spPr>
          <a:xfrm>
            <a:off x="1438275" y="678180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6867525"/>
            <a:ext cx="171450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914525" y="6791325"/>
            <a:ext cx="1981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좌석 안내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914525" y="6972300"/>
            <a:ext cx="19812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자동 자리배치로 자연스러운 첫 만남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438275" y="7239000"/>
            <a:ext cx="23812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29" name="Shape 22"/>
          <p:cNvSpPr/>
          <p:nvPr/>
        </p:nvSpPr>
        <p:spPr>
          <a:xfrm>
            <a:off x="1438275" y="7362825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7448550"/>
            <a:ext cx="171450" cy="1714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914525" y="7372350"/>
            <a:ext cx="1981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첫인상 · 중간 · 최종 선택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1914525" y="7553325"/>
            <a:ext cx="19812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라운드의 케미 투표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1438275" y="7820025"/>
            <a:ext cx="23812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34" name="Shape 26"/>
          <p:cNvSpPr/>
          <p:nvPr/>
        </p:nvSpPr>
        <p:spPr>
          <a:xfrm>
            <a:off x="1438275" y="794385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0" y="8029575"/>
            <a:ext cx="171450" cy="17145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914525" y="7953375"/>
            <a:ext cx="1981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결과 &amp; 케미 리포트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1914525" y="8134350"/>
            <a:ext cx="19812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상호 선택 시 연락처 공개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1438275" y="8629650"/>
            <a:ext cx="238125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39" name="Text 30"/>
          <p:cNvSpPr/>
          <p:nvPr/>
        </p:nvSpPr>
        <p:spPr>
          <a:xfrm>
            <a:off x="2157413" y="8801100"/>
            <a:ext cx="9429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보러가기</a:t>
            </a:r>
            <a:endParaRPr lang="en-US" sz="1275" dirty="0"/>
          </a:p>
        </p:txBody>
      </p:sp>
      <p:sp>
        <p:nvSpPr>
          <p:cNvPr id="40" name="Shape 31"/>
          <p:cNvSpPr/>
          <p:nvPr/>
        </p:nvSpPr>
        <p:spPr>
          <a:xfrm>
            <a:off x="1247775" y="6781800"/>
            <a:ext cx="2762250" cy="742950"/>
          </a:xfrm>
          <a:prstGeom prst="rect">
            <a:avLst/>
          </a:prstGeom>
          <a:solidFill>
            <a:srgbClr val="FFF7EC">
              <a:alpha val="92000"/>
            </a:srgbClr>
          </a:solidFill>
          <a:ln/>
        </p:spPr>
      </p:sp>
      <p:sp>
        <p:nvSpPr>
          <p:cNvPr id="41" name="Shape 32"/>
          <p:cNvSpPr/>
          <p:nvPr/>
        </p:nvSpPr>
        <p:spPr>
          <a:xfrm>
            <a:off x="1247775" y="6781800"/>
            <a:ext cx="276225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9225" y="6886575"/>
            <a:ext cx="209550" cy="20955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1478607" y="7134225"/>
            <a:ext cx="1668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825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1675" y="6886575"/>
            <a:ext cx="209550" cy="20955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985814" y="7134225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</a:t>
            </a:r>
            <a:endParaRPr lang="en-US" sz="825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24125" y="6886575"/>
            <a:ext cx="209550" cy="20955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2450455" y="7134225"/>
            <a:ext cx="43309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</a:t>
            </a:r>
            <a:endParaRPr lang="en-US" sz="825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76575" y="6886575"/>
            <a:ext cx="209550" cy="20955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3045470" y="7134225"/>
            <a:ext cx="3479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오브닝</a:t>
            </a:r>
            <a:endParaRPr lang="en-US" sz="825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29025" y="6886575"/>
            <a:ext cx="209550" cy="20955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3643164" y="7134225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</a:t>
            </a:r>
            <a:endParaRPr lang="en-US" sz="825" dirty="0"/>
          </a:p>
        </p:txBody>
      </p:sp>
      <p:sp>
        <p:nvSpPr>
          <p:cNvPr id="52" name="Shape 38"/>
          <p:cNvSpPr/>
          <p:nvPr/>
        </p:nvSpPr>
        <p:spPr>
          <a:xfrm>
            <a:off x="1990725" y="74009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53" name="Text 39"/>
          <p:cNvSpPr/>
          <p:nvPr/>
        </p:nvSpPr>
        <p:spPr>
          <a:xfrm>
            <a:off x="2346424" y="7734300"/>
            <a:ext cx="56495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b="1" kern="0" spc="83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1</a:t>
            </a:r>
            <a:endParaRPr lang="en-US" sz="825" dirty="0"/>
          </a:p>
        </p:txBody>
      </p:sp>
      <p:sp>
        <p:nvSpPr>
          <p:cNvPr id="54" name="Text 40"/>
          <p:cNvSpPr/>
          <p:nvPr/>
        </p:nvSpPr>
        <p:spPr>
          <a:xfrm>
            <a:off x="2426345" y="7896225"/>
            <a:ext cx="4813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전</a:t>
            </a:r>
            <a:endParaRPr lang="en-US" sz="1050" dirty="0"/>
          </a:p>
        </p:txBody>
      </p:sp>
      <p:sp>
        <p:nvSpPr>
          <p:cNvPr id="55" name="Shape 41"/>
          <p:cNvSpPr/>
          <p:nvPr/>
        </p:nvSpPr>
        <p:spPr>
          <a:xfrm>
            <a:off x="4429125" y="1619250"/>
            <a:ext cx="2914650" cy="5981700"/>
          </a:xfrm>
          <a:prstGeom prst="roundRect">
            <a:avLst>
              <a:gd name="adj" fmla="val 11765"/>
            </a:avLst>
          </a:prstGeom>
          <a:solidFill>
            <a:srgbClr val="0F0A07"/>
          </a:solidFill>
          <a:ln/>
          <a:effectLst>
            <a:outerShdw blurRad="571500" dist="285750" dir="5400000" algn="bl" rotWithShape="0">
              <a:srgbClr val="3A1E14">
                <a:alpha val="20000"/>
              </a:srgbClr>
            </a:outerShdw>
          </a:effectLst>
        </p:spPr>
      </p:sp>
      <p:sp>
        <p:nvSpPr>
          <p:cNvPr id="56" name="Shape 42"/>
          <p:cNvSpPr/>
          <p:nvPr/>
        </p:nvSpPr>
        <p:spPr>
          <a:xfrm>
            <a:off x="5457825" y="171450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57" name="Shape 43"/>
          <p:cNvSpPr/>
          <p:nvPr/>
        </p:nvSpPr>
        <p:spPr>
          <a:xfrm>
            <a:off x="4505325" y="1695450"/>
            <a:ext cx="2762250" cy="5829300"/>
          </a:xfrm>
          <a:prstGeom prst="roundRect">
            <a:avLst>
              <a:gd name="adj" fmla="val 9655"/>
            </a:avLst>
          </a:prstGeom>
          <a:solidFill>
            <a:srgbClr val="FFF7EC"/>
          </a:solidFill>
          <a:ln/>
        </p:spPr>
      </p:sp>
      <p:sp>
        <p:nvSpPr>
          <p:cNvPr id="58" name="Shape 44"/>
          <p:cNvSpPr/>
          <p:nvPr/>
        </p:nvSpPr>
        <p:spPr>
          <a:xfrm>
            <a:off x="4505325" y="1695450"/>
            <a:ext cx="2762250" cy="582930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59" name="Text 45"/>
          <p:cNvSpPr/>
          <p:nvPr/>
        </p:nvSpPr>
        <p:spPr>
          <a:xfrm>
            <a:off x="4733925" y="1828800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60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1852612"/>
            <a:ext cx="161925" cy="104775"/>
          </a:xfrm>
          <a:prstGeom prst="rect">
            <a:avLst/>
          </a:prstGeom>
        </p:spPr>
      </p:pic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375" y="1852612"/>
            <a:ext cx="228600" cy="104775"/>
          </a:xfrm>
          <a:prstGeom prst="rect">
            <a:avLst/>
          </a:prstGeom>
        </p:spPr>
      </p:pic>
      <p:sp>
        <p:nvSpPr>
          <p:cNvPr id="62" name="Shape 46"/>
          <p:cNvSpPr/>
          <p:nvPr/>
        </p:nvSpPr>
        <p:spPr>
          <a:xfrm>
            <a:off x="4695825" y="2228850"/>
            <a:ext cx="714077" cy="200025"/>
          </a:xfrm>
          <a:prstGeom prst="roundRect">
            <a:avLst>
              <a:gd name="adj" fmla="val 50000"/>
            </a:avLst>
          </a:prstGeom>
          <a:solidFill>
            <a:srgbClr val="551321"/>
          </a:solidFill>
          <a:ln/>
        </p:spPr>
      </p:sp>
      <p:sp>
        <p:nvSpPr>
          <p:cNvPr id="63" name="Text 47"/>
          <p:cNvSpPr/>
          <p:nvPr/>
        </p:nvSpPr>
        <p:spPr>
          <a:xfrm>
            <a:off x="4791075" y="2266950"/>
            <a:ext cx="59977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OVENING</a:t>
            </a:r>
            <a:endParaRPr lang="en-US" sz="825" dirty="0"/>
          </a:p>
        </p:txBody>
      </p:sp>
      <p:sp>
        <p:nvSpPr>
          <p:cNvPr id="64" name="Text 48"/>
          <p:cNvSpPr/>
          <p:nvPr/>
        </p:nvSpPr>
        <p:spPr>
          <a:xfrm>
            <a:off x="5486102" y="2271713"/>
            <a:ext cx="2451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D-3</a:t>
            </a:r>
            <a:endParaRPr lang="en-US" sz="825" dirty="0"/>
          </a:p>
        </p:txBody>
      </p:sp>
      <p:sp>
        <p:nvSpPr>
          <p:cNvPr id="65" name="Text 49"/>
          <p:cNvSpPr/>
          <p:nvPr/>
        </p:nvSpPr>
        <p:spPr>
          <a:xfrm>
            <a:off x="4695825" y="2562225"/>
            <a:ext cx="24574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kern="0" spc="-22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곧 오브닝이 열려요.</a:t>
            </a:r>
            <a:endParaRPr lang="en-US" sz="2250" dirty="0"/>
          </a:p>
        </p:txBody>
      </p:sp>
      <p:sp>
        <p:nvSpPr>
          <p:cNvPr id="66" name="Shape 50"/>
          <p:cNvSpPr/>
          <p:nvPr/>
        </p:nvSpPr>
        <p:spPr>
          <a:xfrm>
            <a:off x="4695825" y="3419475"/>
            <a:ext cx="2381250" cy="1123950"/>
          </a:xfrm>
          <a:prstGeom prst="roundRect">
            <a:avLst>
              <a:gd name="adj" fmla="val 22034"/>
            </a:avLst>
          </a:prstGeom>
          <a:solidFill>
            <a:srgbClr val="551321"/>
          </a:solidFill>
          <a:ln/>
        </p:spPr>
      </p:sp>
      <p:sp>
        <p:nvSpPr>
          <p:cNvPr id="67" name="Shape 51"/>
          <p:cNvSpPr/>
          <p:nvPr/>
        </p:nvSpPr>
        <p:spPr>
          <a:xfrm>
            <a:off x="6029325" y="3133725"/>
            <a:ext cx="1333500" cy="1333500"/>
          </a:xfrm>
          <a:prstGeom prst="ellipse">
            <a:avLst/>
          </a:prstGeom>
          <a:ln w="9525">
            <a:solidFill>
              <a:srgbClr val="F5DFA8">
                <a:alpha val="25000"/>
              </a:srgbClr>
            </a:solidFill>
            <a:prstDash val="solid"/>
          </a:ln>
        </p:spPr>
      </p:sp>
      <p:sp>
        <p:nvSpPr>
          <p:cNvPr id="68" name="Text 52"/>
          <p:cNvSpPr/>
          <p:nvPr/>
        </p:nvSpPr>
        <p:spPr>
          <a:xfrm>
            <a:off x="4886325" y="3609975"/>
            <a:ext cx="20764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kern="0" spc="75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8기 · 나의 캐릭터 닉네임</a:t>
            </a:r>
            <a:endParaRPr lang="en-US" sz="750" dirty="0"/>
          </a:p>
        </p:txBody>
      </p:sp>
      <p:sp>
        <p:nvSpPr>
          <p:cNvPr id="69" name="Shape 53"/>
          <p:cNvSpPr/>
          <p:nvPr/>
        </p:nvSpPr>
        <p:spPr>
          <a:xfrm>
            <a:off x="4886325" y="3819525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DFA8">
                <a:alpha val="35000"/>
              </a:srgbClr>
            </a:solidFill>
            <a:prstDash val="solid"/>
          </a:ln>
        </p:spPr>
      </p:sp>
      <p:sp>
        <p:nvSpPr>
          <p:cNvPr id="70" name="Text 54"/>
          <p:cNvSpPr/>
          <p:nvPr/>
        </p:nvSpPr>
        <p:spPr>
          <a:xfrm>
            <a:off x="5075337" y="3938588"/>
            <a:ext cx="2315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F5D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950" dirty="0"/>
          </a:p>
        </p:txBody>
      </p:sp>
      <p:sp>
        <p:nvSpPr>
          <p:cNvPr id="71" name="Text 55"/>
          <p:cNvSpPr/>
          <p:nvPr/>
        </p:nvSpPr>
        <p:spPr>
          <a:xfrm>
            <a:off x="5553075" y="3876675"/>
            <a:ext cx="10961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kern="0" spc="-2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티라미수</a:t>
            </a:r>
            <a:endParaRPr lang="en-US" sz="2100" dirty="0"/>
          </a:p>
        </p:txBody>
      </p:sp>
      <p:sp>
        <p:nvSpPr>
          <p:cNvPr id="72" name="Text 56"/>
          <p:cNvSpPr/>
          <p:nvPr/>
        </p:nvSpPr>
        <p:spPr>
          <a:xfrm>
            <a:off x="5553075" y="4171950"/>
            <a:ext cx="109611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5DFA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오늘만의 이름이에요</a:t>
            </a:r>
            <a:endParaRPr lang="en-US" sz="825" dirty="0"/>
          </a:p>
        </p:txBody>
      </p:sp>
      <p:sp>
        <p:nvSpPr>
          <p:cNvPr id="73" name="Text 57"/>
          <p:cNvSpPr/>
          <p:nvPr/>
        </p:nvSpPr>
        <p:spPr>
          <a:xfrm>
            <a:off x="4695825" y="4810125"/>
            <a:ext cx="6652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당일 안내</a:t>
            </a:r>
            <a:endParaRPr lang="en-US" sz="1275" dirty="0"/>
          </a:p>
        </p:txBody>
      </p:sp>
      <p:sp>
        <p:nvSpPr>
          <p:cNvPr id="74" name="Shape 58"/>
          <p:cNvSpPr/>
          <p:nvPr/>
        </p:nvSpPr>
        <p:spPr>
          <a:xfrm>
            <a:off x="4695825" y="5114925"/>
            <a:ext cx="2381250" cy="2295525"/>
          </a:xfrm>
          <a:prstGeom prst="roundRect">
            <a:avLst>
              <a:gd name="adj" fmla="val 9129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pic>
        <p:nvPicPr>
          <p:cNvPr id="75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76800" y="5372100"/>
            <a:ext cx="152400" cy="152400"/>
          </a:xfrm>
          <a:prstGeom prst="rect">
            <a:avLst/>
          </a:prstGeom>
        </p:spPr>
      </p:pic>
      <p:sp>
        <p:nvSpPr>
          <p:cNvPr id="76" name="Text 59"/>
          <p:cNvSpPr/>
          <p:nvPr/>
        </p:nvSpPr>
        <p:spPr>
          <a:xfrm>
            <a:off x="5124450" y="5376863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회차</a:t>
            </a:r>
            <a:endParaRPr lang="en-US" sz="975" dirty="0"/>
          </a:p>
        </p:txBody>
      </p:sp>
      <p:sp>
        <p:nvSpPr>
          <p:cNvPr id="77" name="Text 60"/>
          <p:cNvSpPr/>
          <p:nvPr/>
        </p:nvSpPr>
        <p:spPr>
          <a:xfrm>
            <a:off x="5753100" y="5372100"/>
            <a:ext cx="11139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케미스트리오븐 8기</a:t>
            </a:r>
            <a:endParaRPr lang="en-US" sz="1050" dirty="0"/>
          </a:p>
        </p:txBody>
      </p:sp>
      <p:sp>
        <p:nvSpPr>
          <p:cNvPr id="78" name="Shape 61"/>
          <p:cNvSpPr/>
          <p:nvPr/>
        </p:nvSpPr>
        <p:spPr>
          <a:xfrm>
            <a:off x="4876800" y="5638800"/>
            <a:ext cx="201930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79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76800" y="5838825"/>
            <a:ext cx="118616" cy="152400"/>
          </a:xfrm>
          <a:prstGeom prst="rect">
            <a:avLst/>
          </a:prstGeom>
        </p:spPr>
      </p:pic>
      <p:sp>
        <p:nvSpPr>
          <p:cNvPr id="80" name="Text 62"/>
          <p:cNvSpPr/>
          <p:nvPr/>
        </p:nvSpPr>
        <p:spPr>
          <a:xfrm>
            <a:off x="5090666" y="5843588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일시</a:t>
            </a:r>
            <a:endParaRPr lang="en-US" sz="975" dirty="0"/>
          </a:p>
        </p:txBody>
      </p:sp>
      <p:sp>
        <p:nvSpPr>
          <p:cNvPr id="81" name="Text 63"/>
          <p:cNvSpPr/>
          <p:nvPr/>
        </p:nvSpPr>
        <p:spPr>
          <a:xfrm>
            <a:off x="5719316" y="5762625"/>
            <a:ext cx="125298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6. 14 (토) 오후 2:00</a:t>
            </a:r>
            <a:endParaRPr lang="en-US" sz="1050" dirty="0"/>
          </a:p>
        </p:txBody>
      </p:sp>
      <p:sp>
        <p:nvSpPr>
          <p:cNvPr id="82" name="Shape 64"/>
          <p:cNvSpPr/>
          <p:nvPr/>
        </p:nvSpPr>
        <p:spPr>
          <a:xfrm>
            <a:off x="4876800" y="6181725"/>
            <a:ext cx="201930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83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76800" y="6381750"/>
            <a:ext cx="139005" cy="152400"/>
          </a:xfrm>
          <a:prstGeom prst="rect">
            <a:avLst/>
          </a:prstGeom>
        </p:spPr>
      </p:pic>
      <p:sp>
        <p:nvSpPr>
          <p:cNvPr id="84" name="Text 65"/>
          <p:cNvSpPr/>
          <p:nvPr/>
        </p:nvSpPr>
        <p:spPr>
          <a:xfrm>
            <a:off x="5111055" y="6386513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장소</a:t>
            </a:r>
            <a:endParaRPr lang="en-US" sz="975" dirty="0"/>
          </a:p>
        </p:txBody>
      </p:sp>
      <p:sp>
        <p:nvSpPr>
          <p:cNvPr id="85" name="Text 66"/>
          <p:cNvSpPr/>
          <p:nvPr/>
        </p:nvSpPr>
        <p:spPr>
          <a:xfrm>
            <a:off x="5739705" y="6305550"/>
            <a:ext cx="12325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성수 베이킹 스튜디오 1F</a:t>
            </a:r>
            <a:endParaRPr lang="en-US" sz="1050" dirty="0"/>
          </a:p>
        </p:txBody>
      </p:sp>
      <p:sp>
        <p:nvSpPr>
          <p:cNvPr id="86" name="Shape 67"/>
          <p:cNvSpPr/>
          <p:nvPr/>
        </p:nvSpPr>
        <p:spPr>
          <a:xfrm>
            <a:off x="4876800" y="6724650"/>
            <a:ext cx="201930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87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76800" y="6924675"/>
            <a:ext cx="125909" cy="152400"/>
          </a:xfrm>
          <a:prstGeom prst="rect">
            <a:avLst/>
          </a:prstGeom>
        </p:spPr>
      </p:pic>
      <p:sp>
        <p:nvSpPr>
          <p:cNvPr id="88" name="Text 68"/>
          <p:cNvSpPr/>
          <p:nvPr/>
        </p:nvSpPr>
        <p:spPr>
          <a:xfrm>
            <a:off x="5097959" y="6929438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입장</a:t>
            </a:r>
            <a:endParaRPr lang="en-US" sz="975" dirty="0"/>
          </a:p>
        </p:txBody>
      </p:sp>
      <p:sp>
        <p:nvSpPr>
          <p:cNvPr id="89" name="Text 69"/>
          <p:cNvSpPr/>
          <p:nvPr/>
        </p:nvSpPr>
        <p:spPr>
          <a:xfrm>
            <a:off x="5726609" y="6848475"/>
            <a:ext cx="12456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13:40 — 13:55 사이 도착</a:t>
            </a:r>
            <a:endParaRPr lang="en-US" sz="1050" dirty="0"/>
          </a:p>
        </p:txBody>
      </p:sp>
      <p:sp>
        <p:nvSpPr>
          <p:cNvPr id="90" name="Text 70"/>
          <p:cNvSpPr/>
          <p:nvPr/>
        </p:nvSpPr>
        <p:spPr>
          <a:xfrm>
            <a:off x="4695825" y="7677150"/>
            <a:ext cx="88344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준비물 · 안내</a:t>
            </a:r>
            <a:endParaRPr lang="en-US" sz="1275" dirty="0"/>
          </a:p>
        </p:txBody>
      </p:sp>
      <p:sp>
        <p:nvSpPr>
          <p:cNvPr id="91" name="Shape 71"/>
          <p:cNvSpPr/>
          <p:nvPr/>
        </p:nvSpPr>
        <p:spPr>
          <a:xfrm>
            <a:off x="4695825" y="7981950"/>
            <a:ext cx="2381250" cy="1712119"/>
          </a:xfrm>
          <a:prstGeom prst="roundRect">
            <a:avLst>
              <a:gd name="adj" fmla="val 12239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92" name="Text 72"/>
          <p:cNvSpPr/>
          <p:nvPr/>
        </p:nvSpPr>
        <p:spPr>
          <a:xfrm>
            <a:off x="4876800" y="8162925"/>
            <a:ext cx="2095500" cy="91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0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편하게 음식을 다룰 수 있는 복장 · 베이킹은 모두 현장에서 진행돼요 · 알레르기 / 음료 선호는 신청 정보에서 다시 확인해주세요</a:t>
            </a:r>
            <a:endParaRPr lang="en-US" sz="1013" dirty="0"/>
          </a:p>
        </p:txBody>
      </p:sp>
      <p:sp>
        <p:nvSpPr>
          <p:cNvPr id="93" name="Shape 73"/>
          <p:cNvSpPr/>
          <p:nvPr/>
        </p:nvSpPr>
        <p:spPr>
          <a:xfrm>
            <a:off x="4876800" y="9151144"/>
            <a:ext cx="1029891" cy="361950"/>
          </a:xfrm>
          <a:prstGeom prst="roundRect">
            <a:avLst>
              <a:gd name="adj" fmla="val 31579"/>
            </a:avLst>
          </a:prstGeom>
          <a:solidFill>
            <a:srgbClr val="9D0E22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94" name="Text 74"/>
          <p:cNvSpPr/>
          <p:nvPr/>
        </p:nvSpPr>
        <p:spPr>
          <a:xfrm>
            <a:off x="4981575" y="9255919"/>
            <a:ext cx="8203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b="1" kern="0" spc="-1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 정보 보기</a:t>
            </a:r>
            <a:endParaRPr lang="en-US" sz="1050" dirty="0"/>
          </a:p>
        </p:txBody>
      </p:sp>
      <p:sp>
        <p:nvSpPr>
          <p:cNvPr id="95" name="Shape 75"/>
          <p:cNvSpPr/>
          <p:nvPr/>
        </p:nvSpPr>
        <p:spPr>
          <a:xfrm>
            <a:off x="5982891" y="9151144"/>
            <a:ext cx="752773" cy="361950"/>
          </a:xfrm>
          <a:prstGeom prst="roundRect">
            <a:avLst>
              <a:gd name="adj" fmla="val 31579"/>
            </a:avLst>
          </a:prstGeom>
          <a:solidFill>
            <a:srgbClr val="9D0E22"/>
          </a:solidFill>
          <a:ln/>
        </p:spPr>
      </p:sp>
      <p:sp>
        <p:nvSpPr>
          <p:cNvPr id="96" name="Text 76"/>
          <p:cNvSpPr/>
          <p:nvPr/>
        </p:nvSpPr>
        <p:spPr>
          <a:xfrm>
            <a:off x="6078141" y="9255919"/>
            <a:ext cx="5622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b="1" kern="0" spc="-1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오시는 길</a:t>
            </a:r>
            <a:endParaRPr lang="en-US" sz="1050" dirty="0"/>
          </a:p>
        </p:txBody>
      </p:sp>
      <p:sp>
        <p:nvSpPr>
          <p:cNvPr id="97" name="Text 77"/>
          <p:cNvSpPr/>
          <p:nvPr/>
        </p:nvSpPr>
        <p:spPr>
          <a:xfrm>
            <a:off x="4695825" y="9960769"/>
            <a:ext cx="6652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흐름</a:t>
            </a:r>
            <a:endParaRPr lang="en-US" sz="1275" dirty="0"/>
          </a:p>
        </p:txBody>
      </p:sp>
      <p:sp>
        <p:nvSpPr>
          <p:cNvPr id="98" name="Text 78"/>
          <p:cNvSpPr/>
          <p:nvPr/>
        </p:nvSpPr>
        <p:spPr>
          <a:xfrm>
            <a:off x="6586389" y="10008394"/>
            <a:ext cx="56688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보기 ›</a:t>
            </a:r>
            <a:endParaRPr lang="en-US" sz="900" dirty="0"/>
          </a:p>
        </p:txBody>
      </p:sp>
      <p:sp>
        <p:nvSpPr>
          <p:cNvPr id="99" name="Shape 79"/>
          <p:cNvSpPr/>
          <p:nvPr/>
        </p:nvSpPr>
        <p:spPr>
          <a:xfrm>
            <a:off x="4695825" y="10265569"/>
            <a:ext cx="955774" cy="381000"/>
          </a:xfrm>
          <a:prstGeom prst="roundRect">
            <a:avLst>
              <a:gd name="adj" fmla="val 35000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00" name="Shape 80"/>
          <p:cNvSpPr/>
          <p:nvPr/>
        </p:nvSpPr>
        <p:spPr>
          <a:xfrm>
            <a:off x="4838700" y="10370344"/>
            <a:ext cx="171450" cy="171450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01" name="Text 81"/>
          <p:cNvSpPr/>
          <p:nvPr/>
        </p:nvSpPr>
        <p:spPr>
          <a:xfrm>
            <a:off x="4800600" y="10370344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750" dirty="0"/>
          </a:p>
        </p:txBody>
      </p:sp>
      <p:sp>
        <p:nvSpPr>
          <p:cNvPr id="102" name="Text 82"/>
          <p:cNvSpPr/>
          <p:nvPr/>
        </p:nvSpPr>
        <p:spPr>
          <a:xfrm>
            <a:off x="5086350" y="10389394"/>
            <a:ext cx="4985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입장 안내</a:t>
            </a:r>
            <a:endParaRPr lang="en-US" sz="900" dirty="0"/>
          </a:p>
        </p:txBody>
      </p:sp>
      <p:sp>
        <p:nvSpPr>
          <p:cNvPr id="103" name="Shape 83"/>
          <p:cNvSpPr/>
          <p:nvPr/>
        </p:nvSpPr>
        <p:spPr>
          <a:xfrm>
            <a:off x="5727799" y="10265569"/>
            <a:ext cx="829866" cy="381000"/>
          </a:xfrm>
          <a:prstGeom prst="roundRect">
            <a:avLst>
              <a:gd name="adj" fmla="val 35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104" name="Shape 84"/>
          <p:cNvSpPr/>
          <p:nvPr/>
        </p:nvSpPr>
        <p:spPr>
          <a:xfrm>
            <a:off x="5870674" y="10370344"/>
            <a:ext cx="171450" cy="171450"/>
          </a:xfrm>
          <a:prstGeom prst="ellipse">
            <a:avLst/>
          </a:prstGeom>
          <a:solidFill>
            <a:srgbClr val="F5DFA8"/>
          </a:solidFill>
          <a:ln/>
        </p:spPr>
      </p:sp>
      <p:sp>
        <p:nvSpPr>
          <p:cNvPr id="105" name="Text 85"/>
          <p:cNvSpPr/>
          <p:nvPr/>
        </p:nvSpPr>
        <p:spPr>
          <a:xfrm>
            <a:off x="5832574" y="10370344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750" dirty="0"/>
          </a:p>
        </p:txBody>
      </p:sp>
      <p:sp>
        <p:nvSpPr>
          <p:cNvPr id="106" name="Text 86"/>
          <p:cNvSpPr/>
          <p:nvPr/>
        </p:nvSpPr>
        <p:spPr>
          <a:xfrm>
            <a:off x="6118324" y="10389394"/>
            <a:ext cx="372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첫인상</a:t>
            </a:r>
            <a:endParaRPr lang="en-US" sz="900" dirty="0"/>
          </a:p>
        </p:txBody>
      </p:sp>
      <p:sp>
        <p:nvSpPr>
          <p:cNvPr id="107" name="Shape 87"/>
          <p:cNvSpPr/>
          <p:nvPr/>
        </p:nvSpPr>
        <p:spPr>
          <a:xfrm>
            <a:off x="6633865" y="10265569"/>
            <a:ext cx="829866" cy="3810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08" name="Shape 88"/>
          <p:cNvSpPr/>
          <p:nvPr/>
        </p:nvSpPr>
        <p:spPr>
          <a:xfrm>
            <a:off x="6776740" y="10370344"/>
            <a:ext cx="171450" cy="171450"/>
          </a:xfrm>
          <a:prstGeom prst="ellipse">
            <a:avLst/>
          </a:prstGeom>
          <a:solidFill>
            <a:srgbClr val="EFE2CE"/>
          </a:solidFill>
          <a:ln/>
        </p:spPr>
      </p:sp>
      <p:sp>
        <p:nvSpPr>
          <p:cNvPr id="109" name="Text 89"/>
          <p:cNvSpPr/>
          <p:nvPr/>
        </p:nvSpPr>
        <p:spPr>
          <a:xfrm>
            <a:off x="6738640" y="10370344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750" dirty="0"/>
          </a:p>
        </p:txBody>
      </p:sp>
      <p:sp>
        <p:nvSpPr>
          <p:cNvPr id="110" name="Text 90"/>
          <p:cNvSpPr/>
          <p:nvPr/>
        </p:nvSpPr>
        <p:spPr>
          <a:xfrm>
            <a:off x="7024390" y="10389394"/>
            <a:ext cx="372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베이킹</a:t>
            </a:r>
            <a:endParaRPr lang="en-US" sz="900" dirty="0"/>
          </a:p>
        </p:txBody>
      </p:sp>
      <p:sp>
        <p:nvSpPr>
          <p:cNvPr id="111" name="Shape 91"/>
          <p:cNvSpPr/>
          <p:nvPr/>
        </p:nvSpPr>
        <p:spPr>
          <a:xfrm>
            <a:off x="7539930" y="10265569"/>
            <a:ext cx="955774" cy="3810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12" name="Shape 92"/>
          <p:cNvSpPr/>
          <p:nvPr/>
        </p:nvSpPr>
        <p:spPr>
          <a:xfrm>
            <a:off x="7682805" y="10370344"/>
            <a:ext cx="171450" cy="171450"/>
          </a:xfrm>
          <a:prstGeom prst="ellipse">
            <a:avLst/>
          </a:prstGeom>
          <a:solidFill>
            <a:srgbClr val="EFE2CE"/>
          </a:solidFill>
          <a:ln/>
        </p:spPr>
      </p:sp>
      <p:sp>
        <p:nvSpPr>
          <p:cNvPr id="113" name="Text 93"/>
          <p:cNvSpPr/>
          <p:nvPr/>
        </p:nvSpPr>
        <p:spPr>
          <a:xfrm>
            <a:off x="7644705" y="10370344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750" dirty="0"/>
          </a:p>
        </p:txBody>
      </p:sp>
      <p:sp>
        <p:nvSpPr>
          <p:cNvPr id="114" name="Text 94"/>
          <p:cNvSpPr/>
          <p:nvPr/>
        </p:nvSpPr>
        <p:spPr>
          <a:xfrm>
            <a:off x="7930455" y="10389394"/>
            <a:ext cx="4985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 선택</a:t>
            </a:r>
            <a:endParaRPr lang="en-US" sz="900" dirty="0"/>
          </a:p>
        </p:txBody>
      </p:sp>
      <p:sp>
        <p:nvSpPr>
          <p:cNvPr id="115" name="Shape 95"/>
          <p:cNvSpPr/>
          <p:nvPr/>
        </p:nvSpPr>
        <p:spPr>
          <a:xfrm>
            <a:off x="8571905" y="10265569"/>
            <a:ext cx="955774" cy="3810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16" name="Shape 96"/>
          <p:cNvSpPr/>
          <p:nvPr/>
        </p:nvSpPr>
        <p:spPr>
          <a:xfrm>
            <a:off x="8714780" y="10370344"/>
            <a:ext cx="171450" cy="171450"/>
          </a:xfrm>
          <a:prstGeom prst="ellipse">
            <a:avLst/>
          </a:prstGeom>
          <a:solidFill>
            <a:srgbClr val="EFE2CE"/>
          </a:solidFill>
          <a:ln/>
        </p:spPr>
      </p:sp>
      <p:sp>
        <p:nvSpPr>
          <p:cNvPr id="117" name="Text 97"/>
          <p:cNvSpPr/>
          <p:nvPr/>
        </p:nvSpPr>
        <p:spPr>
          <a:xfrm>
            <a:off x="8676680" y="10370344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750" dirty="0"/>
          </a:p>
        </p:txBody>
      </p:sp>
      <p:sp>
        <p:nvSpPr>
          <p:cNvPr id="118" name="Text 98"/>
          <p:cNvSpPr/>
          <p:nvPr/>
        </p:nvSpPr>
        <p:spPr>
          <a:xfrm>
            <a:off x="8962430" y="10389394"/>
            <a:ext cx="4985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자리 이동</a:t>
            </a:r>
            <a:endParaRPr lang="en-US" sz="900" dirty="0"/>
          </a:p>
        </p:txBody>
      </p:sp>
      <p:sp>
        <p:nvSpPr>
          <p:cNvPr id="119" name="Shape 99"/>
          <p:cNvSpPr/>
          <p:nvPr/>
        </p:nvSpPr>
        <p:spPr>
          <a:xfrm>
            <a:off x="9603879" y="10265569"/>
            <a:ext cx="955774" cy="3810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20" name="Shape 100"/>
          <p:cNvSpPr/>
          <p:nvPr/>
        </p:nvSpPr>
        <p:spPr>
          <a:xfrm>
            <a:off x="9746754" y="10370344"/>
            <a:ext cx="171450" cy="171450"/>
          </a:xfrm>
          <a:prstGeom prst="ellipse">
            <a:avLst/>
          </a:prstGeom>
          <a:solidFill>
            <a:srgbClr val="EFE2CE"/>
          </a:solidFill>
          <a:ln/>
        </p:spPr>
      </p:sp>
      <p:sp>
        <p:nvSpPr>
          <p:cNvPr id="121" name="Text 101"/>
          <p:cNvSpPr/>
          <p:nvPr/>
        </p:nvSpPr>
        <p:spPr>
          <a:xfrm>
            <a:off x="9708654" y="10370344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750" dirty="0"/>
          </a:p>
        </p:txBody>
      </p:sp>
      <p:sp>
        <p:nvSpPr>
          <p:cNvPr id="122" name="Text 102"/>
          <p:cNvSpPr/>
          <p:nvPr/>
        </p:nvSpPr>
        <p:spPr>
          <a:xfrm>
            <a:off x="9994404" y="10389394"/>
            <a:ext cx="4985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선택</a:t>
            </a:r>
            <a:endParaRPr lang="en-US" sz="900" dirty="0"/>
          </a:p>
        </p:txBody>
      </p:sp>
      <p:sp>
        <p:nvSpPr>
          <p:cNvPr id="123" name="Shape 103"/>
          <p:cNvSpPr/>
          <p:nvPr/>
        </p:nvSpPr>
        <p:spPr>
          <a:xfrm>
            <a:off x="10635853" y="10265569"/>
            <a:ext cx="955774" cy="3810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24" name="Shape 104"/>
          <p:cNvSpPr/>
          <p:nvPr/>
        </p:nvSpPr>
        <p:spPr>
          <a:xfrm>
            <a:off x="10778728" y="10370344"/>
            <a:ext cx="171450" cy="171450"/>
          </a:xfrm>
          <a:prstGeom prst="ellipse">
            <a:avLst/>
          </a:prstGeom>
          <a:solidFill>
            <a:srgbClr val="EFE2CE"/>
          </a:solidFill>
          <a:ln/>
        </p:spPr>
      </p:sp>
      <p:sp>
        <p:nvSpPr>
          <p:cNvPr id="125" name="Text 105"/>
          <p:cNvSpPr/>
          <p:nvPr/>
        </p:nvSpPr>
        <p:spPr>
          <a:xfrm>
            <a:off x="10740628" y="10370344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750" dirty="0"/>
          </a:p>
        </p:txBody>
      </p:sp>
      <p:sp>
        <p:nvSpPr>
          <p:cNvPr id="126" name="Text 106"/>
          <p:cNvSpPr/>
          <p:nvPr/>
        </p:nvSpPr>
        <p:spPr>
          <a:xfrm>
            <a:off x="11026378" y="10389394"/>
            <a:ext cx="4985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결과</a:t>
            </a:r>
            <a:endParaRPr lang="en-US" sz="900" dirty="0"/>
          </a:p>
        </p:txBody>
      </p:sp>
      <p:sp>
        <p:nvSpPr>
          <p:cNvPr id="127" name="Shape 107"/>
          <p:cNvSpPr/>
          <p:nvPr/>
        </p:nvSpPr>
        <p:spPr>
          <a:xfrm>
            <a:off x="4505325" y="6781800"/>
            <a:ext cx="2762250" cy="742950"/>
          </a:xfrm>
          <a:prstGeom prst="rect">
            <a:avLst/>
          </a:prstGeom>
          <a:solidFill>
            <a:srgbClr val="FFF7EC">
              <a:alpha val="92000"/>
            </a:srgbClr>
          </a:solidFill>
          <a:ln/>
        </p:spPr>
      </p:sp>
      <p:sp>
        <p:nvSpPr>
          <p:cNvPr id="128" name="Shape 108"/>
          <p:cNvSpPr/>
          <p:nvPr/>
        </p:nvSpPr>
        <p:spPr>
          <a:xfrm>
            <a:off x="4505325" y="6781800"/>
            <a:ext cx="276225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129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6775" y="6886575"/>
            <a:ext cx="209550" cy="209550"/>
          </a:xfrm>
          <a:prstGeom prst="rect">
            <a:avLst/>
          </a:prstGeom>
        </p:spPr>
      </p:pic>
      <p:sp>
        <p:nvSpPr>
          <p:cNvPr id="130" name="Text 109"/>
          <p:cNvSpPr/>
          <p:nvPr/>
        </p:nvSpPr>
        <p:spPr>
          <a:xfrm>
            <a:off x="4736157" y="7134225"/>
            <a:ext cx="1668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825" dirty="0"/>
          </a:p>
        </p:txBody>
      </p:sp>
      <p:pic>
        <p:nvPicPr>
          <p:cNvPr id="13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29225" y="6886575"/>
            <a:ext cx="209550" cy="209550"/>
          </a:xfrm>
          <a:prstGeom prst="rect">
            <a:avLst/>
          </a:prstGeom>
        </p:spPr>
      </p:pic>
      <p:sp>
        <p:nvSpPr>
          <p:cNvPr id="132" name="Text 110"/>
          <p:cNvSpPr/>
          <p:nvPr/>
        </p:nvSpPr>
        <p:spPr>
          <a:xfrm>
            <a:off x="5243364" y="7134225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</a:t>
            </a:r>
            <a:endParaRPr lang="en-US" sz="825" dirty="0"/>
          </a:p>
        </p:txBody>
      </p:sp>
      <p:pic>
        <p:nvPicPr>
          <p:cNvPr id="133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81675" y="6886575"/>
            <a:ext cx="209550" cy="209550"/>
          </a:xfrm>
          <a:prstGeom prst="rect">
            <a:avLst/>
          </a:prstGeom>
        </p:spPr>
      </p:pic>
      <p:sp>
        <p:nvSpPr>
          <p:cNvPr id="134" name="Text 111"/>
          <p:cNvSpPr/>
          <p:nvPr/>
        </p:nvSpPr>
        <p:spPr>
          <a:xfrm>
            <a:off x="5708005" y="7134225"/>
            <a:ext cx="43309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</a:t>
            </a:r>
            <a:endParaRPr lang="en-US" sz="825" dirty="0"/>
          </a:p>
        </p:txBody>
      </p:sp>
      <p:pic>
        <p:nvPicPr>
          <p:cNvPr id="135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4125" y="6886575"/>
            <a:ext cx="209550" cy="209550"/>
          </a:xfrm>
          <a:prstGeom prst="rect">
            <a:avLst/>
          </a:prstGeom>
        </p:spPr>
      </p:pic>
      <p:sp>
        <p:nvSpPr>
          <p:cNvPr id="136" name="Text 112"/>
          <p:cNvSpPr/>
          <p:nvPr/>
        </p:nvSpPr>
        <p:spPr>
          <a:xfrm>
            <a:off x="6303020" y="7134225"/>
            <a:ext cx="3479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오브닝</a:t>
            </a:r>
            <a:endParaRPr lang="en-US" sz="825" dirty="0"/>
          </a:p>
        </p:txBody>
      </p:sp>
      <p:pic>
        <p:nvPicPr>
          <p:cNvPr id="137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86575" y="6886575"/>
            <a:ext cx="209550" cy="209550"/>
          </a:xfrm>
          <a:prstGeom prst="rect">
            <a:avLst/>
          </a:prstGeom>
        </p:spPr>
      </p:pic>
      <p:sp>
        <p:nvSpPr>
          <p:cNvPr id="138" name="Text 113"/>
          <p:cNvSpPr/>
          <p:nvPr/>
        </p:nvSpPr>
        <p:spPr>
          <a:xfrm>
            <a:off x="6900714" y="7134225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</a:t>
            </a:r>
            <a:endParaRPr lang="en-US" sz="825" dirty="0"/>
          </a:p>
        </p:txBody>
      </p:sp>
      <p:sp>
        <p:nvSpPr>
          <p:cNvPr id="139" name="Shape 114"/>
          <p:cNvSpPr/>
          <p:nvPr/>
        </p:nvSpPr>
        <p:spPr>
          <a:xfrm>
            <a:off x="5248275" y="74009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140" name="Text 115"/>
          <p:cNvSpPr/>
          <p:nvPr/>
        </p:nvSpPr>
        <p:spPr>
          <a:xfrm>
            <a:off x="5584403" y="7734300"/>
            <a:ext cx="6040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b="1" kern="0" spc="83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2</a:t>
            </a:r>
            <a:endParaRPr lang="en-US" sz="825" dirty="0"/>
          </a:p>
        </p:txBody>
      </p:sp>
      <p:sp>
        <p:nvSpPr>
          <p:cNvPr id="141" name="Text 116"/>
          <p:cNvSpPr/>
          <p:nvPr/>
        </p:nvSpPr>
        <p:spPr>
          <a:xfrm>
            <a:off x="5622503" y="7896225"/>
            <a:ext cx="6040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 대기</a:t>
            </a:r>
            <a:endParaRPr lang="en-US" sz="1050" dirty="0"/>
          </a:p>
        </p:txBody>
      </p:sp>
      <p:sp>
        <p:nvSpPr>
          <p:cNvPr id="142" name="Shape 117"/>
          <p:cNvSpPr/>
          <p:nvPr/>
        </p:nvSpPr>
        <p:spPr>
          <a:xfrm>
            <a:off x="7686675" y="1619250"/>
            <a:ext cx="2914650" cy="5981700"/>
          </a:xfrm>
          <a:prstGeom prst="roundRect">
            <a:avLst>
              <a:gd name="adj" fmla="val 11765"/>
            </a:avLst>
          </a:prstGeom>
          <a:solidFill>
            <a:srgbClr val="0F0A07"/>
          </a:solidFill>
          <a:ln/>
          <a:effectLst>
            <a:outerShdw blurRad="571500" dist="285750" dir="5400000" algn="bl" rotWithShape="0">
              <a:srgbClr val="3A1E14">
                <a:alpha val="20000"/>
              </a:srgbClr>
            </a:outerShdw>
          </a:effectLst>
        </p:spPr>
      </p:sp>
      <p:sp>
        <p:nvSpPr>
          <p:cNvPr id="143" name="Shape 118"/>
          <p:cNvSpPr/>
          <p:nvPr/>
        </p:nvSpPr>
        <p:spPr>
          <a:xfrm>
            <a:off x="8715375" y="171450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144" name="Shape 119"/>
          <p:cNvSpPr/>
          <p:nvPr/>
        </p:nvSpPr>
        <p:spPr>
          <a:xfrm>
            <a:off x="7762875" y="1695450"/>
            <a:ext cx="2762250" cy="5829300"/>
          </a:xfrm>
          <a:prstGeom prst="roundRect">
            <a:avLst>
              <a:gd name="adj" fmla="val 9655"/>
            </a:avLst>
          </a:prstGeom>
          <a:solidFill>
            <a:srgbClr val="FFF7EC"/>
          </a:solidFill>
          <a:ln/>
        </p:spPr>
      </p:sp>
      <p:sp>
        <p:nvSpPr>
          <p:cNvPr id="145" name="Shape 120"/>
          <p:cNvSpPr/>
          <p:nvPr/>
        </p:nvSpPr>
        <p:spPr>
          <a:xfrm>
            <a:off x="7762875" y="1695450"/>
            <a:ext cx="2762250" cy="582930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146" name="Text 121"/>
          <p:cNvSpPr/>
          <p:nvPr/>
        </p:nvSpPr>
        <p:spPr>
          <a:xfrm>
            <a:off x="7991475" y="1828800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147" name="Image 2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5" y="1852612"/>
            <a:ext cx="161925" cy="104775"/>
          </a:xfrm>
          <a:prstGeom prst="rect">
            <a:avLst/>
          </a:prstGeom>
        </p:spPr>
      </p:pic>
      <p:pic>
        <p:nvPicPr>
          <p:cNvPr id="148" name="Image 2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7925" y="1852612"/>
            <a:ext cx="228600" cy="104775"/>
          </a:xfrm>
          <a:prstGeom prst="rect">
            <a:avLst/>
          </a:prstGeom>
        </p:spPr>
      </p:pic>
      <p:sp>
        <p:nvSpPr>
          <p:cNvPr id="149" name="Shape 122"/>
          <p:cNvSpPr/>
          <p:nvPr/>
        </p:nvSpPr>
        <p:spPr>
          <a:xfrm>
            <a:off x="7953375" y="2247900"/>
            <a:ext cx="689074" cy="200025"/>
          </a:xfrm>
          <a:prstGeom prst="roundRect">
            <a:avLst>
              <a:gd name="adj" fmla="val 50000"/>
            </a:avLst>
          </a:prstGeom>
          <a:solidFill>
            <a:srgbClr val="551321"/>
          </a:solidFill>
          <a:ln/>
        </p:spPr>
      </p:sp>
      <p:sp>
        <p:nvSpPr>
          <p:cNvPr id="150" name="Text 123"/>
          <p:cNvSpPr/>
          <p:nvPr/>
        </p:nvSpPr>
        <p:spPr>
          <a:xfrm>
            <a:off x="8048625" y="2286000"/>
            <a:ext cx="57477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</a:t>
            </a:r>
            <a:endParaRPr lang="en-US" sz="825" dirty="0"/>
          </a:p>
        </p:txBody>
      </p:sp>
      <p:sp>
        <p:nvSpPr>
          <p:cNvPr id="151" name="Text 124"/>
          <p:cNvSpPr/>
          <p:nvPr/>
        </p:nvSpPr>
        <p:spPr>
          <a:xfrm>
            <a:off x="8718649" y="2286000"/>
            <a:ext cx="5487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02:14 남음</a:t>
            </a:r>
            <a:endParaRPr lang="en-US" sz="825" dirty="0"/>
          </a:p>
        </p:txBody>
      </p:sp>
      <p:sp>
        <p:nvSpPr>
          <p:cNvPr id="152" name="Text 125"/>
          <p:cNvSpPr/>
          <p:nvPr/>
        </p:nvSpPr>
        <p:spPr>
          <a:xfrm>
            <a:off x="9765953" y="2286000"/>
            <a:ext cx="64487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좌석 B 테이블</a:t>
            </a:r>
            <a:endParaRPr lang="en-US" sz="825" dirty="0"/>
          </a:p>
        </p:txBody>
      </p:sp>
      <p:sp>
        <p:nvSpPr>
          <p:cNvPr id="153" name="Text 126"/>
          <p:cNvSpPr/>
          <p:nvPr/>
        </p:nvSpPr>
        <p:spPr>
          <a:xfrm>
            <a:off x="7953375" y="2581275"/>
            <a:ext cx="24574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21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첫인상이 가장 인상 깊었던 분은?</a:t>
            </a:r>
            <a:endParaRPr lang="en-US" sz="2100" dirty="0"/>
          </a:p>
        </p:txBody>
      </p:sp>
      <p:sp>
        <p:nvSpPr>
          <p:cNvPr id="154" name="Text 127"/>
          <p:cNvSpPr/>
          <p:nvPr/>
        </p:nvSpPr>
        <p:spPr>
          <a:xfrm>
            <a:off x="7953375" y="3278386"/>
            <a:ext cx="2457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1명을 선택해주세요. 중간에 한 번 더 수정할 수 있어요.</a:t>
            </a:r>
            <a:endParaRPr lang="en-US" sz="975" dirty="0"/>
          </a:p>
        </p:txBody>
      </p:sp>
      <p:sp>
        <p:nvSpPr>
          <p:cNvPr id="155" name="Shape 128"/>
          <p:cNvSpPr/>
          <p:nvPr/>
        </p:nvSpPr>
        <p:spPr>
          <a:xfrm>
            <a:off x="7953375" y="3716536"/>
            <a:ext cx="1133475" cy="1323975"/>
          </a:xfrm>
          <a:prstGeom prst="roundRect">
            <a:avLst>
              <a:gd name="adj" fmla="val 16807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56" name="Shape 129"/>
          <p:cNvSpPr/>
          <p:nvPr/>
        </p:nvSpPr>
        <p:spPr>
          <a:xfrm>
            <a:off x="8115300" y="3887986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157" name="Text 130"/>
          <p:cNvSpPr/>
          <p:nvPr/>
        </p:nvSpPr>
        <p:spPr>
          <a:xfrm>
            <a:off x="8263533" y="3978473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크</a:t>
            </a:r>
            <a:endParaRPr lang="en-US" sz="1950" dirty="0"/>
          </a:p>
        </p:txBody>
      </p:sp>
      <p:sp>
        <p:nvSpPr>
          <p:cNvPr id="158" name="Text 131"/>
          <p:cNvSpPr/>
          <p:nvPr/>
        </p:nvSpPr>
        <p:spPr>
          <a:xfrm>
            <a:off x="8115300" y="4535686"/>
            <a:ext cx="8858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크루아상</a:t>
            </a:r>
            <a:endParaRPr lang="en-US" sz="1125" dirty="0"/>
          </a:p>
        </p:txBody>
      </p:sp>
      <p:sp>
        <p:nvSpPr>
          <p:cNvPr id="159" name="Text 132"/>
          <p:cNvSpPr/>
          <p:nvPr/>
        </p:nvSpPr>
        <p:spPr>
          <a:xfrm>
            <a:off x="8115300" y="4745236"/>
            <a:ext cx="8858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담백 · 신사</a:t>
            </a:r>
            <a:endParaRPr lang="en-US" sz="825" dirty="0"/>
          </a:p>
        </p:txBody>
      </p:sp>
      <p:sp>
        <p:nvSpPr>
          <p:cNvPr id="160" name="Shape 133"/>
          <p:cNvSpPr/>
          <p:nvPr/>
        </p:nvSpPr>
        <p:spPr>
          <a:xfrm>
            <a:off x="9201150" y="3716536"/>
            <a:ext cx="1133475" cy="1323975"/>
          </a:xfrm>
          <a:prstGeom prst="roundRect">
            <a:avLst>
              <a:gd name="adj" fmla="val 16807"/>
            </a:avLst>
          </a:prstGeom>
          <a:solidFill>
            <a:srgbClr val="7A1F2B"/>
          </a:solidFill>
          <a:ln w="19050">
            <a:solidFill>
              <a:srgbClr val="F5DFA8"/>
            </a:solidFill>
            <a:prstDash val="solid"/>
          </a:ln>
        </p:spPr>
      </p:sp>
      <p:sp>
        <p:nvSpPr>
          <p:cNvPr id="161" name="Shape 134"/>
          <p:cNvSpPr/>
          <p:nvPr/>
        </p:nvSpPr>
        <p:spPr>
          <a:xfrm>
            <a:off x="9372600" y="3887986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5DFA8">
              <a:alpha val="18000"/>
            </a:srgbClr>
          </a:solidFill>
          <a:ln w="9525">
            <a:solidFill>
              <a:srgbClr val="F5DFA8"/>
            </a:solidFill>
            <a:prstDash val="solid"/>
          </a:ln>
        </p:spPr>
      </p:sp>
      <p:sp>
        <p:nvSpPr>
          <p:cNvPr id="162" name="Text 135"/>
          <p:cNvSpPr/>
          <p:nvPr/>
        </p:nvSpPr>
        <p:spPr>
          <a:xfrm>
            <a:off x="9520833" y="3978473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F5D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소</a:t>
            </a:r>
            <a:endParaRPr lang="en-US" sz="1950" dirty="0"/>
          </a:p>
        </p:txBody>
      </p:sp>
      <p:sp>
        <p:nvSpPr>
          <p:cNvPr id="163" name="Text 136"/>
          <p:cNvSpPr/>
          <p:nvPr/>
        </p:nvSpPr>
        <p:spPr>
          <a:xfrm>
            <a:off x="9372600" y="4535686"/>
            <a:ext cx="8667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소금빵</a:t>
            </a:r>
            <a:endParaRPr lang="en-US" sz="1125" dirty="0"/>
          </a:p>
        </p:txBody>
      </p:sp>
      <p:sp>
        <p:nvSpPr>
          <p:cNvPr id="164" name="Text 137"/>
          <p:cNvSpPr/>
          <p:nvPr/>
        </p:nvSpPr>
        <p:spPr>
          <a:xfrm>
            <a:off x="9372600" y="4745236"/>
            <a:ext cx="8667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다정 · 은은</a:t>
            </a:r>
            <a:endParaRPr lang="en-US" sz="825" dirty="0"/>
          </a:p>
        </p:txBody>
      </p:sp>
      <p:sp>
        <p:nvSpPr>
          <p:cNvPr id="165" name="Shape 138"/>
          <p:cNvSpPr/>
          <p:nvPr/>
        </p:nvSpPr>
        <p:spPr>
          <a:xfrm>
            <a:off x="9953625" y="3849886"/>
            <a:ext cx="247650" cy="247650"/>
          </a:xfrm>
          <a:prstGeom prst="ellipse">
            <a:avLst/>
          </a:prstGeom>
          <a:solidFill>
            <a:srgbClr val="F5DFA8"/>
          </a:solidFill>
          <a:ln/>
        </p:spPr>
      </p:sp>
      <p:pic>
        <p:nvPicPr>
          <p:cNvPr id="166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10775" y="3907036"/>
            <a:ext cx="133350" cy="133350"/>
          </a:xfrm>
          <a:prstGeom prst="rect">
            <a:avLst/>
          </a:prstGeom>
        </p:spPr>
      </p:pic>
      <p:sp>
        <p:nvSpPr>
          <p:cNvPr id="167" name="Shape 139"/>
          <p:cNvSpPr/>
          <p:nvPr/>
        </p:nvSpPr>
        <p:spPr>
          <a:xfrm>
            <a:off x="7953375" y="5154811"/>
            <a:ext cx="1133475" cy="1304925"/>
          </a:xfrm>
          <a:prstGeom prst="roundRect">
            <a:avLst>
              <a:gd name="adj" fmla="val 16807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68" name="Shape 140"/>
          <p:cNvSpPr/>
          <p:nvPr/>
        </p:nvSpPr>
        <p:spPr>
          <a:xfrm>
            <a:off x="8115300" y="5316736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169" name="Text 141"/>
          <p:cNvSpPr/>
          <p:nvPr/>
        </p:nvSpPr>
        <p:spPr>
          <a:xfrm>
            <a:off x="8263533" y="5407223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단</a:t>
            </a:r>
            <a:endParaRPr lang="en-US" sz="1950" dirty="0"/>
          </a:p>
        </p:txBody>
      </p:sp>
      <p:sp>
        <p:nvSpPr>
          <p:cNvPr id="170" name="Text 142"/>
          <p:cNvSpPr/>
          <p:nvPr/>
        </p:nvSpPr>
        <p:spPr>
          <a:xfrm>
            <a:off x="8115300" y="5964436"/>
            <a:ext cx="8858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단팥빵</a:t>
            </a:r>
            <a:endParaRPr lang="en-US" sz="1125" dirty="0"/>
          </a:p>
        </p:txBody>
      </p:sp>
      <p:sp>
        <p:nvSpPr>
          <p:cNvPr id="171" name="Text 143"/>
          <p:cNvSpPr/>
          <p:nvPr/>
        </p:nvSpPr>
        <p:spPr>
          <a:xfrm>
            <a:off x="8115300" y="6173986"/>
            <a:ext cx="8858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든든 · 한결같음</a:t>
            </a:r>
            <a:endParaRPr lang="en-US" sz="825" dirty="0"/>
          </a:p>
        </p:txBody>
      </p:sp>
      <p:sp>
        <p:nvSpPr>
          <p:cNvPr id="172" name="Shape 144"/>
          <p:cNvSpPr/>
          <p:nvPr/>
        </p:nvSpPr>
        <p:spPr>
          <a:xfrm>
            <a:off x="9201150" y="5154811"/>
            <a:ext cx="1133475" cy="1304925"/>
          </a:xfrm>
          <a:prstGeom prst="roundRect">
            <a:avLst>
              <a:gd name="adj" fmla="val 16807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73" name="Shape 145"/>
          <p:cNvSpPr/>
          <p:nvPr/>
        </p:nvSpPr>
        <p:spPr>
          <a:xfrm>
            <a:off x="9363075" y="5316736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174" name="Text 146"/>
          <p:cNvSpPr/>
          <p:nvPr/>
        </p:nvSpPr>
        <p:spPr>
          <a:xfrm>
            <a:off x="9511308" y="5407223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에</a:t>
            </a:r>
            <a:endParaRPr lang="en-US" sz="1950" dirty="0"/>
          </a:p>
        </p:txBody>
      </p:sp>
      <p:sp>
        <p:nvSpPr>
          <p:cNvPr id="175" name="Text 147"/>
          <p:cNvSpPr/>
          <p:nvPr/>
        </p:nvSpPr>
        <p:spPr>
          <a:xfrm>
            <a:off x="9363075" y="5964436"/>
            <a:ext cx="8858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에클레어</a:t>
            </a:r>
            <a:endParaRPr lang="en-US" sz="1125" dirty="0"/>
          </a:p>
        </p:txBody>
      </p:sp>
      <p:sp>
        <p:nvSpPr>
          <p:cNvPr id="176" name="Text 148"/>
          <p:cNvSpPr/>
          <p:nvPr/>
        </p:nvSpPr>
        <p:spPr>
          <a:xfrm>
            <a:off x="9363075" y="6173986"/>
            <a:ext cx="8858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유쾌 · 센스</a:t>
            </a:r>
            <a:endParaRPr lang="en-US" sz="825" dirty="0"/>
          </a:p>
        </p:txBody>
      </p:sp>
      <p:sp>
        <p:nvSpPr>
          <p:cNvPr id="177" name="Shape 149"/>
          <p:cNvSpPr/>
          <p:nvPr/>
        </p:nvSpPr>
        <p:spPr>
          <a:xfrm>
            <a:off x="7953375" y="6631186"/>
            <a:ext cx="2381250" cy="876300"/>
          </a:xfrm>
          <a:prstGeom prst="roundRect">
            <a:avLst>
              <a:gd name="adj" fmla="val 23913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pic>
        <p:nvPicPr>
          <p:cNvPr id="17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34350" y="6983611"/>
            <a:ext cx="76646" cy="171450"/>
          </a:xfrm>
          <a:prstGeom prst="rect">
            <a:avLst/>
          </a:prstGeom>
        </p:spPr>
      </p:pic>
      <p:sp>
        <p:nvSpPr>
          <p:cNvPr id="179" name="Text 150"/>
          <p:cNvSpPr/>
          <p:nvPr/>
        </p:nvSpPr>
        <p:spPr>
          <a:xfrm>
            <a:off x="8306246" y="6812161"/>
            <a:ext cx="192360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 캐릭터는 회차 내에서만 사용되는 이름이에요. 실명은 매칭 결과 단계에서만 공개됩니다.</a:t>
            </a:r>
            <a:endParaRPr lang="en-US" sz="900" dirty="0"/>
          </a:p>
        </p:txBody>
      </p:sp>
      <p:sp>
        <p:nvSpPr>
          <p:cNvPr id="180" name="Shape 151"/>
          <p:cNvSpPr/>
          <p:nvPr/>
        </p:nvSpPr>
        <p:spPr>
          <a:xfrm>
            <a:off x="7953375" y="5095875"/>
            <a:ext cx="238125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181" name="Text 152"/>
          <p:cNvSpPr/>
          <p:nvPr/>
        </p:nvSpPr>
        <p:spPr>
          <a:xfrm>
            <a:off x="8446591" y="5267325"/>
            <a:ext cx="13948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첫인상 선택 제출하기</a:t>
            </a:r>
            <a:endParaRPr lang="en-US" sz="1275" dirty="0"/>
          </a:p>
        </p:txBody>
      </p:sp>
      <p:sp>
        <p:nvSpPr>
          <p:cNvPr id="182" name="Text 153"/>
          <p:cNvSpPr/>
          <p:nvPr/>
        </p:nvSpPr>
        <p:spPr>
          <a:xfrm>
            <a:off x="7915275" y="5705475"/>
            <a:ext cx="24574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후에도 중간 선택 전까지 변경 가능</a:t>
            </a:r>
            <a:endParaRPr lang="en-US" sz="825" dirty="0"/>
          </a:p>
        </p:txBody>
      </p:sp>
      <p:sp>
        <p:nvSpPr>
          <p:cNvPr id="183" name="Shape 154"/>
          <p:cNvSpPr/>
          <p:nvPr/>
        </p:nvSpPr>
        <p:spPr>
          <a:xfrm>
            <a:off x="7762875" y="6781800"/>
            <a:ext cx="2762250" cy="742950"/>
          </a:xfrm>
          <a:prstGeom prst="rect">
            <a:avLst/>
          </a:prstGeom>
          <a:solidFill>
            <a:srgbClr val="FFF7EC">
              <a:alpha val="92000"/>
            </a:srgbClr>
          </a:solidFill>
          <a:ln/>
        </p:spPr>
      </p:sp>
      <p:sp>
        <p:nvSpPr>
          <p:cNvPr id="184" name="Shape 155"/>
          <p:cNvSpPr/>
          <p:nvPr/>
        </p:nvSpPr>
        <p:spPr>
          <a:xfrm>
            <a:off x="7762875" y="6781800"/>
            <a:ext cx="276225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185" name="Image 2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4325" y="6886575"/>
            <a:ext cx="209550" cy="209550"/>
          </a:xfrm>
          <a:prstGeom prst="rect">
            <a:avLst/>
          </a:prstGeom>
        </p:spPr>
      </p:pic>
      <p:sp>
        <p:nvSpPr>
          <p:cNvPr id="186" name="Text 156"/>
          <p:cNvSpPr/>
          <p:nvPr/>
        </p:nvSpPr>
        <p:spPr>
          <a:xfrm>
            <a:off x="7993707" y="7134225"/>
            <a:ext cx="1668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825" dirty="0"/>
          </a:p>
        </p:txBody>
      </p:sp>
      <p:pic>
        <p:nvPicPr>
          <p:cNvPr id="187" name="Image 2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6775" y="6886575"/>
            <a:ext cx="209550" cy="209550"/>
          </a:xfrm>
          <a:prstGeom prst="rect">
            <a:avLst/>
          </a:prstGeom>
        </p:spPr>
      </p:pic>
      <p:sp>
        <p:nvSpPr>
          <p:cNvPr id="188" name="Text 157"/>
          <p:cNvSpPr/>
          <p:nvPr/>
        </p:nvSpPr>
        <p:spPr>
          <a:xfrm>
            <a:off x="8500914" y="7134225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</a:t>
            </a:r>
            <a:endParaRPr lang="en-US" sz="825" dirty="0"/>
          </a:p>
        </p:txBody>
      </p:sp>
      <p:pic>
        <p:nvPicPr>
          <p:cNvPr id="189" name="Image 2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39225" y="6886575"/>
            <a:ext cx="209550" cy="209550"/>
          </a:xfrm>
          <a:prstGeom prst="rect">
            <a:avLst/>
          </a:prstGeom>
        </p:spPr>
      </p:pic>
      <p:sp>
        <p:nvSpPr>
          <p:cNvPr id="190" name="Text 158"/>
          <p:cNvSpPr/>
          <p:nvPr/>
        </p:nvSpPr>
        <p:spPr>
          <a:xfrm>
            <a:off x="8965555" y="7134225"/>
            <a:ext cx="43309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</a:t>
            </a:r>
            <a:endParaRPr lang="en-US" sz="825" dirty="0"/>
          </a:p>
        </p:txBody>
      </p:sp>
      <p:pic>
        <p:nvPicPr>
          <p:cNvPr id="191" name="Image 3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1675" y="6886575"/>
            <a:ext cx="209550" cy="209550"/>
          </a:xfrm>
          <a:prstGeom prst="rect">
            <a:avLst/>
          </a:prstGeom>
        </p:spPr>
      </p:pic>
      <p:sp>
        <p:nvSpPr>
          <p:cNvPr id="192" name="Text 159"/>
          <p:cNvSpPr/>
          <p:nvPr/>
        </p:nvSpPr>
        <p:spPr>
          <a:xfrm>
            <a:off x="9560570" y="7134225"/>
            <a:ext cx="3479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오브닝</a:t>
            </a:r>
            <a:endParaRPr lang="en-US" sz="825" dirty="0"/>
          </a:p>
        </p:txBody>
      </p:sp>
      <p:pic>
        <p:nvPicPr>
          <p:cNvPr id="193" name="Image 3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44125" y="6886575"/>
            <a:ext cx="209550" cy="209550"/>
          </a:xfrm>
          <a:prstGeom prst="rect">
            <a:avLst/>
          </a:prstGeom>
        </p:spPr>
      </p:pic>
      <p:sp>
        <p:nvSpPr>
          <p:cNvPr id="194" name="Text 160"/>
          <p:cNvSpPr/>
          <p:nvPr/>
        </p:nvSpPr>
        <p:spPr>
          <a:xfrm>
            <a:off x="10158264" y="7134225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</a:t>
            </a:r>
            <a:endParaRPr lang="en-US" sz="825" dirty="0"/>
          </a:p>
        </p:txBody>
      </p:sp>
      <p:sp>
        <p:nvSpPr>
          <p:cNvPr id="195" name="Shape 161"/>
          <p:cNvSpPr/>
          <p:nvPr/>
        </p:nvSpPr>
        <p:spPr>
          <a:xfrm>
            <a:off x="8505825" y="74009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196" name="Text 162"/>
          <p:cNvSpPr/>
          <p:nvPr/>
        </p:nvSpPr>
        <p:spPr>
          <a:xfrm>
            <a:off x="8780636" y="7734300"/>
            <a:ext cx="72672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b="1" kern="0" spc="83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3</a:t>
            </a:r>
            <a:endParaRPr lang="en-US" sz="825" dirty="0"/>
          </a:p>
        </p:txBody>
      </p:sp>
      <p:sp>
        <p:nvSpPr>
          <p:cNvPr id="197" name="Text 163"/>
          <p:cNvSpPr/>
          <p:nvPr/>
        </p:nvSpPr>
        <p:spPr>
          <a:xfrm>
            <a:off x="8818736" y="7896225"/>
            <a:ext cx="7267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첫인상 투표</a:t>
            </a:r>
            <a:endParaRPr lang="en-US" sz="1050" dirty="0"/>
          </a:p>
        </p:txBody>
      </p:sp>
      <p:sp>
        <p:nvSpPr>
          <p:cNvPr id="198" name="Shape 164"/>
          <p:cNvSpPr/>
          <p:nvPr/>
        </p:nvSpPr>
        <p:spPr>
          <a:xfrm>
            <a:off x="10944225" y="1619250"/>
            <a:ext cx="2914650" cy="5981700"/>
          </a:xfrm>
          <a:prstGeom prst="roundRect">
            <a:avLst>
              <a:gd name="adj" fmla="val 11765"/>
            </a:avLst>
          </a:prstGeom>
          <a:solidFill>
            <a:srgbClr val="0F0A07"/>
          </a:solidFill>
          <a:ln/>
          <a:effectLst>
            <a:outerShdw blurRad="571500" dist="285750" dir="5400000" algn="bl" rotWithShape="0">
              <a:srgbClr val="3A1E14">
                <a:alpha val="20000"/>
              </a:srgbClr>
            </a:outerShdw>
          </a:effectLst>
        </p:spPr>
      </p:sp>
      <p:sp>
        <p:nvSpPr>
          <p:cNvPr id="199" name="Shape 165"/>
          <p:cNvSpPr/>
          <p:nvPr/>
        </p:nvSpPr>
        <p:spPr>
          <a:xfrm>
            <a:off x="11972925" y="171450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200" name="Shape 166"/>
          <p:cNvSpPr/>
          <p:nvPr/>
        </p:nvSpPr>
        <p:spPr>
          <a:xfrm>
            <a:off x="11020425" y="1695450"/>
            <a:ext cx="2762250" cy="5829300"/>
          </a:xfrm>
          <a:prstGeom prst="roundRect">
            <a:avLst>
              <a:gd name="adj" fmla="val 9655"/>
            </a:avLst>
          </a:prstGeom>
          <a:solidFill>
            <a:srgbClr val="FFF7EC"/>
          </a:solidFill>
          <a:ln/>
        </p:spPr>
      </p:sp>
      <p:sp>
        <p:nvSpPr>
          <p:cNvPr id="201" name="Shape 167"/>
          <p:cNvSpPr/>
          <p:nvPr/>
        </p:nvSpPr>
        <p:spPr>
          <a:xfrm>
            <a:off x="11020425" y="1695450"/>
            <a:ext cx="2762250" cy="582930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202" name="Text 168"/>
          <p:cNvSpPr/>
          <p:nvPr/>
        </p:nvSpPr>
        <p:spPr>
          <a:xfrm>
            <a:off x="11249025" y="1828800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203" name="Image 3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5925" y="1852612"/>
            <a:ext cx="161925" cy="104775"/>
          </a:xfrm>
          <a:prstGeom prst="rect">
            <a:avLst/>
          </a:prstGeom>
        </p:spPr>
      </p:pic>
      <p:pic>
        <p:nvPicPr>
          <p:cNvPr id="204" name="Image 3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5475" y="1852612"/>
            <a:ext cx="228600" cy="104775"/>
          </a:xfrm>
          <a:prstGeom prst="rect">
            <a:avLst/>
          </a:prstGeom>
        </p:spPr>
      </p:pic>
      <p:sp>
        <p:nvSpPr>
          <p:cNvPr id="205" name="Shape 169"/>
          <p:cNvSpPr/>
          <p:nvPr/>
        </p:nvSpPr>
        <p:spPr>
          <a:xfrm>
            <a:off x="11210925" y="2228850"/>
            <a:ext cx="714077" cy="200025"/>
          </a:xfrm>
          <a:prstGeom prst="roundRect">
            <a:avLst>
              <a:gd name="adj" fmla="val 50000"/>
            </a:avLst>
          </a:prstGeom>
          <a:solidFill>
            <a:srgbClr val="551321"/>
          </a:solidFill>
          <a:ln/>
        </p:spPr>
      </p:sp>
      <p:sp>
        <p:nvSpPr>
          <p:cNvPr id="206" name="Text 170"/>
          <p:cNvSpPr/>
          <p:nvPr/>
        </p:nvSpPr>
        <p:spPr>
          <a:xfrm>
            <a:off x="11306175" y="2266950"/>
            <a:ext cx="59977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OVENING</a:t>
            </a:r>
            <a:endParaRPr lang="en-US" sz="825" dirty="0"/>
          </a:p>
        </p:txBody>
      </p:sp>
      <p:sp>
        <p:nvSpPr>
          <p:cNvPr id="207" name="Text 171"/>
          <p:cNvSpPr/>
          <p:nvPr/>
        </p:nvSpPr>
        <p:spPr>
          <a:xfrm>
            <a:off x="12001202" y="2266950"/>
            <a:ext cx="7684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라운드 준비</a:t>
            </a:r>
            <a:endParaRPr lang="en-US" sz="825" dirty="0"/>
          </a:p>
        </p:txBody>
      </p:sp>
      <p:sp>
        <p:nvSpPr>
          <p:cNvPr id="208" name="Text 172"/>
          <p:cNvSpPr/>
          <p:nvPr/>
        </p:nvSpPr>
        <p:spPr>
          <a:xfrm>
            <a:off x="11210925" y="2562225"/>
            <a:ext cx="24574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kern="0" spc="-22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자리가 준비되었어요.</a:t>
            </a:r>
            <a:endParaRPr lang="en-US" sz="2250" dirty="0"/>
          </a:p>
        </p:txBody>
      </p:sp>
      <p:sp>
        <p:nvSpPr>
          <p:cNvPr id="209" name="Text 173"/>
          <p:cNvSpPr/>
          <p:nvPr/>
        </p:nvSpPr>
        <p:spPr>
          <a:xfrm>
            <a:off x="11210925" y="3381375"/>
            <a:ext cx="2464118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 선택 결과를 바탕으로 새로운 대화 자리가 배정되었어요. 잠시 후 안내에 따라 자리를 옮겨주세요.</a:t>
            </a:r>
            <a:endParaRPr lang="en-US" sz="975" dirty="0"/>
          </a:p>
        </p:txBody>
      </p:sp>
      <p:sp>
        <p:nvSpPr>
          <p:cNvPr id="210" name="Shape 174"/>
          <p:cNvSpPr/>
          <p:nvPr/>
        </p:nvSpPr>
        <p:spPr>
          <a:xfrm>
            <a:off x="11210925" y="4147096"/>
            <a:ext cx="2381250" cy="1200150"/>
          </a:xfrm>
          <a:prstGeom prst="roundRect">
            <a:avLst>
              <a:gd name="adj" fmla="val 20635"/>
            </a:avLst>
          </a:prstGeom>
          <a:solidFill>
            <a:srgbClr val="F5DFA8"/>
          </a:solidFill>
          <a:ln/>
        </p:spPr>
      </p:sp>
      <p:sp>
        <p:nvSpPr>
          <p:cNvPr id="211" name="Shape 175"/>
          <p:cNvSpPr/>
          <p:nvPr/>
        </p:nvSpPr>
        <p:spPr>
          <a:xfrm>
            <a:off x="12639675" y="3956596"/>
            <a:ext cx="1143000" cy="1143000"/>
          </a:xfrm>
          <a:prstGeom prst="ellipse">
            <a:avLst/>
          </a:prstGeom>
          <a:ln w="9525">
            <a:solidFill>
              <a:srgbClr val="551321">
                <a:alpha val="18000"/>
              </a:srgbClr>
            </a:solidFill>
            <a:prstDash val="solid"/>
          </a:ln>
        </p:spPr>
      </p:sp>
      <p:sp>
        <p:nvSpPr>
          <p:cNvPr id="212" name="Text 176"/>
          <p:cNvSpPr/>
          <p:nvPr/>
        </p:nvSpPr>
        <p:spPr>
          <a:xfrm>
            <a:off x="11401425" y="4337596"/>
            <a:ext cx="20764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NEW SEAT</a:t>
            </a:r>
            <a:endParaRPr lang="en-US" sz="825" dirty="0"/>
          </a:p>
        </p:txBody>
      </p:sp>
      <p:sp>
        <p:nvSpPr>
          <p:cNvPr id="213" name="Text 177"/>
          <p:cNvSpPr/>
          <p:nvPr/>
        </p:nvSpPr>
        <p:spPr>
          <a:xfrm>
            <a:off x="11401425" y="4518571"/>
            <a:ext cx="20764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kern="0" spc="-33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— 2</a:t>
            </a:r>
            <a:endParaRPr lang="en-US" sz="3300" dirty="0"/>
          </a:p>
        </p:txBody>
      </p:sp>
      <p:sp>
        <p:nvSpPr>
          <p:cNvPr id="214" name="Text 178"/>
          <p:cNvSpPr/>
          <p:nvPr/>
        </p:nvSpPr>
        <p:spPr>
          <a:xfrm>
            <a:off x="11401425" y="5013871"/>
            <a:ext cx="2076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51321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테이블 두 번째 자리예요</a:t>
            </a:r>
            <a:endParaRPr lang="en-US" sz="975" dirty="0"/>
          </a:p>
        </p:txBody>
      </p:sp>
      <p:sp>
        <p:nvSpPr>
          <p:cNvPr id="215" name="Text 179"/>
          <p:cNvSpPr/>
          <p:nvPr/>
        </p:nvSpPr>
        <p:spPr>
          <a:xfrm>
            <a:off x="11210925" y="5594896"/>
            <a:ext cx="15665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테이블에 함께 앉아요</a:t>
            </a:r>
            <a:endParaRPr lang="en-US" sz="1275" dirty="0"/>
          </a:p>
        </p:txBody>
      </p:sp>
      <p:sp>
        <p:nvSpPr>
          <p:cNvPr id="216" name="Shape 180"/>
          <p:cNvSpPr/>
          <p:nvPr/>
        </p:nvSpPr>
        <p:spPr>
          <a:xfrm>
            <a:off x="11210925" y="5899696"/>
            <a:ext cx="2381250" cy="3653433"/>
          </a:xfrm>
          <a:prstGeom prst="roundRect">
            <a:avLst>
              <a:gd name="adj" fmla="val 8800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217" name="Shape 181"/>
          <p:cNvSpPr/>
          <p:nvPr/>
        </p:nvSpPr>
        <p:spPr>
          <a:xfrm>
            <a:off x="11391900" y="6080671"/>
            <a:ext cx="2019300" cy="2628900"/>
          </a:xfrm>
          <a:prstGeom prst="roundRect">
            <a:avLst>
              <a:gd name="adj" fmla="val 8491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18" name="Shape 182"/>
          <p:cNvSpPr/>
          <p:nvPr/>
        </p:nvSpPr>
        <p:spPr>
          <a:xfrm>
            <a:off x="11820525" y="6299746"/>
            <a:ext cx="4953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9C5AA"/>
            </a:solidFill>
            <a:prstDash val="solid"/>
          </a:ln>
        </p:spPr>
      </p:sp>
      <p:sp>
        <p:nvSpPr>
          <p:cNvPr id="219" name="Text 183"/>
          <p:cNvSpPr/>
          <p:nvPr/>
        </p:nvSpPr>
        <p:spPr>
          <a:xfrm>
            <a:off x="11967865" y="6399758"/>
            <a:ext cx="2766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크</a:t>
            </a:r>
            <a:endParaRPr lang="en-US" sz="1650" dirty="0"/>
          </a:p>
        </p:txBody>
      </p:sp>
      <p:sp>
        <p:nvSpPr>
          <p:cNvPr id="220" name="Text 184"/>
          <p:cNvSpPr/>
          <p:nvPr/>
        </p:nvSpPr>
        <p:spPr>
          <a:xfrm>
            <a:off x="11887051" y="6852196"/>
            <a:ext cx="43844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크루아상</a:t>
            </a:r>
            <a:endParaRPr lang="en-US" sz="825" dirty="0"/>
          </a:p>
        </p:txBody>
      </p:sp>
      <p:sp>
        <p:nvSpPr>
          <p:cNvPr id="221" name="Shape 185"/>
          <p:cNvSpPr/>
          <p:nvPr/>
        </p:nvSpPr>
        <p:spPr>
          <a:xfrm>
            <a:off x="12487275" y="6299746"/>
            <a:ext cx="4953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9C5AA"/>
            </a:solidFill>
            <a:prstDash val="solid"/>
          </a:ln>
        </p:spPr>
      </p:sp>
      <p:sp>
        <p:nvSpPr>
          <p:cNvPr id="222" name="Text 186"/>
          <p:cNvSpPr/>
          <p:nvPr/>
        </p:nvSpPr>
        <p:spPr>
          <a:xfrm>
            <a:off x="12634615" y="6399758"/>
            <a:ext cx="2766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소</a:t>
            </a:r>
            <a:endParaRPr lang="en-US" sz="1650" dirty="0"/>
          </a:p>
        </p:txBody>
      </p:sp>
      <p:sp>
        <p:nvSpPr>
          <p:cNvPr id="223" name="Text 187"/>
          <p:cNvSpPr/>
          <p:nvPr/>
        </p:nvSpPr>
        <p:spPr>
          <a:xfrm>
            <a:off x="12599045" y="6852196"/>
            <a:ext cx="3479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소금빵</a:t>
            </a:r>
            <a:endParaRPr lang="en-US" sz="825" dirty="0"/>
          </a:p>
        </p:txBody>
      </p:sp>
      <p:sp>
        <p:nvSpPr>
          <p:cNvPr id="224" name="Shape 188"/>
          <p:cNvSpPr/>
          <p:nvPr/>
        </p:nvSpPr>
        <p:spPr>
          <a:xfrm>
            <a:off x="11449050" y="7109371"/>
            <a:ext cx="1905000" cy="57150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D9C5AA"/>
            </a:solidFill>
            <a:prstDash val="solid"/>
          </a:ln>
        </p:spPr>
      </p:sp>
      <p:sp>
        <p:nvSpPr>
          <p:cNvPr id="225" name="Text 189"/>
          <p:cNvSpPr/>
          <p:nvPr/>
        </p:nvSpPr>
        <p:spPr>
          <a:xfrm>
            <a:off x="12168634" y="7337971"/>
            <a:ext cx="54188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C</a:t>
            </a:r>
            <a:endParaRPr lang="en-US" sz="825" dirty="0"/>
          </a:p>
        </p:txBody>
      </p:sp>
      <p:sp>
        <p:nvSpPr>
          <p:cNvPr id="226" name="Shape 190"/>
          <p:cNvSpPr/>
          <p:nvPr/>
        </p:nvSpPr>
        <p:spPr>
          <a:xfrm>
            <a:off x="11820525" y="7814221"/>
            <a:ext cx="495300" cy="495300"/>
          </a:xfrm>
          <a:prstGeom prst="roundRect">
            <a:avLst>
              <a:gd name="adj" fmla="val 30769"/>
            </a:avLst>
          </a:prstGeom>
          <a:solidFill>
            <a:srgbClr val="7A1F2B"/>
          </a:solidFill>
          <a:ln/>
          <a:effectLst>
            <a:outerShdw blurRad="114300" dist="38100" dir="5400000" algn="bl" rotWithShape="0">
              <a:srgbClr val="7A1F2B">
                <a:alpha val="25000"/>
              </a:srgbClr>
            </a:outerShdw>
          </a:effectLst>
        </p:spPr>
      </p:sp>
      <p:sp>
        <p:nvSpPr>
          <p:cNvPr id="227" name="Text 191"/>
          <p:cNvSpPr/>
          <p:nvPr/>
        </p:nvSpPr>
        <p:spPr>
          <a:xfrm>
            <a:off x="11967865" y="7914233"/>
            <a:ext cx="2766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5D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</a:t>
            </a:r>
            <a:endParaRPr lang="en-US" sz="1650" dirty="0"/>
          </a:p>
        </p:txBody>
      </p:sp>
      <p:sp>
        <p:nvSpPr>
          <p:cNvPr id="228" name="Text 192"/>
          <p:cNvSpPr/>
          <p:nvPr/>
        </p:nvSpPr>
        <p:spPr>
          <a:xfrm>
            <a:off x="12022782" y="8366671"/>
            <a:ext cx="1668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</a:t>
            </a:r>
            <a:endParaRPr lang="en-US" sz="825" dirty="0"/>
          </a:p>
        </p:txBody>
      </p:sp>
      <p:sp>
        <p:nvSpPr>
          <p:cNvPr id="229" name="Shape 193"/>
          <p:cNvSpPr/>
          <p:nvPr/>
        </p:nvSpPr>
        <p:spPr>
          <a:xfrm>
            <a:off x="12487275" y="7814221"/>
            <a:ext cx="4953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9C5AA"/>
            </a:solidFill>
            <a:prstDash val="solid"/>
          </a:ln>
        </p:spPr>
      </p:sp>
      <p:sp>
        <p:nvSpPr>
          <p:cNvPr id="230" name="Text 194"/>
          <p:cNvSpPr/>
          <p:nvPr/>
        </p:nvSpPr>
        <p:spPr>
          <a:xfrm>
            <a:off x="12634615" y="7914233"/>
            <a:ext cx="2766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마</a:t>
            </a:r>
            <a:endParaRPr lang="en-US" sz="1650" dirty="0"/>
          </a:p>
        </p:txBody>
      </p:sp>
      <p:sp>
        <p:nvSpPr>
          <p:cNvPr id="231" name="Text 195"/>
          <p:cNvSpPr/>
          <p:nvPr/>
        </p:nvSpPr>
        <p:spPr>
          <a:xfrm>
            <a:off x="12599045" y="8366671"/>
            <a:ext cx="3479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마들렌</a:t>
            </a:r>
            <a:endParaRPr lang="en-US" sz="825" dirty="0"/>
          </a:p>
        </p:txBody>
      </p:sp>
      <p:sp>
        <p:nvSpPr>
          <p:cNvPr id="232" name="Text 196"/>
          <p:cNvSpPr/>
          <p:nvPr/>
        </p:nvSpPr>
        <p:spPr>
          <a:xfrm>
            <a:off x="11391900" y="8823871"/>
            <a:ext cx="2095500" cy="586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테이블의 다른 캐릭터와는 자유롭게 대화를 나눌 수 있어요. 자리 이동은 운영진의 안내를 따라 진행됩니다.</a:t>
            </a:r>
            <a:endParaRPr lang="en-US" sz="900" dirty="0"/>
          </a:p>
        </p:txBody>
      </p:sp>
      <p:sp>
        <p:nvSpPr>
          <p:cNvPr id="233" name="Shape 197"/>
          <p:cNvSpPr/>
          <p:nvPr/>
        </p:nvSpPr>
        <p:spPr>
          <a:xfrm>
            <a:off x="11210925" y="9781729"/>
            <a:ext cx="238125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234" name="Text 198"/>
          <p:cNvSpPr/>
          <p:nvPr/>
        </p:nvSpPr>
        <p:spPr>
          <a:xfrm>
            <a:off x="11791652" y="9953179"/>
            <a:ext cx="12196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자리를 확인했어요</a:t>
            </a:r>
            <a:endParaRPr lang="en-US" sz="1275" dirty="0"/>
          </a:p>
        </p:txBody>
      </p:sp>
      <p:sp>
        <p:nvSpPr>
          <p:cNvPr id="235" name="Shape 199"/>
          <p:cNvSpPr/>
          <p:nvPr/>
        </p:nvSpPr>
        <p:spPr>
          <a:xfrm>
            <a:off x="11020425" y="6781800"/>
            <a:ext cx="2762250" cy="742950"/>
          </a:xfrm>
          <a:prstGeom prst="rect">
            <a:avLst/>
          </a:prstGeom>
          <a:solidFill>
            <a:srgbClr val="FFF7EC">
              <a:alpha val="92000"/>
            </a:srgbClr>
          </a:solidFill>
          <a:ln/>
        </p:spPr>
      </p:sp>
      <p:sp>
        <p:nvSpPr>
          <p:cNvPr id="236" name="Shape 200"/>
          <p:cNvSpPr/>
          <p:nvPr/>
        </p:nvSpPr>
        <p:spPr>
          <a:xfrm>
            <a:off x="11020425" y="6781800"/>
            <a:ext cx="276225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237" name="Image 3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91875" y="6886575"/>
            <a:ext cx="209550" cy="209550"/>
          </a:xfrm>
          <a:prstGeom prst="rect">
            <a:avLst/>
          </a:prstGeom>
        </p:spPr>
      </p:pic>
      <p:sp>
        <p:nvSpPr>
          <p:cNvPr id="238" name="Text 201"/>
          <p:cNvSpPr/>
          <p:nvPr/>
        </p:nvSpPr>
        <p:spPr>
          <a:xfrm>
            <a:off x="11251257" y="7134225"/>
            <a:ext cx="1668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825" dirty="0"/>
          </a:p>
        </p:txBody>
      </p:sp>
      <p:pic>
        <p:nvPicPr>
          <p:cNvPr id="239" name="Image 3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44325" y="6886575"/>
            <a:ext cx="209550" cy="209550"/>
          </a:xfrm>
          <a:prstGeom prst="rect">
            <a:avLst/>
          </a:prstGeom>
        </p:spPr>
      </p:pic>
      <p:sp>
        <p:nvSpPr>
          <p:cNvPr id="240" name="Text 202"/>
          <p:cNvSpPr/>
          <p:nvPr/>
        </p:nvSpPr>
        <p:spPr>
          <a:xfrm>
            <a:off x="11758464" y="7134225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</a:t>
            </a:r>
            <a:endParaRPr lang="en-US" sz="825" dirty="0"/>
          </a:p>
        </p:txBody>
      </p:sp>
      <p:pic>
        <p:nvPicPr>
          <p:cNvPr id="241" name="Image 3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96775" y="6886575"/>
            <a:ext cx="209550" cy="209550"/>
          </a:xfrm>
          <a:prstGeom prst="rect">
            <a:avLst/>
          </a:prstGeom>
        </p:spPr>
      </p:pic>
      <p:sp>
        <p:nvSpPr>
          <p:cNvPr id="242" name="Text 203"/>
          <p:cNvSpPr/>
          <p:nvPr/>
        </p:nvSpPr>
        <p:spPr>
          <a:xfrm>
            <a:off x="12223105" y="7134225"/>
            <a:ext cx="43309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</a:t>
            </a:r>
            <a:endParaRPr lang="en-US" sz="825" dirty="0"/>
          </a:p>
        </p:txBody>
      </p:sp>
      <p:pic>
        <p:nvPicPr>
          <p:cNvPr id="243" name="Image 3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49225" y="6886575"/>
            <a:ext cx="209550" cy="209550"/>
          </a:xfrm>
          <a:prstGeom prst="rect">
            <a:avLst/>
          </a:prstGeom>
        </p:spPr>
      </p:pic>
      <p:sp>
        <p:nvSpPr>
          <p:cNvPr id="244" name="Text 204"/>
          <p:cNvSpPr/>
          <p:nvPr/>
        </p:nvSpPr>
        <p:spPr>
          <a:xfrm>
            <a:off x="12818120" y="7134225"/>
            <a:ext cx="3479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오브닝</a:t>
            </a:r>
            <a:endParaRPr lang="en-US" sz="825" dirty="0"/>
          </a:p>
        </p:txBody>
      </p:sp>
      <p:pic>
        <p:nvPicPr>
          <p:cNvPr id="245" name="Image 3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401675" y="6886575"/>
            <a:ext cx="209550" cy="209550"/>
          </a:xfrm>
          <a:prstGeom prst="rect">
            <a:avLst/>
          </a:prstGeom>
        </p:spPr>
      </p:pic>
      <p:sp>
        <p:nvSpPr>
          <p:cNvPr id="246" name="Text 205"/>
          <p:cNvSpPr/>
          <p:nvPr/>
        </p:nvSpPr>
        <p:spPr>
          <a:xfrm>
            <a:off x="13415814" y="7134225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</a:t>
            </a:r>
            <a:endParaRPr lang="en-US" sz="825" dirty="0"/>
          </a:p>
        </p:txBody>
      </p:sp>
      <p:sp>
        <p:nvSpPr>
          <p:cNvPr id="247" name="Shape 206"/>
          <p:cNvSpPr/>
          <p:nvPr/>
        </p:nvSpPr>
        <p:spPr>
          <a:xfrm>
            <a:off x="11763375" y="74009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248" name="Text 207"/>
          <p:cNvSpPr/>
          <p:nvPr/>
        </p:nvSpPr>
        <p:spPr>
          <a:xfrm>
            <a:off x="12118032" y="7734300"/>
            <a:ext cx="56703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b="1" kern="0" spc="83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4</a:t>
            </a:r>
            <a:endParaRPr lang="en-US" sz="825" dirty="0"/>
          </a:p>
        </p:txBody>
      </p:sp>
      <p:sp>
        <p:nvSpPr>
          <p:cNvPr id="249" name="Text 208"/>
          <p:cNvSpPr/>
          <p:nvPr/>
        </p:nvSpPr>
        <p:spPr>
          <a:xfrm>
            <a:off x="12156132" y="7896225"/>
            <a:ext cx="5670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자리배치</a:t>
            </a:r>
            <a:endParaRPr lang="en-US" sz="1050" dirty="0"/>
          </a:p>
        </p:txBody>
      </p:sp>
      <p:sp>
        <p:nvSpPr>
          <p:cNvPr id="250" name="Shape 209"/>
          <p:cNvSpPr/>
          <p:nvPr/>
        </p:nvSpPr>
        <p:spPr>
          <a:xfrm>
            <a:off x="14201775" y="1619250"/>
            <a:ext cx="2914650" cy="5981700"/>
          </a:xfrm>
          <a:prstGeom prst="roundRect">
            <a:avLst>
              <a:gd name="adj" fmla="val 11765"/>
            </a:avLst>
          </a:prstGeom>
          <a:solidFill>
            <a:srgbClr val="0F0A07"/>
          </a:solidFill>
          <a:ln/>
          <a:effectLst>
            <a:outerShdw blurRad="571500" dist="285750" dir="5400000" algn="bl" rotWithShape="0">
              <a:srgbClr val="3A1E14">
                <a:alpha val="20000"/>
              </a:srgbClr>
            </a:outerShdw>
          </a:effectLst>
        </p:spPr>
      </p:sp>
      <p:sp>
        <p:nvSpPr>
          <p:cNvPr id="251" name="Shape 210"/>
          <p:cNvSpPr/>
          <p:nvPr/>
        </p:nvSpPr>
        <p:spPr>
          <a:xfrm>
            <a:off x="15230475" y="1714500"/>
            <a:ext cx="857250" cy="24765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252" name="Shape 211"/>
          <p:cNvSpPr/>
          <p:nvPr/>
        </p:nvSpPr>
        <p:spPr>
          <a:xfrm>
            <a:off x="14277975" y="1695450"/>
            <a:ext cx="2762250" cy="5829300"/>
          </a:xfrm>
          <a:prstGeom prst="roundRect">
            <a:avLst>
              <a:gd name="adj" fmla="val 9655"/>
            </a:avLst>
          </a:prstGeom>
          <a:solidFill>
            <a:srgbClr val="FFF7EC"/>
          </a:solidFill>
          <a:ln/>
        </p:spPr>
      </p:sp>
      <p:sp>
        <p:nvSpPr>
          <p:cNvPr id="253" name="Shape 212"/>
          <p:cNvSpPr/>
          <p:nvPr/>
        </p:nvSpPr>
        <p:spPr>
          <a:xfrm>
            <a:off x="14277975" y="1695450"/>
            <a:ext cx="2762250" cy="582930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254" name="Text 213"/>
          <p:cNvSpPr/>
          <p:nvPr/>
        </p:nvSpPr>
        <p:spPr>
          <a:xfrm>
            <a:off x="14506575" y="1828800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255" name="Image 3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3475" y="1852612"/>
            <a:ext cx="161925" cy="104775"/>
          </a:xfrm>
          <a:prstGeom prst="rect">
            <a:avLst/>
          </a:prstGeom>
        </p:spPr>
      </p:pic>
      <p:pic>
        <p:nvPicPr>
          <p:cNvPr id="256" name="Image 4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3025" y="1852612"/>
            <a:ext cx="228600" cy="104775"/>
          </a:xfrm>
          <a:prstGeom prst="rect">
            <a:avLst/>
          </a:prstGeom>
        </p:spPr>
      </p:pic>
      <p:sp>
        <p:nvSpPr>
          <p:cNvPr id="257" name="Shape 214"/>
          <p:cNvSpPr/>
          <p:nvPr/>
        </p:nvSpPr>
        <p:spPr>
          <a:xfrm>
            <a:off x="14468475" y="2247900"/>
            <a:ext cx="1334393" cy="200025"/>
          </a:xfrm>
          <a:prstGeom prst="roundRect">
            <a:avLst>
              <a:gd name="adj" fmla="val 50000"/>
            </a:avLst>
          </a:prstGeom>
          <a:solidFill>
            <a:srgbClr val="551321"/>
          </a:solidFill>
          <a:ln/>
        </p:spPr>
      </p:sp>
      <p:sp>
        <p:nvSpPr>
          <p:cNvPr id="258" name="Text 215"/>
          <p:cNvSpPr/>
          <p:nvPr/>
        </p:nvSpPr>
        <p:spPr>
          <a:xfrm>
            <a:off x="14563725" y="2286000"/>
            <a:ext cx="12200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 RESULT</a:t>
            </a:r>
            <a:endParaRPr lang="en-US" sz="825" dirty="0"/>
          </a:p>
        </p:txBody>
      </p:sp>
      <p:sp>
        <p:nvSpPr>
          <p:cNvPr id="259" name="Text 216"/>
          <p:cNvSpPr/>
          <p:nvPr/>
        </p:nvSpPr>
        <p:spPr>
          <a:xfrm>
            <a:off x="14468475" y="2581275"/>
            <a:ext cx="24574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21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오늘의 케미 결과가 도착했어요.</a:t>
            </a:r>
            <a:endParaRPr lang="en-US" sz="2100" dirty="0"/>
          </a:p>
        </p:txBody>
      </p:sp>
      <p:sp>
        <p:nvSpPr>
          <p:cNvPr id="260" name="Text 217"/>
          <p:cNvSpPr/>
          <p:nvPr/>
        </p:nvSpPr>
        <p:spPr>
          <a:xfrm>
            <a:off x="14468475" y="3297436"/>
            <a:ext cx="2457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상호 선택된 캐릭터의 실명과 연락처가 공개돼요.</a:t>
            </a:r>
            <a:endParaRPr lang="en-US" sz="975" dirty="0"/>
          </a:p>
        </p:txBody>
      </p:sp>
      <p:sp>
        <p:nvSpPr>
          <p:cNvPr id="261" name="Shape 218"/>
          <p:cNvSpPr/>
          <p:nvPr/>
        </p:nvSpPr>
        <p:spPr>
          <a:xfrm>
            <a:off x="14468475" y="3592711"/>
            <a:ext cx="2381250" cy="3381375"/>
          </a:xfrm>
          <a:prstGeom prst="roundRect">
            <a:avLst>
              <a:gd name="adj" fmla="val 11200"/>
            </a:avLst>
          </a:prstGeom>
          <a:solidFill>
            <a:srgbClr val="551321"/>
          </a:solidFill>
          <a:ln/>
        </p:spPr>
      </p:sp>
      <p:sp>
        <p:nvSpPr>
          <p:cNvPr id="262" name="Shape 219"/>
          <p:cNvSpPr/>
          <p:nvPr/>
        </p:nvSpPr>
        <p:spPr>
          <a:xfrm>
            <a:off x="15325725" y="3116461"/>
            <a:ext cx="1905000" cy="1905000"/>
          </a:xfrm>
          <a:prstGeom prst="ellipse">
            <a:avLst/>
          </a:prstGeom>
          <a:ln w="9525">
            <a:solidFill>
              <a:srgbClr val="F5DFA8">
                <a:alpha val="18000"/>
              </a:srgbClr>
            </a:solidFill>
            <a:prstDash val="solid"/>
          </a:ln>
        </p:spPr>
      </p:sp>
      <p:sp>
        <p:nvSpPr>
          <p:cNvPr id="263" name="Text 220"/>
          <p:cNvSpPr/>
          <p:nvPr/>
        </p:nvSpPr>
        <p:spPr>
          <a:xfrm>
            <a:off x="14658975" y="3821311"/>
            <a:ext cx="20764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kern="0" spc="90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MATCH</a:t>
            </a:r>
            <a:endParaRPr lang="en-US" sz="750" dirty="0"/>
          </a:p>
        </p:txBody>
      </p:sp>
      <p:sp>
        <p:nvSpPr>
          <p:cNvPr id="264" name="Shape 221"/>
          <p:cNvSpPr/>
          <p:nvPr/>
        </p:nvSpPr>
        <p:spPr>
          <a:xfrm>
            <a:off x="14658975" y="4068961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5DFA8">
                <a:alpha val="35000"/>
              </a:srgbClr>
            </a:solidFill>
            <a:prstDash val="solid"/>
          </a:ln>
        </p:spPr>
      </p:sp>
      <p:sp>
        <p:nvSpPr>
          <p:cNvPr id="265" name="Text 222"/>
          <p:cNvSpPr/>
          <p:nvPr/>
        </p:nvSpPr>
        <p:spPr>
          <a:xfrm>
            <a:off x="14853940" y="4197548"/>
            <a:ext cx="2196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-18" dirty="0">
                <a:solidFill>
                  <a:srgbClr val="F5D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pic>
        <p:nvPicPr>
          <p:cNvPr id="266" name="Image 4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306675" y="4202311"/>
            <a:ext cx="209550" cy="209550"/>
          </a:xfrm>
          <a:prstGeom prst="rect">
            <a:avLst/>
          </a:prstGeom>
        </p:spPr>
      </p:pic>
      <p:sp>
        <p:nvSpPr>
          <p:cNvPr id="267" name="Shape 223"/>
          <p:cNvSpPr/>
          <p:nvPr/>
        </p:nvSpPr>
        <p:spPr>
          <a:xfrm>
            <a:off x="15630525" y="4068961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5DFA8">
                <a:alpha val="35000"/>
              </a:srgbClr>
            </a:solidFill>
            <a:prstDash val="solid"/>
          </a:ln>
        </p:spPr>
      </p:sp>
      <p:sp>
        <p:nvSpPr>
          <p:cNvPr id="268" name="Text 224"/>
          <p:cNvSpPr/>
          <p:nvPr/>
        </p:nvSpPr>
        <p:spPr>
          <a:xfrm>
            <a:off x="15841266" y="4197548"/>
            <a:ext cx="18811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-18" dirty="0">
                <a:solidFill>
                  <a:srgbClr val="F5D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269" name="Text 225"/>
          <p:cNvSpPr/>
          <p:nvPr/>
        </p:nvSpPr>
        <p:spPr>
          <a:xfrm>
            <a:off x="14658975" y="4735711"/>
            <a:ext cx="20764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-18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티라미수 ↔ 소금빵</a:t>
            </a:r>
            <a:endParaRPr lang="en-US" sz="1800" dirty="0"/>
          </a:p>
        </p:txBody>
      </p:sp>
      <p:sp>
        <p:nvSpPr>
          <p:cNvPr id="270" name="Text 226"/>
          <p:cNvSpPr/>
          <p:nvPr/>
        </p:nvSpPr>
        <p:spPr>
          <a:xfrm>
            <a:off x="14658975" y="5107186"/>
            <a:ext cx="20764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5DFA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분 모두 서로를 선택했어요.</a:t>
            </a:r>
            <a:endParaRPr lang="en-US" sz="900" dirty="0"/>
          </a:p>
        </p:txBody>
      </p:sp>
      <p:sp>
        <p:nvSpPr>
          <p:cNvPr id="271" name="Shape 227"/>
          <p:cNvSpPr/>
          <p:nvPr/>
        </p:nvSpPr>
        <p:spPr>
          <a:xfrm>
            <a:off x="14658975" y="5411986"/>
            <a:ext cx="2000250" cy="1333500"/>
          </a:xfrm>
          <a:prstGeom prst="roundRect">
            <a:avLst>
              <a:gd name="adj" fmla="val 10000"/>
            </a:avLst>
          </a:prstGeom>
          <a:solidFill>
            <a:srgbClr val="000000">
              <a:alpha val="18000"/>
            </a:srgbClr>
          </a:solidFill>
          <a:ln w="9525">
            <a:solidFill>
              <a:srgbClr val="F5DFA8">
                <a:alpha val="25000"/>
              </a:srgbClr>
            </a:solidFill>
            <a:prstDash val="solid"/>
          </a:ln>
        </p:spPr>
      </p:sp>
      <p:sp>
        <p:nvSpPr>
          <p:cNvPr id="272" name="Text 228"/>
          <p:cNvSpPr/>
          <p:nvPr/>
        </p:nvSpPr>
        <p:spPr>
          <a:xfrm>
            <a:off x="14801850" y="5554861"/>
            <a:ext cx="17907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5DFA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</a:t>
            </a:r>
            <a:endParaRPr lang="en-US" sz="825" dirty="0"/>
          </a:p>
        </p:txBody>
      </p:sp>
      <p:sp>
        <p:nvSpPr>
          <p:cNvPr id="273" name="Text 229"/>
          <p:cNvSpPr/>
          <p:nvPr/>
        </p:nvSpPr>
        <p:spPr>
          <a:xfrm>
            <a:off x="14801850" y="5716786"/>
            <a:ext cx="1790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김도현 (1993)</a:t>
            </a:r>
            <a:endParaRPr lang="en-US" sz="1275" dirty="0"/>
          </a:p>
        </p:txBody>
      </p:sp>
      <p:sp>
        <p:nvSpPr>
          <p:cNvPr id="274" name="Text 230"/>
          <p:cNvSpPr/>
          <p:nvPr/>
        </p:nvSpPr>
        <p:spPr>
          <a:xfrm>
            <a:off x="14801850" y="5983486"/>
            <a:ext cx="17907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010-0000-0000</a:t>
            </a:r>
            <a:endParaRPr lang="en-US" sz="975" dirty="0"/>
          </a:p>
        </p:txBody>
      </p:sp>
      <p:sp>
        <p:nvSpPr>
          <p:cNvPr id="275" name="Shape 231"/>
          <p:cNvSpPr/>
          <p:nvPr/>
        </p:nvSpPr>
        <p:spPr>
          <a:xfrm>
            <a:off x="14801850" y="6240661"/>
            <a:ext cx="809625" cy="361950"/>
          </a:xfrm>
          <a:prstGeom prst="roundRect">
            <a:avLst>
              <a:gd name="adj" fmla="val 31579"/>
            </a:avLst>
          </a:prstGeom>
          <a:solidFill>
            <a:srgbClr val="9D0E22"/>
          </a:solidFill>
          <a:ln/>
        </p:spPr>
      </p:sp>
      <p:sp>
        <p:nvSpPr>
          <p:cNvPr id="276" name="Text 232"/>
          <p:cNvSpPr/>
          <p:nvPr/>
        </p:nvSpPr>
        <p:spPr>
          <a:xfrm>
            <a:off x="14897100" y="6269236"/>
            <a:ext cx="6191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kern="0" spc="-1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 복사</a:t>
            </a:r>
            <a:endParaRPr lang="en-US" sz="1050" dirty="0"/>
          </a:p>
        </p:txBody>
      </p:sp>
      <p:sp>
        <p:nvSpPr>
          <p:cNvPr id="277" name="Shape 233"/>
          <p:cNvSpPr/>
          <p:nvPr/>
        </p:nvSpPr>
        <p:spPr>
          <a:xfrm>
            <a:off x="15687675" y="6240661"/>
            <a:ext cx="828675" cy="361950"/>
          </a:xfrm>
          <a:prstGeom prst="roundRect">
            <a:avLst>
              <a:gd name="adj" fmla="val 31579"/>
            </a:avLst>
          </a:prstGeom>
          <a:solidFill>
            <a:srgbClr val="9D0E22"/>
          </a:solidFill>
          <a:ln w="9525">
            <a:solidFill>
              <a:srgbClr val="F5DFA8">
                <a:alpha val="35000"/>
              </a:srgbClr>
            </a:solidFill>
            <a:prstDash val="solid"/>
          </a:ln>
        </p:spPr>
      </p:sp>
      <p:sp>
        <p:nvSpPr>
          <p:cNvPr id="278" name="Text 234"/>
          <p:cNvSpPr/>
          <p:nvPr/>
        </p:nvSpPr>
        <p:spPr>
          <a:xfrm>
            <a:off x="15792450" y="6269236"/>
            <a:ext cx="6191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kern="0" spc="-11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카톡 안내 받기</a:t>
            </a:r>
            <a:endParaRPr lang="en-US" sz="1050" dirty="0"/>
          </a:p>
        </p:txBody>
      </p:sp>
      <p:sp>
        <p:nvSpPr>
          <p:cNvPr id="279" name="Text 235"/>
          <p:cNvSpPr/>
          <p:nvPr/>
        </p:nvSpPr>
        <p:spPr>
          <a:xfrm>
            <a:off x="14468475" y="7221736"/>
            <a:ext cx="8036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단방향 선택</a:t>
            </a:r>
            <a:endParaRPr lang="en-US" sz="1275" dirty="0"/>
          </a:p>
        </p:txBody>
      </p:sp>
      <p:sp>
        <p:nvSpPr>
          <p:cNvPr id="280" name="Shape 236"/>
          <p:cNvSpPr/>
          <p:nvPr/>
        </p:nvSpPr>
        <p:spPr>
          <a:xfrm>
            <a:off x="14468475" y="7526536"/>
            <a:ext cx="2381250" cy="952500"/>
          </a:xfrm>
          <a:prstGeom prst="roundRect">
            <a:avLst>
              <a:gd name="adj" fmla="val 22000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281" name="Shape 237"/>
          <p:cNvSpPr/>
          <p:nvPr/>
        </p:nvSpPr>
        <p:spPr>
          <a:xfrm>
            <a:off x="14649450" y="7793236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F1E3D0"/>
          </a:solidFill>
          <a:ln/>
        </p:spPr>
      </p:sp>
      <p:sp>
        <p:nvSpPr>
          <p:cNvPr id="282" name="Text 238"/>
          <p:cNvSpPr/>
          <p:nvPr/>
        </p:nvSpPr>
        <p:spPr>
          <a:xfrm>
            <a:off x="14794706" y="7888486"/>
            <a:ext cx="2046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-15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500" dirty="0"/>
          </a:p>
        </p:txBody>
      </p:sp>
      <p:sp>
        <p:nvSpPr>
          <p:cNvPr id="283" name="Text 239"/>
          <p:cNvSpPr/>
          <p:nvPr/>
        </p:nvSpPr>
        <p:spPr>
          <a:xfrm>
            <a:off x="15182850" y="7707511"/>
            <a:ext cx="1562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크루아상님이 회원님을 선택했어요</a:t>
            </a:r>
            <a:endParaRPr lang="en-US" sz="1050" dirty="0"/>
          </a:p>
        </p:txBody>
      </p:sp>
      <p:sp>
        <p:nvSpPr>
          <p:cNvPr id="284" name="Text 240"/>
          <p:cNvSpPr/>
          <p:nvPr/>
        </p:nvSpPr>
        <p:spPr>
          <a:xfrm>
            <a:off x="15182850" y="8031361"/>
            <a:ext cx="15621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회원님은 다른 분을 선택하셔서 연락처는 공개되지 않아요.</a:t>
            </a:r>
            <a:endParaRPr lang="en-US" sz="900" dirty="0"/>
          </a:p>
        </p:txBody>
      </p:sp>
      <p:sp>
        <p:nvSpPr>
          <p:cNvPr id="285" name="Text 241"/>
          <p:cNvSpPr/>
          <p:nvPr/>
        </p:nvSpPr>
        <p:spPr>
          <a:xfrm>
            <a:off x="14468475" y="8745736"/>
            <a:ext cx="11159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케미 기록</a:t>
            </a:r>
            <a:endParaRPr lang="en-US" sz="1275" dirty="0"/>
          </a:p>
        </p:txBody>
      </p:sp>
      <p:sp>
        <p:nvSpPr>
          <p:cNvPr id="286" name="Shape 242"/>
          <p:cNvSpPr/>
          <p:nvPr/>
        </p:nvSpPr>
        <p:spPr>
          <a:xfrm>
            <a:off x="14468475" y="9050536"/>
            <a:ext cx="2381250" cy="1343025"/>
          </a:xfrm>
          <a:prstGeom prst="roundRect">
            <a:avLst>
              <a:gd name="adj" fmla="val 15603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pic>
        <p:nvPicPr>
          <p:cNvPr id="287" name="Image 4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649450" y="9231511"/>
            <a:ext cx="209550" cy="209550"/>
          </a:xfrm>
          <a:prstGeom prst="rect">
            <a:avLst/>
          </a:prstGeom>
        </p:spPr>
      </p:pic>
      <p:sp>
        <p:nvSpPr>
          <p:cNvPr id="288" name="Text 243"/>
          <p:cNvSpPr/>
          <p:nvPr/>
        </p:nvSpPr>
        <p:spPr>
          <a:xfrm>
            <a:off x="14973300" y="9231511"/>
            <a:ext cx="17716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8기 케미 리포트</a:t>
            </a:r>
            <a:endParaRPr lang="en-US" sz="1050" dirty="0"/>
          </a:p>
        </p:txBody>
      </p:sp>
      <p:sp>
        <p:nvSpPr>
          <p:cNvPr id="289" name="Text 244"/>
          <p:cNvSpPr/>
          <p:nvPr/>
        </p:nvSpPr>
        <p:spPr>
          <a:xfrm>
            <a:off x="14973300" y="9412486"/>
            <a:ext cx="1771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패턴, 선택의 흐름, 케미 키워드를 정리한 개인 리포트를 받아보세요.</a:t>
            </a:r>
            <a:endParaRPr lang="en-US" sz="900" dirty="0"/>
          </a:p>
        </p:txBody>
      </p:sp>
      <p:sp>
        <p:nvSpPr>
          <p:cNvPr id="290" name="Shape 245"/>
          <p:cNvSpPr/>
          <p:nvPr/>
        </p:nvSpPr>
        <p:spPr>
          <a:xfrm>
            <a:off x="14973300" y="9850636"/>
            <a:ext cx="866626" cy="361950"/>
          </a:xfrm>
          <a:prstGeom prst="roundRect">
            <a:avLst>
              <a:gd name="adj" fmla="val 31579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291" name="Text 246"/>
          <p:cNvSpPr/>
          <p:nvPr/>
        </p:nvSpPr>
        <p:spPr>
          <a:xfrm>
            <a:off x="15068550" y="9955411"/>
            <a:ext cx="6761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 열기</a:t>
            </a:r>
            <a:endParaRPr lang="en-US" sz="1050" dirty="0"/>
          </a:p>
        </p:txBody>
      </p:sp>
      <p:sp>
        <p:nvSpPr>
          <p:cNvPr id="292" name="Text 247"/>
          <p:cNvSpPr/>
          <p:nvPr/>
        </p:nvSpPr>
        <p:spPr>
          <a:xfrm>
            <a:off x="14468475" y="10660261"/>
            <a:ext cx="8036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후기 남기기</a:t>
            </a:r>
            <a:endParaRPr lang="en-US" sz="1275" dirty="0"/>
          </a:p>
        </p:txBody>
      </p:sp>
      <p:sp>
        <p:nvSpPr>
          <p:cNvPr id="293" name="Shape 248"/>
          <p:cNvSpPr/>
          <p:nvPr/>
        </p:nvSpPr>
        <p:spPr>
          <a:xfrm>
            <a:off x="14468475" y="10965061"/>
            <a:ext cx="1148953" cy="476250"/>
          </a:xfrm>
          <a:prstGeom prst="roundRect">
            <a:avLst>
              <a:gd name="adj" fmla="val 36000"/>
            </a:avLst>
          </a:prstGeom>
          <a:solidFill>
            <a:srgbClr val="9D0E22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294" name="Text 249"/>
          <p:cNvSpPr/>
          <p:nvPr/>
        </p:nvSpPr>
        <p:spPr>
          <a:xfrm>
            <a:off x="14727138" y="11112698"/>
            <a:ext cx="63162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b="1" kern="0" spc="-12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 후기</a:t>
            </a:r>
            <a:endParaRPr lang="en-US" sz="1200" dirty="0"/>
          </a:p>
        </p:txBody>
      </p:sp>
      <p:sp>
        <p:nvSpPr>
          <p:cNvPr id="295" name="Shape 250"/>
          <p:cNvSpPr/>
          <p:nvPr/>
        </p:nvSpPr>
        <p:spPr>
          <a:xfrm>
            <a:off x="15712678" y="10965061"/>
            <a:ext cx="1137047" cy="476250"/>
          </a:xfrm>
          <a:prstGeom prst="roundRect">
            <a:avLst>
              <a:gd name="adj" fmla="val 36000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296" name="Text 251"/>
          <p:cNvSpPr/>
          <p:nvPr/>
        </p:nvSpPr>
        <p:spPr>
          <a:xfrm>
            <a:off x="15900202" y="11112698"/>
            <a:ext cx="76185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b="1" kern="0" spc="-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데이트 후기</a:t>
            </a:r>
            <a:endParaRPr lang="en-US" sz="1200" dirty="0"/>
          </a:p>
        </p:txBody>
      </p:sp>
      <p:sp>
        <p:nvSpPr>
          <p:cNvPr id="297" name="Shape 252"/>
          <p:cNvSpPr/>
          <p:nvPr/>
        </p:nvSpPr>
        <p:spPr>
          <a:xfrm>
            <a:off x="14277975" y="6781800"/>
            <a:ext cx="2762250" cy="742950"/>
          </a:xfrm>
          <a:prstGeom prst="rect">
            <a:avLst/>
          </a:prstGeom>
          <a:solidFill>
            <a:srgbClr val="FFF7EC">
              <a:alpha val="92000"/>
            </a:srgbClr>
          </a:solidFill>
          <a:ln/>
        </p:spPr>
      </p:sp>
      <p:sp>
        <p:nvSpPr>
          <p:cNvPr id="298" name="Shape 253"/>
          <p:cNvSpPr/>
          <p:nvPr/>
        </p:nvSpPr>
        <p:spPr>
          <a:xfrm>
            <a:off x="14277975" y="6781800"/>
            <a:ext cx="276225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299" name="Image 4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49425" y="6886575"/>
            <a:ext cx="209550" cy="209550"/>
          </a:xfrm>
          <a:prstGeom prst="rect">
            <a:avLst/>
          </a:prstGeom>
        </p:spPr>
      </p:pic>
      <p:sp>
        <p:nvSpPr>
          <p:cNvPr id="300" name="Text 254"/>
          <p:cNvSpPr/>
          <p:nvPr/>
        </p:nvSpPr>
        <p:spPr>
          <a:xfrm>
            <a:off x="14508807" y="7134225"/>
            <a:ext cx="1668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825" dirty="0"/>
          </a:p>
        </p:txBody>
      </p:sp>
      <p:pic>
        <p:nvPicPr>
          <p:cNvPr id="301" name="Image 4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001875" y="6886575"/>
            <a:ext cx="209550" cy="209550"/>
          </a:xfrm>
          <a:prstGeom prst="rect">
            <a:avLst/>
          </a:prstGeom>
        </p:spPr>
      </p:pic>
      <p:sp>
        <p:nvSpPr>
          <p:cNvPr id="302" name="Text 255"/>
          <p:cNvSpPr/>
          <p:nvPr/>
        </p:nvSpPr>
        <p:spPr>
          <a:xfrm>
            <a:off x="15016014" y="7134225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</a:t>
            </a:r>
            <a:endParaRPr lang="en-US" sz="825" dirty="0"/>
          </a:p>
        </p:txBody>
      </p:sp>
      <p:pic>
        <p:nvPicPr>
          <p:cNvPr id="303" name="Image 4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54325" y="6886575"/>
            <a:ext cx="209550" cy="209550"/>
          </a:xfrm>
          <a:prstGeom prst="rect">
            <a:avLst/>
          </a:prstGeom>
        </p:spPr>
      </p:pic>
      <p:sp>
        <p:nvSpPr>
          <p:cNvPr id="304" name="Text 256"/>
          <p:cNvSpPr/>
          <p:nvPr/>
        </p:nvSpPr>
        <p:spPr>
          <a:xfrm>
            <a:off x="15480655" y="7134225"/>
            <a:ext cx="43309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</a:t>
            </a:r>
            <a:endParaRPr lang="en-US" sz="825" dirty="0"/>
          </a:p>
        </p:txBody>
      </p:sp>
      <p:pic>
        <p:nvPicPr>
          <p:cNvPr id="305" name="Image 4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106775" y="6886575"/>
            <a:ext cx="209550" cy="209550"/>
          </a:xfrm>
          <a:prstGeom prst="rect">
            <a:avLst/>
          </a:prstGeom>
        </p:spPr>
      </p:pic>
      <p:sp>
        <p:nvSpPr>
          <p:cNvPr id="306" name="Text 257"/>
          <p:cNvSpPr/>
          <p:nvPr/>
        </p:nvSpPr>
        <p:spPr>
          <a:xfrm>
            <a:off x="16075670" y="7134225"/>
            <a:ext cx="3479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오브닝</a:t>
            </a:r>
            <a:endParaRPr lang="en-US" sz="825" dirty="0"/>
          </a:p>
        </p:txBody>
      </p:sp>
      <p:pic>
        <p:nvPicPr>
          <p:cNvPr id="307" name="Image 4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659225" y="6886575"/>
            <a:ext cx="209550" cy="209550"/>
          </a:xfrm>
          <a:prstGeom prst="rect">
            <a:avLst/>
          </a:prstGeom>
        </p:spPr>
      </p:pic>
      <p:sp>
        <p:nvSpPr>
          <p:cNvPr id="308" name="Text 258"/>
          <p:cNvSpPr/>
          <p:nvPr/>
        </p:nvSpPr>
        <p:spPr>
          <a:xfrm>
            <a:off x="16673364" y="7134225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</a:t>
            </a:r>
            <a:endParaRPr lang="en-US" sz="825" dirty="0"/>
          </a:p>
        </p:txBody>
      </p:sp>
      <p:sp>
        <p:nvSpPr>
          <p:cNvPr id="309" name="Shape 259"/>
          <p:cNvSpPr/>
          <p:nvPr/>
        </p:nvSpPr>
        <p:spPr>
          <a:xfrm>
            <a:off x="15020925" y="7400925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310" name="Text 260"/>
          <p:cNvSpPr/>
          <p:nvPr/>
        </p:nvSpPr>
        <p:spPr>
          <a:xfrm>
            <a:off x="15357053" y="7734300"/>
            <a:ext cx="6040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5" b="1" kern="0" spc="83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5</a:t>
            </a:r>
            <a:endParaRPr lang="en-US" sz="825" dirty="0"/>
          </a:p>
        </p:txBody>
      </p:sp>
      <p:sp>
        <p:nvSpPr>
          <p:cNvPr id="311" name="Text 261"/>
          <p:cNvSpPr/>
          <p:nvPr/>
        </p:nvSpPr>
        <p:spPr>
          <a:xfrm>
            <a:off x="15395153" y="7896225"/>
            <a:ext cx="6040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결과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102508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235858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207283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207283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340633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364446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364446"/>
            <a:ext cx="228600" cy="1047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524000" y="759733"/>
            <a:ext cx="689074" cy="200025"/>
          </a:xfrm>
          <a:prstGeom prst="roundRect">
            <a:avLst>
              <a:gd name="adj" fmla="val 50000"/>
            </a:avLst>
          </a:prstGeom>
          <a:solidFill>
            <a:srgbClr val="551321"/>
          </a:solidFill>
          <a:ln/>
        </p:spPr>
      </p:sp>
      <p:sp>
        <p:nvSpPr>
          <p:cNvPr id="10" name="Text 6"/>
          <p:cNvSpPr/>
          <p:nvPr/>
        </p:nvSpPr>
        <p:spPr>
          <a:xfrm>
            <a:off x="1619250" y="797833"/>
            <a:ext cx="57477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</a:t>
            </a:r>
            <a:endParaRPr lang="en-US" sz="825" dirty="0"/>
          </a:p>
        </p:txBody>
      </p:sp>
      <p:sp>
        <p:nvSpPr>
          <p:cNvPr id="11" name="Text 7"/>
          <p:cNvSpPr/>
          <p:nvPr/>
        </p:nvSpPr>
        <p:spPr>
          <a:xfrm>
            <a:off x="2289274" y="797833"/>
            <a:ext cx="5487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02:14 남음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5146328" y="797833"/>
            <a:ext cx="64487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좌석 B 테이블</a:t>
            </a:r>
            <a:endParaRPr lang="en-US" sz="825" dirty="0"/>
          </a:p>
        </p:txBody>
      </p:sp>
      <p:sp>
        <p:nvSpPr>
          <p:cNvPr id="13" name="Text 9"/>
          <p:cNvSpPr/>
          <p:nvPr/>
        </p:nvSpPr>
        <p:spPr>
          <a:xfrm>
            <a:off x="1524000" y="1093108"/>
            <a:ext cx="431673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21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첫인상이 가장 인상 깊었던 분은?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1524000" y="1790219"/>
            <a:ext cx="43167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1명을 선택해주세요. 중간에 한 번 더 수정할 수 있어요.</a:t>
            </a:r>
            <a:endParaRPr lang="en-US" sz="975" dirty="0"/>
          </a:p>
        </p:txBody>
      </p:sp>
      <p:sp>
        <p:nvSpPr>
          <p:cNvPr id="15" name="Shape 11"/>
          <p:cNvSpPr/>
          <p:nvPr/>
        </p:nvSpPr>
        <p:spPr>
          <a:xfrm>
            <a:off x="1524000" y="2085494"/>
            <a:ext cx="2038350" cy="1323975"/>
          </a:xfrm>
          <a:prstGeom prst="roundRect">
            <a:avLst>
              <a:gd name="adj" fmla="val 14388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685925" y="2256944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17" name="Text 13"/>
          <p:cNvSpPr/>
          <p:nvPr/>
        </p:nvSpPr>
        <p:spPr>
          <a:xfrm>
            <a:off x="1834158" y="2347431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크</a:t>
            </a:r>
            <a:endParaRPr lang="en-US" sz="1950" dirty="0"/>
          </a:p>
        </p:txBody>
      </p:sp>
      <p:sp>
        <p:nvSpPr>
          <p:cNvPr id="18" name="Text 14"/>
          <p:cNvSpPr/>
          <p:nvPr/>
        </p:nvSpPr>
        <p:spPr>
          <a:xfrm>
            <a:off x="1685925" y="2904644"/>
            <a:ext cx="1790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크루아상</a:t>
            </a:r>
            <a:endParaRPr lang="en-US" sz="1125" dirty="0"/>
          </a:p>
        </p:txBody>
      </p:sp>
      <p:sp>
        <p:nvSpPr>
          <p:cNvPr id="19" name="Text 15"/>
          <p:cNvSpPr/>
          <p:nvPr/>
        </p:nvSpPr>
        <p:spPr>
          <a:xfrm>
            <a:off x="1685925" y="3114194"/>
            <a:ext cx="17907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담백 · 신사</a:t>
            </a:r>
            <a:endParaRPr lang="en-US" sz="825" dirty="0"/>
          </a:p>
        </p:txBody>
      </p:sp>
      <p:sp>
        <p:nvSpPr>
          <p:cNvPr id="20" name="Shape 16"/>
          <p:cNvSpPr/>
          <p:nvPr/>
        </p:nvSpPr>
        <p:spPr>
          <a:xfrm>
            <a:off x="3676650" y="2085494"/>
            <a:ext cx="2038350" cy="1323975"/>
          </a:xfrm>
          <a:prstGeom prst="roundRect">
            <a:avLst>
              <a:gd name="adj" fmla="val 14388"/>
            </a:avLst>
          </a:prstGeom>
          <a:solidFill>
            <a:srgbClr val="7A1F2B"/>
          </a:solidFill>
          <a:ln w="19050">
            <a:solidFill>
              <a:srgbClr val="F5DFA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848100" y="2256944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5DFA8">
              <a:alpha val="18000"/>
            </a:srgbClr>
          </a:solidFill>
          <a:ln w="9525">
            <a:solidFill>
              <a:srgbClr val="F5DFA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96333" y="2347431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F5D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소</a:t>
            </a:r>
            <a:endParaRPr lang="en-US" sz="1950" dirty="0"/>
          </a:p>
        </p:txBody>
      </p:sp>
      <p:sp>
        <p:nvSpPr>
          <p:cNvPr id="23" name="Text 19"/>
          <p:cNvSpPr/>
          <p:nvPr/>
        </p:nvSpPr>
        <p:spPr>
          <a:xfrm>
            <a:off x="3848100" y="2904644"/>
            <a:ext cx="1771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소금빵</a:t>
            </a:r>
            <a:endParaRPr lang="en-US" sz="1125" dirty="0"/>
          </a:p>
        </p:txBody>
      </p:sp>
      <p:sp>
        <p:nvSpPr>
          <p:cNvPr id="24" name="Text 20"/>
          <p:cNvSpPr/>
          <p:nvPr/>
        </p:nvSpPr>
        <p:spPr>
          <a:xfrm>
            <a:off x="3848100" y="3114194"/>
            <a:ext cx="17716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다정 · 은은</a:t>
            </a:r>
            <a:endParaRPr lang="en-US" sz="825" dirty="0"/>
          </a:p>
        </p:txBody>
      </p:sp>
      <p:sp>
        <p:nvSpPr>
          <p:cNvPr id="25" name="Shape 21"/>
          <p:cNvSpPr/>
          <p:nvPr/>
        </p:nvSpPr>
        <p:spPr>
          <a:xfrm>
            <a:off x="5334000" y="2218844"/>
            <a:ext cx="247650" cy="247650"/>
          </a:xfrm>
          <a:prstGeom prst="ellipse">
            <a:avLst/>
          </a:prstGeom>
          <a:solidFill>
            <a:srgbClr val="F5DFA8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150" y="2275994"/>
            <a:ext cx="133350" cy="13335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524000" y="3523769"/>
            <a:ext cx="2038350" cy="1304925"/>
          </a:xfrm>
          <a:prstGeom prst="roundRect">
            <a:avLst>
              <a:gd name="adj" fmla="val 14599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685925" y="3685694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29" name="Text 24"/>
          <p:cNvSpPr/>
          <p:nvPr/>
        </p:nvSpPr>
        <p:spPr>
          <a:xfrm>
            <a:off x="1834158" y="3776181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단</a:t>
            </a:r>
            <a:endParaRPr lang="en-US" sz="1950" dirty="0"/>
          </a:p>
        </p:txBody>
      </p:sp>
      <p:sp>
        <p:nvSpPr>
          <p:cNvPr id="30" name="Text 25"/>
          <p:cNvSpPr/>
          <p:nvPr/>
        </p:nvSpPr>
        <p:spPr>
          <a:xfrm>
            <a:off x="1685925" y="4333394"/>
            <a:ext cx="1790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단팥빵</a:t>
            </a:r>
            <a:endParaRPr lang="en-US" sz="1125" dirty="0"/>
          </a:p>
        </p:txBody>
      </p:sp>
      <p:sp>
        <p:nvSpPr>
          <p:cNvPr id="31" name="Text 26"/>
          <p:cNvSpPr/>
          <p:nvPr/>
        </p:nvSpPr>
        <p:spPr>
          <a:xfrm>
            <a:off x="1685925" y="4542944"/>
            <a:ext cx="17907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든든 · 한결같음</a:t>
            </a:r>
            <a:endParaRPr lang="en-US" sz="825" dirty="0"/>
          </a:p>
        </p:txBody>
      </p:sp>
      <p:sp>
        <p:nvSpPr>
          <p:cNvPr id="32" name="Shape 27"/>
          <p:cNvSpPr/>
          <p:nvPr/>
        </p:nvSpPr>
        <p:spPr>
          <a:xfrm>
            <a:off x="3676650" y="3523769"/>
            <a:ext cx="2038350" cy="1304925"/>
          </a:xfrm>
          <a:prstGeom prst="roundRect">
            <a:avLst>
              <a:gd name="adj" fmla="val 14599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838575" y="3685694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1E3D0"/>
          </a:solidFill>
          <a:ln/>
        </p:spPr>
      </p:sp>
      <p:sp>
        <p:nvSpPr>
          <p:cNvPr id="34" name="Text 29"/>
          <p:cNvSpPr/>
          <p:nvPr/>
        </p:nvSpPr>
        <p:spPr>
          <a:xfrm>
            <a:off x="3986808" y="3776181"/>
            <a:ext cx="3129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-19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에</a:t>
            </a:r>
            <a:endParaRPr lang="en-US" sz="1950" dirty="0"/>
          </a:p>
        </p:txBody>
      </p:sp>
      <p:sp>
        <p:nvSpPr>
          <p:cNvPr id="35" name="Text 30"/>
          <p:cNvSpPr/>
          <p:nvPr/>
        </p:nvSpPr>
        <p:spPr>
          <a:xfrm>
            <a:off x="3838575" y="4333394"/>
            <a:ext cx="1790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에클레어</a:t>
            </a:r>
            <a:endParaRPr lang="en-US" sz="1125" dirty="0"/>
          </a:p>
        </p:txBody>
      </p:sp>
      <p:sp>
        <p:nvSpPr>
          <p:cNvPr id="36" name="Text 31"/>
          <p:cNvSpPr/>
          <p:nvPr/>
        </p:nvSpPr>
        <p:spPr>
          <a:xfrm>
            <a:off x="3838575" y="4542944"/>
            <a:ext cx="17907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유쾌 · 센스</a:t>
            </a:r>
            <a:endParaRPr lang="en-US" sz="825" dirty="0"/>
          </a:p>
        </p:txBody>
      </p:sp>
      <p:sp>
        <p:nvSpPr>
          <p:cNvPr id="37" name="Shape 32"/>
          <p:cNvSpPr/>
          <p:nvPr/>
        </p:nvSpPr>
        <p:spPr>
          <a:xfrm>
            <a:off x="1524000" y="5000144"/>
            <a:ext cx="4191000" cy="704850"/>
          </a:xfrm>
          <a:prstGeom prst="roundRect">
            <a:avLst>
              <a:gd name="adj" fmla="val 29730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975" y="5266844"/>
            <a:ext cx="148679" cy="17145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948904" y="5181119"/>
            <a:ext cx="36926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 캐릭터는 회차 내에서만 사용되는 이름이에요. 실명은 매칭 결과 단계에서만 공개됩니다.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1524000" y="7398658"/>
            <a:ext cx="4191000" cy="533400"/>
          </a:xfrm>
          <a:prstGeom prst="roundRect">
            <a:avLst>
              <a:gd name="adj" fmla="val 32143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41" name="Text 35"/>
          <p:cNvSpPr/>
          <p:nvPr/>
        </p:nvSpPr>
        <p:spPr>
          <a:xfrm>
            <a:off x="2922091" y="7570108"/>
            <a:ext cx="13948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75" b="1" kern="0" spc="-1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첫인상 선택 제출하기</a:t>
            </a:r>
            <a:endParaRPr lang="en-US" sz="1275" dirty="0"/>
          </a:p>
        </p:txBody>
      </p:sp>
      <p:sp>
        <p:nvSpPr>
          <p:cNvPr id="42" name="Text 36"/>
          <p:cNvSpPr/>
          <p:nvPr/>
        </p:nvSpPr>
        <p:spPr>
          <a:xfrm>
            <a:off x="1461135" y="8008258"/>
            <a:ext cx="43167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후에도 중간 선택 전까지 변경 가능</a:t>
            </a:r>
            <a:endParaRPr lang="en-US" sz="825" dirty="0"/>
          </a:p>
        </p:txBody>
      </p:sp>
      <p:sp>
        <p:nvSpPr>
          <p:cNvPr id="43" name="Shape 37"/>
          <p:cNvSpPr/>
          <p:nvPr/>
        </p:nvSpPr>
        <p:spPr>
          <a:xfrm>
            <a:off x="1333500" y="9084583"/>
            <a:ext cx="4572000" cy="742950"/>
          </a:xfrm>
          <a:prstGeom prst="rect">
            <a:avLst/>
          </a:prstGeom>
          <a:solidFill>
            <a:srgbClr val="FFF7EC">
              <a:alpha val="92000"/>
            </a:srgbClr>
          </a:solidFill>
          <a:ln/>
        </p:spPr>
      </p:sp>
      <p:sp>
        <p:nvSpPr>
          <p:cNvPr id="44" name="Shape 38"/>
          <p:cNvSpPr/>
          <p:nvPr/>
        </p:nvSpPr>
        <p:spPr>
          <a:xfrm>
            <a:off x="1333500" y="9084583"/>
            <a:ext cx="457200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5925" y="9189358"/>
            <a:ext cx="209550" cy="20955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745307" y="9437008"/>
            <a:ext cx="1668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825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0325" y="9189358"/>
            <a:ext cx="209550" cy="20955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2614464" y="9437008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</a:t>
            </a:r>
            <a:endParaRPr lang="en-US" sz="825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4725" y="9189358"/>
            <a:ext cx="209550" cy="20955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3441055" y="9437008"/>
            <a:ext cx="43309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</a:t>
            </a:r>
            <a:endParaRPr lang="en-US" sz="825" dirty="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9125" y="9189358"/>
            <a:ext cx="209550" cy="20955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4398020" y="9437008"/>
            <a:ext cx="3479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오브닝</a:t>
            </a:r>
            <a:endParaRPr lang="en-US" sz="825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3525" y="9189358"/>
            <a:ext cx="209550" cy="209550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5357664" y="9437008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</a:t>
            </a:r>
            <a:endParaRPr lang="en-US" sz="825" dirty="0"/>
          </a:p>
        </p:txBody>
      </p:sp>
      <p:sp>
        <p:nvSpPr>
          <p:cNvPr id="55" name="Shape 44"/>
          <p:cNvSpPr/>
          <p:nvPr/>
        </p:nvSpPr>
        <p:spPr>
          <a:xfrm>
            <a:off x="2981325" y="9703708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56" name="Text 45"/>
          <p:cNvSpPr/>
          <p:nvPr/>
        </p:nvSpPr>
        <p:spPr>
          <a:xfrm>
            <a:off x="7048500" y="2801060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3 · 첫인상 투표</a:t>
            </a:r>
            <a:endParaRPr lang="en-US" sz="1200" dirty="0"/>
          </a:p>
        </p:txBody>
      </p:sp>
      <p:sp>
        <p:nvSpPr>
          <p:cNvPr id="57" name="Text 46"/>
          <p:cNvSpPr/>
          <p:nvPr/>
        </p:nvSpPr>
        <p:spPr>
          <a:xfrm>
            <a:off x="7048500" y="3201110"/>
            <a:ext cx="1059561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캐릭터 닉네임으로 익명 투표.</a:t>
            </a:r>
            <a:endParaRPr lang="en-US" sz="5700" dirty="0"/>
          </a:p>
        </p:txBody>
      </p:sp>
      <p:sp>
        <p:nvSpPr>
          <p:cNvPr id="58" name="Text 47"/>
          <p:cNvSpPr/>
          <p:nvPr/>
        </p:nvSpPr>
        <p:spPr>
          <a:xfrm>
            <a:off x="7048500" y="5003121"/>
            <a:ext cx="706374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실명은 매칭 결과 단계에서만 공개. 라운드 안에선 디저트 캐릭터 이름으로만 진행.</a:t>
            </a:r>
            <a:endParaRPr lang="en-US" sz="1650" dirty="0"/>
          </a:p>
        </p:txBody>
      </p:sp>
      <p:sp>
        <p:nvSpPr>
          <p:cNvPr id="59" name="Text 48"/>
          <p:cNvSpPr/>
          <p:nvPr/>
        </p:nvSpPr>
        <p:spPr>
          <a:xfrm>
            <a:off x="7124700" y="5957405"/>
            <a:ext cx="7404100" cy="2212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2x2 캐릭터 카드 — 선택 시 골드 보더 + 체크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2분 14초 타이머 + 좌석 정보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"중간 선택 전까지 변경 가능" </a:t>
            </a:r>
            <a:r>
              <a:rPr lang="en-US" sz="1500" dirty="0" err="1" smtClean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안내</a:t>
            </a:r>
            <a:endParaRPr lang="en-US" sz="1500" dirty="0" smtClean="0">
              <a:solidFill>
                <a:srgbClr val="3B2A24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ko-KR" altLang="en-US" sz="1500" dirty="0" smtClean="0"/>
              <a:t>선택 시 첫인상과 중간 선택은 </a:t>
            </a:r>
            <a:r>
              <a:rPr lang="ko-KR" altLang="en-US" sz="1500" dirty="0" err="1" smtClean="0"/>
              <a:t>쌍방매칭</a:t>
            </a:r>
            <a:r>
              <a:rPr lang="ko-KR" altLang="en-US" sz="1500" dirty="0" smtClean="0"/>
              <a:t> 시 안내 기능 추가</a:t>
            </a:r>
            <a:r>
              <a:rPr lang="en-US" altLang="ko-KR" sz="1500" dirty="0" smtClean="0"/>
              <a:t>(</a:t>
            </a:r>
            <a:r>
              <a:rPr lang="ko-KR" altLang="en-US" sz="1500" dirty="0" smtClean="0"/>
              <a:t>예 </a:t>
            </a:r>
            <a:r>
              <a:rPr lang="en-US" altLang="ko-KR" sz="1500" dirty="0" smtClean="0"/>
              <a:t>: </a:t>
            </a:r>
            <a:r>
              <a:rPr lang="ko-KR" altLang="en-US" sz="1500" dirty="0" err="1" smtClean="0"/>
              <a:t>케미가</a:t>
            </a:r>
            <a:r>
              <a:rPr lang="ko-KR" altLang="en-US" sz="1500" dirty="0" smtClean="0"/>
              <a:t> 통하였습니다</a:t>
            </a:r>
            <a:r>
              <a:rPr lang="en-US" altLang="ko-KR" sz="1500" dirty="0"/>
              <a:t>)</a:t>
            </a:r>
            <a:endParaRPr lang="en-US" altLang="ko-KR" sz="1500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8725" y="247651"/>
            <a:ext cx="4781550" cy="9829800"/>
          </a:xfrm>
          <a:prstGeom prst="roundRect">
            <a:avLst>
              <a:gd name="adj" fmla="val 10757"/>
            </a:avLst>
          </a:prstGeom>
          <a:solidFill>
            <a:srgbClr val="0F0A07"/>
          </a:solidFill>
          <a:ln/>
          <a:effectLst>
            <a:outerShdw blurRad="952500" dist="476250" dir="5400000" algn="bl" rotWithShape="0">
              <a:srgbClr val="3A1E14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8938" y="381001"/>
            <a:ext cx="1381125" cy="419100"/>
          </a:xfrm>
          <a:prstGeom prst="roundRect">
            <a:avLst>
              <a:gd name="adj" fmla="val 50000"/>
            </a:avLst>
          </a:prstGeom>
          <a:solidFill>
            <a:srgbClr val="0F0A07"/>
          </a:solidFill>
          <a:ln/>
        </p:spPr>
      </p:sp>
      <p:sp>
        <p:nvSpPr>
          <p:cNvPr id="4" name="Shape 2"/>
          <p:cNvSpPr/>
          <p:nvPr/>
        </p:nvSpPr>
        <p:spPr>
          <a:xfrm>
            <a:off x="1333500" y="352426"/>
            <a:ext cx="4572000" cy="9620250"/>
          </a:xfrm>
          <a:prstGeom prst="roundRect">
            <a:avLst>
              <a:gd name="adj" fmla="val 9167"/>
            </a:avLst>
          </a:prstGeom>
          <a:solidFill>
            <a:srgbClr val="FFF7EC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352426"/>
            <a:ext cx="4572000" cy="9620250"/>
          </a:xfrm>
          <a:prstGeom prst="rect">
            <a:avLst/>
          </a:prstGeom>
          <a:solidFill>
            <a:srgbClr val="FFF7EC"/>
          </a:solidFill>
          <a:ln/>
        </p:spPr>
      </p:sp>
      <p:sp>
        <p:nvSpPr>
          <p:cNvPr id="6" name="Text 4"/>
          <p:cNvSpPr/>
          <p:nvPr/>
        </p:nvSpPr>
        <p:spPr>
          <a:xfrm>
            <a:off x="1562100" y="485776"/>
            <a:ext cx="3484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509589"/>
            <a:ext cx="161925" cy="1047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300" y="509589"/>
            <a:ext cx="228600" cy="1047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524000" y="904876"/>
            <a:ext cx="1334393" cy="200025"/>
          </a:xfrm>
          <a:prstGeom prst="roundRect">
            <a:avLst>
              <a:gd name="adj" fmla="val 50000"/>
            </a:avLst>
          </a:prstGeom>
          <a:solidFill>
            <a:srgbClr val="551321"/>
          </a:solidFill>
          <a:ln/>
        </p:spPr>
      </p:sp>
      <p:sp>
        <p:nvSpPr>
          <p:cNvPr id="10" name="Text 6"/>
          <p:cNvSpPr/>
          <p:nvPr/>
        </p:nvSpPr>
        <p:spPr>
          <a:xfrm>
            <a:off x="1619250" y="942976"/>
            <a:ext cx="12200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 RESULT</a:t>
            </a:r>
            <a:endParaRPr lang="en-US" sz="825" dirty="0"/>
          </a:p>
        </p:txBody>
      </p:sp>
      <p:sp>
        <p:nvSpPr>
          <p:cNvPr id="11" name="Text 7"/>
          <p:cNvSpPr/>
          <p:nvPr/>
        </p:nvSpPr>
        <p:spPr>
          <a:xfrm>
            <a:off x="1524000" y="1238251"/>
            <a:ext cx="431673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kern="0" spc="-21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오늘의 케미 결과가 도착했어요.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524000" y="1954412"/>
            <a:ext cx="43167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상호 선택된 캐릭터의 실명과 연락처가 공개돼요.</a:t>
            </a:r>
            <a:endParaRPr lang="en-US" sz="975" dirty="0"/>
          </a:p>
        </p:txBody>
      </p:sp>
      <p:sp>
        <p:nvSpPr>
          <p:cNvPr id="13" name="Shape 9"/>
          <p:cNvSpPr/>
          <p:nvPr/>
        </p:nvSpPr>
        <p:spPr>
          <a:xfrm>
            <a:off x="1524000" y="2249687"/>
            <a:ext cx="4191000" cy="3381375"/>
          </a:xfrm>
          <a:prstGeom prst="roundRect">
            <a:avLst>
              <a:gd name="adj" fmla="val 7887"/>
            </a:avLst>
          </a:prstGeom>
          <a:solidFill>
            <a:srgbClr val="551321"/>
          </a:solidFill>
          <a:ln/>
        </p:spPr>
      </p:sp>
      <p:sp>
        <p:nvSpPr>
          <p:cNvPr id="14" name="Shape 10"/>
          <p:cNvSpPr/>
          <p:nvPr/>
        </p:nvSpPr>
        <p:spPr>
          <a:xfrm>
            <a:off x="4191000" y="1773437"/>
            <a:ext cx="1905000" cy="1905000"/>
          </a:xfrm>
          <a:prstGeom prst="ellipse">
            <a:avLst/>
          </a:prstGeom>
          <a:ln w="9525">
            <a:solidFill>
              <a:srgbClr val="F5DFA8">
                <a:alpha val="18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714500" y="2478287"/>
            <a:ext cx="3924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kern="0" spc="90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MATCH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1714500" y="2725937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5DFA8">
                <a:alpha val="3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909465" y="2854524"/>
            <a:ext cx="2196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-18" dirty="0">
                <a:solidFill>
                  <a:srgbClr val="F5D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0" y="2859287"/>
            <a:ext cx="209550" cy="2095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2686050" y="2725937"/>
            <a:ext cx="533400" cy="533400"/>
          </a:xfrm>
          <a:prstGeom prst="roundRect">
            <a:avLst>
              <a:gd name="adj" fmla="val 2857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5DFA8">
                <a:alpha val="35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896791" y="2854524"/>
            <a:ext cx="18811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-18" dirty="0">
                <a:solidFill>
                  <a:srgbClr val="F5D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14500" y="3392687"/>
            <a:ext cx="3924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-18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티라미수 ↔ 소금빵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714500" y="3764162"/>
            <a:ext cx="39243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5DFA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분 모두 서로를 선택했어요.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1714500" y="4068962"/>
            <a:ext cx="3810000" cy="1333500"/>
          </a:xfrm>
          <a:prstGeom prst="roundRect">
            <a:avLst>
              <a:gd name="adj" fmla="val 10000"/>
            </a:avLst>
          </a:prstGeom>
          <a:solidFill>
            <a:srgbClr val="000000">
              <a:alpha val="18000"/>
            </a:srgbClr>
          </a:solidFill>
          <a:ln w="9525">
            <a:solidFill>
              <a:srgbClr val="F5DFA8">
                <a:alpha val="25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857375" y="4211837"/>
            <a:ext cx="362997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F5DFA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</a:t>
            </a:r>
            <a:endParaRPr lang="en-US" sz="825" dirty="0"/>
          </a:p>
        </p:txBody>
      </p:sp>
      <p:sp>
        <p:nvSpPr>
          <p:cNvPr id="25" name="Text 20"/>
          <p:cNvSpPr/>
          <p:nvPr/>
        </p:nvSpPr>
        <p:spPr>
          <a:xfrm>
            <a:off x="1857375" y="4373762"/>
            <a:ext cx="36299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김도현 (1993)</a:t>
            </a:r>
            <a:endParaRPr lang="en-US" sz="1275" dirty="0"/>
          </a:p>
        </p:txBody>
      </p:sp>
      <p:sp>
        <p:nvSpPr>
          <p:cNvPr id="26" name="Text 21"/>
          <p:cNvSpPr/>
          <p:nvPr/>
        </p:nvSpPr>
        <p:spPr>
          <a:xfrm>
            <a:off x="1857375" y="4640462"/>
            <a:ext cx="362997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010-0000-0000</a:t>
            </a:r>
            <a:endParaRPr lang="en-US" sz="975" dirty="0"/>
          </a:p>
        </p:txBody>
      </p:sp>
      <p:sp>
        <p:nvSpPr>
          <p:cNvPr id="27" name="Shape 22"/>
          <p:cNvSpPr/>
          <p:nvPr/>
        </p:nvSpPr>
        <p:spPr>
          <a:xfrm>
            <a:off x="1857375" y="4897637"/>
            <a:ext cx="1714500" cy="361950"/>
          </a:xfrm>
          <a:prstGeom prst="roundRect">
            <a:avLst>
              <a:gd name="adj" fmla="val 31579"/>
            </a:avLst>
          </a:prstGeom>
          <a:solidFill>
            <a:srgbClr val="9D0E22"/>
          </a:solidFill>
          <a:ln/>
        </p:spPr>
      </p:sp>
      <p:sp>
        <p:nvSpPr>
          <p:cNvPr id="28" name="Text 23"/>
          <p:cNvSpPr/>
          <p:nvPr/>
        </p:nvSpPr>
        <p:spPr>
          <a:xfrm>
            <a:off x="2376488" y="5002412"/>
            <a:ext cx="6761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b="1" kern="0" spc="-1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 복사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648075" y="4897637"/>
            <a:ext cx="1733550" cy="361950"/>
          </a:xfrm>
          <a:prstGeom prst="roundRect">
            <a:avLst>
              <a:gd name="adj" fmla="val 31579"/>
            </a:avLst>
          </a:prstGeom>
          <a:solidFill>
            <a:srgbClr val="9D0E22"/>
          </a:solidFill>
          <a:ln w="9525">
            <a:solidFill>
              <a:srgbClr val="F5DFA8">
                <a:alpha val="35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104680" y="5002412"/>
            <a:ext cx="8203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b="1" kern="0" spc="-11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카톡 안내 받기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1524000" y="5878712"/>
            <a:ext cx="8036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단방향 선택</a:t>
            </a:r>
            <a:endParaRPr lang="en-US" sz="1275" dirty="0"/>
          </a:p>
        </p:txBody>
      </p:sp>
      <p:sp>
        <p:nvSpPr>
          <p:cNvPr id="32" name="Shape 27"/>
          <p:cNvSpPr/>
          <p:nvPr/>
        </p:nvSpPr>
        <p:spPr>
          <a:xfrm>
            <a:off x="1524000" y="6183512"/>
            <a:ext cx="4191000" cy="781050"/>
          </a:xfrm>
          <a:prstGeom prst="roundRect">
            <a:avLst>
              <a:gd name="adj" fmla="val 26829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1704975" y="6364487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F1E3D0"/>
          </a:solidFill>
          <a:ln/>
        </p:spPr>
      </p:sp>
      <p:sp>
        <p:nvSpPr>
          <p:cNvPr id="34" name="Text 29"/>
          <p:cNvSpPr/>
          <p:nvPr/>
        </p:nvSpPr>
        <p:spPr>
          <a:xfrm>
            <a:off x="1850231" y="6459737"/>
            <a:ext cx="2046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-15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2238375" y="6421637"/>
            <a:ext cx="33945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크루아상님이 회원님을 선택했어요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2238375" y="6593087"/>
            <a:ext cx="33945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회원님은 다른 분을 선택하셔서 연락처는 공개되지 않아요.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524000" y="7231262"/>
            <a:ext cx="11159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케미 기록</a:t>
            </a:r>
            <a:endParaRPr lang="en-US" sz="1275" dirty="0"/>
          </a:p>
        </p:txBody>
      </p:sp>
      <p:sp>
        <p:nvSpPr>
          <p:cNvPr id="38" name="Shape 33"/>
          <p:cNvSpPr/>
          <p:nvPr/>
        </p:nvSpPr>
        <p:spPr>
          <a:xfrm>
            <a:off x="1524000" y="7536062"/>
            <a:ext cx="4191000" cy="1171575"/>
          </a:xfrm>
          <a:prstGeom prst="roundRect">
            <a:avLst>
              <a:gd name="adj" fmla="val 17886"/>
            </a:avLst>
          </a:prstGeom>
          <a:solidFill>
            <a:srgbClr val="FFF9F0"/>
          </a:solidFill>
          <a:ln w="9525">
            <a:solidFill>
              <a:srgbClr val="EFE2CE"/>
            </a:solidFill>
            <a:prstDash val="solid"/>
          </a:ln>
          <a:effectLst>
            <a:outerShdw blurRad="101600" dist="9525" dir="5400000" algn="bl" rotWithShape="0">
              <a:srgbClr val="B8966E">
                <a:alpha val="6000"/>
              </a:srgbClr>
            </a:outerShdw>
          </a:effectLst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975" y="7717037"/>
            <a:ext cx="209550" cy="20955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2028825" y="7717037"/>
            <a:ext cx="36103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8기 케미 리포트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2028825" y="7898012"/>
            <a:ext cx="361035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패턴, 선택의 흐름, 케미 키워드를 정리한 개인 리포트를 받아보세요.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2028825" y="8164712"/>
            <a:ext cx="866626" cy="361950"/>
          </a:xfrm>
          <a:prstGeom prst="roundRect">
            <a:avLst>
              <a:gd name="adj" fmla="val 31579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43" name="Text 37"/>
          <p:cNvSpPr/>
          <p:nvPr/>
        </p:nvSpPr>
        <p:spPr>
          <a:xfrm>
            <a:off x="2124075" y="8269487"/>
            <a:ext cx="6761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b="1" kern="0" spc="-1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 열기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1524000" y="8974337"/>
            <a:ext cx="8036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후기 남기기</a:t>
            </a:r>
            <a:endParaRPr lang="en-US" sz="1275" dirty="0"/>
          </a:p>
        </p:txBody>
      </p:sp>
      <p:sp>
        <p:nvSpPr>
          <p:cNvPr id="45" name="Shape 39"/>
          <p:cNvSpPr/>
          <p:nvPr/>
        </p:nvSpPr>
        <p:spPr>
          <a:xfrm>
            <a:off x="1524000" y="9279137"/>
            <a:ext cx="2053233" cy="476250"/>
          </a:xfrm>
          <a:prstGeom prst="roundRect">
            <a:avLst>
              <a:gd name="adj" fmla="val 36000"/>
            </a:avLst>
          </a:prstGeom>
          <a:solidFill>
            <a:srgbClr val="9D0E22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2234803" y="9426774"/>
            <a:ext cx="63162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b="1" kern="0" spc="-12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 후기</a:t>
            </a:r>
            <a:endParaRPr lang="en-US" sz="1200" dirty="0"/>
          </a:p>
        </p:txBody>
      </p:sp>
      <p:sp>
        <p:nvSpPr>
          <p:cNvPr id="47" name="Shape 41"/>
          <p:cNvSpPr/>
          <p:nvPr/>
        </p:nvSpPr>
        <p:spPr>
          <a:xfrm>
            <a:off x="3672483" y="9279137"/>
            <a:ext cx="2042517" cy="476250"/>
          </a:xfrm>
          <a:prstGeom prst="roundRect">
            <a:avLst>
              <a:gd name="adj" fmla="val 36000"/>
            </a:avLst>
          </a:prstGeom>
          <a:solidFill>
            <a:srgbClr val="9D0E22"/>
          </a:solidFill>
          <a:ln/>
          <a:effectLst>
            <a:outerShdw blurRad="171450" dist="57150" dir="5400000" algn="bl" rotWithShape="0">
              <a:srgbClr val="7A1F2B">
                <a:alpha val="18000"/>
              </a:srgbClr>
            </a:outerShdw>
          </a:effectLst>
        </p:spPr>
      </p:sp>
      <p:sp>
        <p:nvSpPr>
          <p:cNvPr id="48" name="Text 42"/>
          <p:cNvSpPr/>
          <p:nvPr/>
        </p:nvSpPr>
        <p:spPr>
          <a:xfrm>
            <a:off x="4312741" y="9426774"/>
            <a:ext cx="76185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b="1" kern="0" spc="-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데이트 후기</a:t>
            </a:r>
            <a:endParaRPr lang="en-US" sz="1200" dirty="0"/>
          </a:p>
        </p:txBody>
      </p:sp>
      <p:sp>
        <p:nvSpPr>
          <p:cNvPr id="49" name="Shape 43"/>
          <p:cNvSpPr/>
          <p:nvPr/>
        </p:nvSpPr>
        <p:spPr>
          <a:xfrm>
            <a:off x="1333500" y="9229726"/>
            <a:ext cx="4572000" cy="742950"/>
          </a:xfrm>
          <a:prstGeom prst="rect">
            <a:avLst/>
          </a:prstGeom>
          <a:solidFill>
            <a:srgbClr val="FFF7EC">
              <a:alpha val="92000"/>
            </a:srgbClr>
          </a:solidFill>
          <a:ln/>
        </p:spPr>
      </p:sp>
      <p:sp>
        <p:nvSpPr>
          <p:cNvPr id="50" name="Shape 44"/>
          <p:cNvSpPr/>
          <p:nvPr/>
        </p:nvSpPr>
        <p:spPr>
          <a:xfrm>
            <a:off x="1333500" y="9229726"/>
            <a:ext cx="4572000" cy="9525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5925" y="9334501"/>
            <a:ext cx="209550" cy="20955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1745307" y="9582151"/>
            <a:ext cx="16683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825" dirty="0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0325" y="9334501"/>
            <a:ext cx="209550" cy="20955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2614464" y="9582151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</a:t>
            </a:r>
            <a:endParaRPr lang="en-US" sz="825" dirty="0"/>
          </a:p>
        </p:txBody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4725" y="9334501"/>
            <a:ext cx="209550" cy="209550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3441055" y="9582151"/>
            <a:ext cx="43309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케미Lab</a:t>
            </a:r>
            <a:endParaRPr lang="en-US" sz="825" dirty="0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9125" y="9334501"/>
            <a:ext cx="209550" cy="209550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4398020" y="9582151"/>
            <a:ext cx="3479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오브닝</a:t>
            </a:r>
            <a:endParaRPr lang="en-US" sz="825" dirty="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3525" y="9334501"/>
            <a:ext cx="209550" cy="209550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5357664" y="9582151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</a:t>
            </a:r>
            <a:endParaRPr lang="en-US" sz="825" dirty="0"/>
          </a:p>
        </p:txBody>
      </p:sp>
      <p:sp>
        <p:nvSpPr>
          <p:cNvPr id="61" name="Shape 50"/>
          <p:cNvSpPr/>
          <p:nvPr/>
        </p:nvSpPr>
        <p:spPr>
          <a:xfrm>
            <a:off x="2981325" y="9848851"/>
            <a:ext cx="1276350" cy="47625"/>
          </a:xfrm>
          <a:prstGeom prst="roundRect">
            <a:avLst>
              <a:gd name="adj" fmla="val 50000"/>
            </a:avLst>
          </a:prstGeom>
          <a:solidFill>
            <a:srgbClr val="3B2A24">
              <a:alpha val="85000"/>
            </a:srgbClr>
          </a:solidFill>
          <a:ln/>
        </p:spPr>
      </p:sp>
      <p:sp>
        <p:nvSpPr>
          <p:cNvPr id="62" name="Text 51"/>
          <p:cNvSpPr/>
          <p:nvPr/>
        </p:nvSpPr>
        <p:spPr>
          <a:xfrm>
            <a:off x="7048500" y="3108574"/>
            <a:ext cx="10595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5 · 매칭 결과</a:t>
            </a:r>
            <a:endParaRPr lang="en-US" sz="1200" dirty="0"/>
          </a:p>
        </p:txBody>
      </p:sp>
      <p:sp>
        <p:nvSpPr>
          <p:cNvPr id="63" name="Text 52"/>
          <p:cNvSpPr/>
          <p:nvPr/>
        </p:nvSpPr>
        <p:spPr>
          <a:xfrm>
            <a:off x="7048500" y="3508624"/>
            <a:ext cx="1059561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kern="0" spc="-29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상호 선택일 때만 연락처가 열려요.</a:t>
            </a:r>
            <a:endParaRPr lang="en-US" sz="5700" dirty="0"/>
          </a:p>
        </p:txBody>
      </p:sp>
      <p:sp>
        <p:nvSpPr>
          <p:cNvPr id="64" name="Text 53"/>
          <p:cNvSpPr/>
          <p:nvPr/>
        </p:nvSpPr>
        <p:spPr>
          <a:xfrm>
            <a:off x="7048500" y="5310635"/>
            <a:ext cx="706374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버건디 → 골드 그라데이션 카드로 특별한 순간을 시각적으로.</a:t>
            </a:r>
            <a:endParaRPr lang="en-US" sz="1650" dirty="0"/>
          </a:p>
        </p:txBody>
      </p:sp>
      <p:sp>
        <p:nvSpPr>
          <p:cNvPr id="65" name="Text 54"/>
          <p:cNvSpPr/>
          <p:nvPr/>
        </p:nvSpPr>
        <p:spPr>
          <a:xfrm>
            <a:off x="7124700" y="5940178"/>
            <a:ext cx="6877050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Match — 양쪽 모노그램 + 하트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· 연락처 · 카톡 안내 받기</a:t>
            </a:r>
            <a:endParaRPr lang="en-US" sz="1500" dirty="0"/>
          </a:p>
          <a:p>
            <a:pPr marL="133350" indent="-133350" algn="l">
              <a:lnSpc>
                <a:spcPct val="170000"/>
              </a:lnSpc>
              <a:buSzPct val="100000"/>
              <a:buChar char="•"/>
              <a:tabLst>
                <a:tab pos="133350" algn="l"/>
              </a:tabLst>
            </a:pPr>
            <a:r>
              <a:rPr lang="en-US" sz="15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단방향(One-way) 선택은 별도 카드로 안내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444430"/>
          </a:xfrm>
          <a:prstGeom prst="rect">
            <a:avLst/>
          </a:prstGeom>
          <a:solidFill>
            <a:srgbClr val="8A0214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143000"/>
            <a:ext cx="160896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ADMIN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333500" y="1619250"/>
            <a:ext cx="16089630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0" kern="0" spc="-5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운영자 도구</a:t>
            </a:r>
            <a:endParaRPr lang="en-US" sz="10500" dirty="0"/>
          </a:p>
        </p:txBody>
      </p:sp>
      <p:sp>
        <p:nvSpPr>
          <p:cNvPr id="5" name="Text 3"/>
          <p:cNvSpPr/>
          <p:nvPr/>
        </p:nvSpPr>
        <p:spPr>
          <a:xfrm>
            <a:off x="1333500" y="3286125"/>
            <a:ext cx="1079182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5DFA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대시보드와 인원 선정. STRICT × 객관 × 케미점수 — 사용자에겐 보이지 않는 운영의 뼈대.</a:t>
            </a:r>
            <a:endParaRPr lang="en-US" sz="1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330806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관리자 · 대시보드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344477" y="685800"/>
            <a:ext cx="20672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신청자 · 성비 · 투표 · 후기 통합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1047750"/>
            <a:ext cx="16764000" cy="8382000"/>
          </a:xfrm>
          <a:prstGeom prst="roundRect">
            <a:avLst>
              <a:gd name="adj" fmla="val 2727"/>
            </a:avLst>
          </a:prstGeom>
          <a:solidFill>
            <a:srgbClr val="F7F1E6"/>
          </a:solidFill>
          <a:ln/>
          <a:effectLst>
            <a:outerShdw blurRad="571500" dist="285750" dir="5400000" algn="bl" rotWithShape="0">
              <a:srgbClr val="3A1E1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047750"/>
            <a:ext cx="16764000" cy="8382000"/>
          </a:xfrm>
          <a:prstGeom prst="rect">
            <a:avLst/>
          </a:prstGeom>
          <a:solidFill>
            <a:srgbClr val="F7F1E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047750"/>
            <a:ext cx="16764000" cy="533400"/>
          </a:xfrm>
          <a:prstGeom prst="rect">
            <a:avLst/>
          </a:prstGeom>
          <a:solidFill>
            <a:srgbClr val="551321"/>
          </a:solidFill>
          <a:ln/>
        </p:spPr>
      </p:sp>
      <p:sp>
        <p:nvSpPr>
          <p:cNvPr id="7" name="Text 5"/>
          <p:cNvSpPr/>
          <p:nvPr/>
        </p:nvSpPr>
        <p:spPr>
          <a:xfrm>
            <a:off x="971550" y="1209675"/>
            <a:ext cx="11630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-13" dirty="0">
                <a:solidFill>
                  <a:srgbClr val="F5D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Chemistry Oven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153692" y="1223963"/>
            <a:ext cx="537716" cy="180975"/>
          </a:xfrm>
          <a:prstGeom prst="roundRect">
            <a:avLst>
              <a:gd name="adj" fmla="val 31579"/>
            </a:avLst>
          </a:prstGeom>
          <a:solidFill>
            <a:srgbClr val="F5DFA8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229892" y="1252538"/>
            <a:ext cx="4615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825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198" y="1228725"/>
            <a:ext cx="171450" cy="1714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580048" y="1247775"/>
            <a:ext cx="81260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운영자 · sora@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62000" y="1581150"/>
            <a:ext cx="1905000" cy="7848600"/>
          </a:xfrm>
          <a:prstGeom prst="rect">
            <a:avLst/>
          </a:prstGeom>
          <a:solidFill>
            <a:srgbClr val="FFF9F0"/>
          </a:solidFill>
          <a:ln/>
        </p:spPr>
      </p:sp>
      <p:sp>
        <p:nvSpPr>
          <p:cNvPr id="13" name="Shape 10"/>
          <p:cNvSpPr/>
          <p:nvPr/>
        </p:nvSpPr>
        <p:spPr>
          <a:xfrm>
            <a:off x="2657475" y="1581150"/>
            <a:ext cx="9525" cy="7848600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4" name="Shape 11"/>
          <p:cNvSpPr/>
          <p:nvPr/>
        </p:nvSpPr>
        <p:spPr>
          <a:xfrm>
            <a:off x="876300" y="1752600"/>
            <a:ext cx="1666875" cy="342900"/>
          </a:xfrm>
          <a:prstGeom prst="roundRect">
            <a:avLst>
              <a:gd name="adj" fmla="val 33333"/>
            </a:avLst>
          </a:prstGeom>
          <a:solidFill>
            <a:srgbClr val="7A1F2B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847850"/>
            <a:ext cx="152400" cy="1524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8250" y="1852612"/>
            <a:ext cx="5043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975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209800"/>
            <a:ext cx="152400" cy="152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8250" y="2214563"/>
            <a:ext cx="5345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회차 관리</a:t>
            </a:r>
            <a:endParaRPr lang="en-US" sz="975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2571750"/>
            <a:ext cx="152400" cy="1524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8250" y="2576513"/>
            <a:ext cx="6415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신청자 관리</a:t>
            </a:r>
            <a:endParaRPr lang="en-US" sz="975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2933700"/>
            <a:ext cx="152400" cy="152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8250" y="2938463"/>
            <a:ext cx="5345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인원 선정</a:t>
            </a:r>
            <a:endParaRPr lang="en-US" sz="975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3295650"/>
            <a:ext cx="152400" cy="1524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38250" y="3300413"/>
            <a:ext cx="6415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관리</a:t>
            </a:r>
            <a:endParaRPr lang="en-US" sz="975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3657600"/>
            <a:ext cx="152400" cy="1524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238250" y="3662362"/>
            <a:ext cx="6415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배정</a:t>
            </a:r>
            <a:endParaRPr lang="en-US" sz="975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4019550"/>
            <a:ext cx="152400" cy="1524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238250" y="4024313"/>
            <a:ext cx="5345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투표 관리</a:t>
            </a:r>
            <a:endParaRPr lang="en-US" sz="975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4381500"/>
            <a:ext cx="152400" cy="1524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238250" y="4386263"/>
            <a:ext cx="5043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자리배치</a:t>
            </a:r>
            <a:endParaRPr lang="en-US" sz="975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" y="4743450"/>
            <a:ext cx="152400" cy="15240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238250" y="4748213"/>
            <a:ext cx="5345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결과</a:t>
            </a:r>
            <a:endParaRPr lang="en-US" sz="975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600" y="5105400"/>
            <a:ext cx="152400" cy="15240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1238250" y="5110163"/>
            <a:ext cx="5345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후기 관리</a:t>
            </a:r>
            <a:endParaRPr lang="en-US" sz="975" dirty="0"/>
          </a:p>
        </p:txBody>
      </p:sp>
      <p:sp>
        <p:nvSpPr>
          <p:cNvPr id="35" name="Text 22"/>
          <p:cNvSpPr/>
          <p:nvPr/>
        </p:nvSpPr>
        <p:spPr>
          <a:xfrm>
            <a:off x="2876550" y="1771650"/>
            <a:ext cx="13348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650" dirty="0"/>
          </a:p>
        </p:txBody>
      </p:sp>
      <p:sp>
        <p:nvSpPr>
          <p:cNvPr id="36" name="Text 23"/>
          <p:cNvSpPr/>
          <p:nvPr/>
        </p:nvSpPr>
        <p:spPr>
          <a:xfrm>
            <a:off x="2876550" y="2057400"/>
            <a:ext cx="13348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6. 2 (월) · 8기 D-12</a:t>
            </a:r>
            <a:endParaRPr lang="en-US" sz="900" dirty="0"/>
          </a:p>
        </p:txBody>
      </p:sp>
      <p:sp>
        <p:nvSpPr>
          <p:cNvPr id="37" name="Shape 24"/>
          <p:cNvSpPr/>
          <p:nvPr/>
        </p:nvSpPr>
        <p:spPr>
          <a:xfrm>
            <a:off x="16220777" y="1857375"/>
            <a:ext cx="1095673" cy="333375"/>
          </a:xfrm>
          <a:prstGeom prst="roundRect">
            <a:avLst>
              <a:gd name="adj" fmla="val 34286"/>
            </a:avLst>
          </a:prstGeom>
          <a:solidFill>
            <a:srgbClr val="7A1F2B"/>
          </a:solidFill>
          <a:ln/>
        </p:spPr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54127" y="1957388"/>
            <a:ext cx="133350" cy="13335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16506527" y="1933575"/>
            <a:ext cx="71467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회차 생성</a:t>
            </a:r>
            <a:endParaRPr lang="en-US" sz="975" dirty="0"/>
          </a:p>
        </p:txBody>
      </p:sp>
      <p:sp>
        <p:nvSpPr>
          <p:cNvPr id="40" name="Shape 26"/>
          <p:cNvSpPr/>
          <p:nvPr/>
        </p:nvSpPr>
        <p:spPr>
          <a:xfrm>
            <a:off x="2876550" y="2362200"/>
            <a:ext cx="3538538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1" name="Text 27"/>
          <p:cNvSpPr/>
          <p:nvPr/>
        </p:nvSpPr>
        <p:spPr>
          <a:xfrm>
            <a:off x="3019425" y="2505075"/>
            <a:ext cx="335037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신청자</a:t>
            </a:r>
            <a:endParaRPr lang="en-US" sz="825" dirty="0"/>
          </a:p>
        </p:txBody>
      </p:sp>
      <p:sp>
        <p:nvSpPr>
          <p:cNvPr id="42" name="Text 28"/>
          <p:cNvSpPr/>
          <p:nvPr/>
        </p:nvSpPr>
        <p:spPr>
          <a:xfrm>
            <a:off x="3019425" y="2686050"/>
            <a:ext cx="2803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kern="0" spc="-19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1950" dirty="0"/>
          </a:p>
        </p:txBody>
      </p:sp>
      <p:sp>
        <p:nvSpPr>
          <p:cNvPr id="43" name="Text 29"/>
          <p:cNvSpPr/>
          <p:nvPr/>
        </p:nvSpPr>
        <p:spPr>
          <a:xfrm>
            <a:off x="3019425" y="2990850"/>
            <a:ext cx="335037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</a:t>
            </a:r>
            <a:endParaRPr lang="en-US" sz="750" dirty="0"/>
          </a:p>
        </p:txBody>
      </p:sp>
      <p:sp>
        <p:nvSpPr>
          <p:cNvPr id="44" name="Shape 30"/>
          <p:cNvSpPr/>
          <p:nvPr/>
        </p:nvSpPr>
        <p:spPr>
          <a:xfrm>
            <a:off x="6510338" y="2362200"/>
            <a:ext cx="3538538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5" name="Text 31"/>
          <p:cNvSpPr/>
          <p:nvPr/>
        </p:nvSpPr>
        <p:spPr>
          <a:xfrm>
            <a:off x="6653213" y="2505075"/>
            <a:ext cx="335037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대기</a:t>
            </a:r>
            <a:endParaRPr lang="en-US" sz="825" dirty="0"/>
          </a:p>
        </p:txBody>
      </p:sp>
      <p:sp>
        <p:nvSpPr>
          <p:cNvPr id="46" name="Text 32"/>
          <p:cNvSpPr/>
          <p:nvPr/>
        </p:nvSpPr>
        <p:spPr>
          <a:xfrm>
            <a:off x="6653213" y="2686050"/>
            <a:ext cx="17502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kern="0" spc="-19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950" dirty="0"/>
          </a:p>
        </p:txBody>
      </p:sp>
      <p:sp>
        <p:nvSpPr>
          <p:cNvPr id="47" name="Text 33"/>
          <p:cNvSpPr/>
          <p:nvPr/>
        </p:nvSpPr>
        <p:spPr>
          <a:xfrm>
            <a:off x="6653213" y="2990850"/>
            <a:ext cx="335037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B6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</a:t>
            </a:r>
            <a:endParaRPr lang="en-US" sz="750" dirty="0"/>
          </a:p>
        </p:txBody>
      </p:sp>
      <p:sp>
        <p:nvSpPr>
          <p:cNvPr id="48" name="Shape 34"/>
          <p:cNvSpPr/>
          <p:nvPr/>
        </p:nvSpPr>
        <p:spPr>
          <a:xfrm>
            <a:off x="10144125" y="2362200"/>
            <a:ext cx="3538538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9" name="Text 35"/>
          <p:cNvSpPr/>
          <p:nvPr/>
        </p:nvSpPr>
        <p:spPr>
          <a:xfrm>
            <a:off x="10287000" y="2505075"/>
            <a:ext cx="335037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 대기</a:t>
            </a:r>
            <a:endParaRPr lang="en-US" sz="825" dirty="0"/>
          </a:p>
        </p:txBody>
      </p:sp>
      <p:sp>
        <p:nvSpPr>
          <p:cNvPr id="50" name="Text 36"/>
          <p:cNvSpPr/>
          <p:nvPr/>
        </p:nvSpPr>
        <p:spPr>
          <a:xfrm>
            <a:off x="10287000" y="2686050"/>
            <a:ext cx="25315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kern="0" spc="-19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950" dirty="0"/>
          </a:p>
        </p:txBody>
      </p:sp>
      <p:sp>
        <p:nvSpPr>
          <p:cNvPr id="51" name="Text 37"/>
          <p:cNvSpPr/>
          <p:nvPr/>
        </p:nvSpPr>
        <p:spPr>
          <a:xfrm>
            <a:off x="10287000" y="2990850"/>
            <a:ext cx="335037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</a:t>
            </a:r>
            <a:endParaRPr lang="en-US" sz="750" dirty="0"/>
          </a:p>
        </p:txBody>
      </p:sp>
      <p:sp>
        <p:nvSpPr>
          <p:cNvPr id="52" name="Shape 38"/>
          <p:cNvSpPr/>
          <p:nvPr/>
        </p:nvSpPr>
        <p:spPr>
          <a:xfrm>
            <a:off x="13777913" y="2362200"/>
            <a:ext cx="3538538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3" name="Text 39"/>
          <p:cNvSpPr/>
          <p:nvPr/>
        </p:nvSpPr>
        <p:spPr>
          <a:xfrm>
            <a:off x="13920788" y="2505075"/>
            <a:ext cx="335037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입금 대기</a:t>
            </a:r>
            <a:endParaRPr lang="en-US" sz="825" dirty="0"/>
          </a:p>
        </p:txBody>
      </p:sp>
      <p:sp>
        <p:nvSpPr>
          <p:cNvPr id="54" name="Text 40"/>
          <p:cNvSpPr/>
          <p:nvPr/>
        </p:nvSpPr>
        <p:spPr>
          <a:xfrm>
            <a:off x="13920788" y="2686050"/>
            <a:ext cx="18901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kern="0" spc="-19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950" dirty="0"/>
          </a:p>
        </p:txBody>
      </p:sp>
      <p:sp>
        <p:nvSpPr>
          <p:cNvPr id="55" name="Text 41"/>
          <p:cNvSpPr/>
          <p:nvPr/>
        </p:nvSpPr>
        <p:spPr>
          <a:xfrm>
            <a:off x="13920788" y="2990850"/>
            <a:ext cx="335037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48h 내</a:t>
            </a:r>
            <a:endParaRPr lang="en-US" sz="750" dirty="0"/>
          </a:p>
        </p:txBody>
      </p:sp>
      <p:sp>
        <p:nvSpPr>
          <p:cNvPr id="56" name="Shape 42"/>
          <p:cNvSpPr/>
          <p:nvPr/>
        </p:nvSpPr>
        <p:spPr>
          <a:xfrm>
            <a:off x="2876550" y="3343275"/>
            <a:ext cx="3538538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7" name="Text 43"/>
          <p:cNvSpPr/>
          <p:nvPr/>
        </p:nvSpPr>
        <p:spPr>
          <a:xfrm>
            <a:off x="3019425" y="3486150"/>
            <a:ext cx="335037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확정</a:t>
            </a:r>
            <a:endParaRPr lang="en-US" sz="825" dirty="0"/>
          </a:p>
        </p:txBody>
      </p:sp>
      <p:sp>
        <p:nvSpPr>
          <p:cNvPr id="58" name="Text 44"/>
          <p:cNvSpPr/>
          <p:nvPr/>
        </p:nvSpPr>
        <p:spPr>
          <a:xfrm>
            <a:off x="3019425" y="3667125"/>
            <a:ext cx="4856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kern="0" spc="-19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8</a:t>
            </a:r>
            <a:endParaRPr lang="en-US" sz="1950" dirty="0"/>
          </a:p>
        </p:txBody>
      </p:sp>
      <p:sp>
        <p:nvSpPr>
          <p:cNvPr id="59" name="Text 45"/>
          <p:cNvSpPr/>
          <p:nvPr/>
        </p:nvSpPr>
        <p:spPr>
          <a:xfrm>
            <a:off x="3019425" y="3971925"/>
            <a:ext cx="335037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750" dirty="0"/>
          </a:p>
        </p:txBody>
      </p:sp>
      <p:sp>
        <p:nvSpPr>
          <p:cNvPr id="60" name="Shape 46"/>
          <p:cNvSpPr/>
          <p:nvPr/>
        </p:nvSpPr>
        <p:spPr>
          <a:xfrm>
            <a:off x="6510338" y="3343275"/>
            <a:ext cx="3538538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1" name="Text 47"/>
          <p:cNvSpPr/>
          <p:nvPr/>
        </p:nvSpPr>
        <p:spPr>
          <a:xfrm>
            <a:off x="6653213" y="3486150"/>
            <a:ext cx="335037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후기 승인</a:t>
            </a:r>
            <a:endParaRPr lang="en-US" sz="825" dirty="0"/>
          </a:p>
        </p:txBody>
      </p:sp>
      <p:sp>
        <p:nvSpPr>
          <p:cNvPr id="62" name="Text 48"/>
          <p:cNvSpPr/>
          <p:nvPr/>
        </p:nvSpPr>
        <p:spPr>
          <a:xfrm>
            <a:off x="6653213" y="3667125"/>
            <a:ext cx="17055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kern="0" spc="-19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50" dirty="0"/>
          </a:p>
        </p:txBody>
      </p:sp>
      <p:sp>
        <p:nvSpPr>
          <p:cNvPr id="63" name="Text 49"/>
          <p:cNvSpPr/>
          <p:nvPr/>
        </p:nvSpPr>
        <p:spPr>
          <a:xfrm>
            <a:off x="6653213" y="3971925"/>
            <a:ext cx="335037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</a:t>
            </a:r>
            <a:endParaRPr lang="en-US" sz="750" dirty="0"/>
          </a:p>
        </p:txBody>
      </p:sp>
      <p:sp>
        <p:nvSpPr>
          <p:cNvPr id="64" name="Shape 50"/>
          <p:cNvSpPr/>
          <p:nvPr/>
        </p:nvSpPr>
        <p:spPr>
          <a:xfrm>
            <a:off x="10144125" y="3343275"/>
            <a:ext cx="3538538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5" name="Text 51"/>
          <p:cNvSpPr/>
          <p:nvPr/>
        </p:nvSpPr>
        <p:spPr>
          <a:xfrm>
            <a:off x="10287000" y="3486150"/>
            <a:ext cx="335037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매칭</a:t>
            </a:r>
            <a:endParaRPr lang="en-US" sz="825" dirty="0"/>
          </a:p>
        </p:txBody>
      </p:sp>
      <p:sp>
        <p:nvSpPr>
          <p:cNvPr id="66" name="Text 52"/>
          <p:cNvSpPr/>
          <p:nvPr/>
        </p:nvSpPr>
        <p:spPr>
          <a:xfrm>
            <a:off x="10287000" y="3667125"/>
            <a:ext cx="1919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kern="0" spc="-19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950" dirty="0"/>
          </a:p>
        </p:txBody>
      </p:sp>
      <p:sp>
        <p:nvSpPr>
          <p:cNvPr id="67" name="Text 53"/>
          <p:cNvSpPr/>
          <p:nvPr/>
        </p:nvSpPr>
        <p:spPr>
          <a:xfrm>
            <a:off x="10287000" y="3971925"/>
            <a:ext cx="335037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50" dirty="0"/>
          </a:p>
        </p:txBody>
      </p:sp>
      <p:sp>
        <p:nvSpPr>
          <p:cNvPr id="68" name="Shape 54"/>
          <p:cNvSpPr/>
          <p:nvPr/>
        </p:nvSpPr>
        <p:spPr>
          <a:xfrm>
            <a:off x="13777913" y="3343275"/>
            <a:ext cx="3538538" cy="885825"/>
          </a:xfrm>
          <a:prstGeom prst="roundRect">
            <a:avLst>
              <a:gd name="adj" fmla="val 17204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9" name="Text 55"/>
          <p:cNvSpPr/>
          <p:nvPr/>
        </p:nvSpPr>
        <p:spPr>
          <a:xfrm>
            <a:off x="13920788" y="3486150"/>
            <a:ext cx="335037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커플</a:t>
            </a:r>
            <a:endParaRPr lang="en-US" sz="825" dirty="0"/>
          </a:p>
        </p:txBody>
      </p:sp>
      <p:sp>
        <p:nvSpPr>
          <p:cNvPr id="70" name="Text 56"/>
          <p:cNvSpPr/>
          <p:nvPr/>
        </p:nvSpPr>
        <p:spPr>
          <a:xfrm>
            <a:off x="13920788" y="3667125"/>
            <a:ext cx="2656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kern="0" spc="-19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950" dirty="0"/>
          </a:p>
        </p:txBody>
      </p:sp>
      <p:sp>
        <p:nvSpPr>
          <p:cNvPr id="71" name="Text 57"/>
          <p:cNvSpPr/>
          <p:nvPr/>
        </p:nvSpPr>
        <p:spPr>
          <a:xfrm>
            <a:off x="13920788" y="3971925"/>
            <a:ext cx="335037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750" dirty="0"/>
          </a:p>
        </p:txBody>
      </p:sp>
      <p:sp>
        <p:nvSpPr>
          <p:cNvPr id="72" name="Shape 58"/>
          <p:cNvSpPr/>
          <p:nvPr/>
        </p:nvSpPr>
        <p:spPr>
          <a:xfrm>
            <a:off x="2876550" y="4400550"/>
            <a:ext cx="8345388" cy="5081588"/>
          </a:xfrm>
          <a:prstGeom prst="roundRect">
            <a:avLst>
              <a:gd name="adj" fmla="val 3374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73" name="Text 59"/>
          <p:cNvSpPr/>
          <p:nvPr/>
        </p:nvSpPr>
        <p:spPr>
          <a:xfrm>
            <a:off x="3057525" y="4581525"/>
            <a:ext cx="9834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신청자 · 8기</a:t>
            </a:r>
            <a:endParaRPr lang="en-US" sz="1050" dirty="0"/>
          </a:p>
        </p:txBody>
      </p:sp>
      <p:sp>
        <p:nvSpPr>
          <p:cNvPr id="74" name="Text 60"/>
          <p:cNvSpPr/>
          <p:nvPr/>
        </p:nvSpPr>
        <p:spPr>
          <a:xfrm>
            <a:off x="10591056" y="4610100"/>
            <a:ext cx="5261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보기 ›</a:t>
            </a:r>
            <a:endParaRPr lang="en-US" sz="825" dirty="0"/>
          </a:p>
        </p:txBody>
      </p:sp>
      <p:sp>
        <p:nvSpPr>
          <p:cNvPr id="75" name="Shape 61"/>
          <p:cNvSpPr/>
          <p:nvPr/>
        </p:nvSpPr>
        <p:spPr>
          <a:xfrm>
            <a:off x="3057525" y="4962525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E6E1D6"/>
          </a:solidFill>
          <a:ln/>
        </p:spPr>
      </p:sp>
      <p:sp>
        <p:nvSpPr>
          <p:cNvPr id="76" name="Text 62"/>
          <p:cNvSpPr/>
          <p:nvPr/>
        </p:nvSpPr>
        <p:spPr>
          <a:xfrm>
            <a:off x="3019425" y="496252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</a:t>
            </a:r>
            <a:endParaRPr lang="en-US" sz="900" dirty="0"/>
          </a:p>
        </p:txBody>
      </p:sp>
      <p:sp>
        <p:nvSpPr>
          <p:cNvPr id="77" name="Text 63"/>
          <p:cNvSpPr/>
          <p:nvPr/>
        </p:nvSpPr>
        <p:spPr>
          <a:xfrm>
            <a:off x="3476625" y="4972050"/>
            <a:ext cx="65160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김도현 </a:t>
            </a: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·M·INFJ</a:t>
            </a:r>
            <a:endParaRPr lang="en-US" sz="975" dirty="0"/>
          </a:p>
        </p:txBody>
      </p:sp>
      <p:sp>
        <p:nvSpPr>
          <p:cNvPr id="78" name="Text 64"/>
          <p:cNvSpPr/>
          <p:nvPr/>
        </p:nvSpPr>
        <p:spPr>
          <a:xfrm>
            <a:off x="3476625" y="5133975"/>
            <a:ext cx="65160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6. 1 신청</a:t>
            </a:r>
            <a:endParaRPr lang="en-US" sz="825" dirty="0"/>
          </a:p>
        </p:txBody>
      </p:sp>
      <p:sp>
        <p:nvSpPr>
          <p:cNvPr id="79" name="Shape 65"/>
          <p:cNvSpPr/>
          <p:nvPr/>
        </p:nvSpPr>
        <p:spPr>
          <a:xfrm>
            <a:off x="9917162" y="5000625"/>
            <a:ext cx="607070" cy="228600"/>
          </a:xfrm>
          <a:prstGeom prst="roundRect">
            <a:avLst>
              <a:gd name="adj" fmla="val 50000"/>
            </a:avLst>
          </a:prstGeom>
          <a:solidFill>
            <a:srgbClr val="F6E2C4"/>
          </a:solidFill>
          <a:ln/>
        </p:spPr>
      </p:sp>
      <p:sp>
        <p:nvSpPr>
          <p:cNvPr id="80" name="Text 66"/>
          <p:cNvSpPr/>
          <p:nvPr/>
        </p:nvSpPr>
        <p:spPr>
          <a:xfrm>
            <a:off x="10012412" y="5048250"/>
            <a:ext cx="492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9B6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대기</a:t>
            </a:r>
            <a:endParaRPr lang="en-US" sz="900" dirty="0"/>
          </a:p>
        </p:txBody>
      </p:sp>
      <p:sp>
        <p:nvSpPr>
          <p:cNvPr id="81" name="Shape 67"/>
          <p:cNvSpPr/>
          <p:nvPr/>
        </p:nvSpPr>
        <p:spPr>
          <a:xfrm>
            <a:off x="10638532" y="4981575"/>
            <a:ext cx="402431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82" name="Text 68"/>
          <p:cNvSpPr/>
          <p:nvPr/>
        </p:nvSpPr>
        <p:spPr>
          <a:xfrm>
            <a:off x="10705207" y="5038725"/>
            <a:ext cx="2690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</a:t>
            </a:r>
            <a:endParaRPr lang="en-US" sz="825" dirty="0"/>
          </a:p>
        </p:txBody>
      </p:sp>
      <p:sp>
        <p:nvSpPr>
          <p:cNvPr id="83" name="Shape 69"/>
          <p:cNvSpPr/>
          <p:nvPr/>
        </p:nvSpPr>
        <p:spPr>
          <a:xfrm>
            <a:off x="3057525" y="5362575"/>
            <a:ext cx="7983438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84" name="Shape 70"/>
          <p:cNvSpPr/>
          <p:nvPr/>
        </p:nvSpPr>
        <p:spPr>
          <a:xfrm>
            <a:off x="3057525" y="5467350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1E3D0"/>
          </a:solidFill>
          <a:ln/>
        </p:spPr>
      </p:sp>
      <p:sp>
        <p:nvSpPr>
          <p:cNvPr id="85" name="Text 71"/>
          <p:cNvSpPr/>
          <p:nvPr/>
        </p:nvSpPr>
        <p:spPr>
          <a:xfrm>
            <a:off x="3019425" y="546735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</a:t>
            </a:r>
            <a:endParaRPr lang="en-US" sz="900" dirty="0"/>
          </a:p>
        </p:txBody>
      </p:sp>
      <p:sp>
        <p:nvSpPr>
          <p:cNvPr id="86" name="Text 72"/>
          <p:cNvSpPr/>
          <p:nvPr/>
        </p:nvSpPr>
        <p:spPr>
          <a:xfrm>
            <a:off x="3476625" y="5476875"/>
            <a:ext cx="65160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이지윤 </a:t>
            </a: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·F·ENFP</a:t>
            </a:r>
            <a:endParaRPr lang="en-US" sz="975" dirty="0"/>
          </a:p>
        </p:txBody>
      </p:sp>
      <p:sp>
        <p:nvSpPr>
          <p:cNvPr id="87" name="Text 73"/>
          <p:cNvSpPr/>
          <p:nvPr/>
        </p:nvSpPr>
        <p:spPr>
          <a:xfrm>
            <a:off x="3476625" y="5638800"/>
            <a:ext cx="65160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6. 1 신청</a:t>
            </a:r>
            <a:endParaRPr lang="en-US" sz="825" dirty="0"/>
          </a:p>
        </p:txBody>
      </p:sp>
      <p:sp>
        <p:nvSpPr>
          <p:cNvPr id="88" name="Shape 74"/>
          <p:cNvSpPr/>
          <p:nvPr/>
        </p:nvSpPr>
        <p:spPr>
          <a:xfrm>
            <a:off x="9917162" y="5505450"/>
            <a:ext cx="607070" cy="228600"/>
          </a:xfrm>
          <a:prstGeom prst="roundRect">
            <a:avLst>
              <a:gd name="adj" fmla="val 50000"/>
            </a:avLst>
          </a:prstGeom>
          <a:solidFill>
            <a:srgbClr val="DDEBDD"/>
          </a:solidFill>
          <a:ln/>
        </p:spPr>
      </p:sp>
      <p:sp>
        <p:nvSpPr>
          <p:cNvPr id="89" name="Text 75"/>
          <p:cNvSpPr/>
          <p:nvPr/>
        </p:nvSpPr>
        <p:spPr>
          <a:xfrm>
            <a:off x="10012412" y="5553075"/>
            <a:ext cx="492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3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완료</a:t>
            </a:r>
            <a:endParaRPr lang="en-US" sz="900" dirty="0"/>
          </a:p>
        </p:txBody>
      </p:sp>
      <p:sp>
        <p:nvSpPr>
          <p:cNvPr id="90" name="Shape 76"/>
          <p:cNvSpPr/>
          <p:nvPr/>
        </p:nvSpPr>
        <p:spPr>
          <a:xfrm>
            <a:off x="10638532" y="5486400"/>
            <a:ext cx="402431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91" name="Text 77"/>
          <p:cNvSpPr/>
          <p:nvPr/>
        </p:nvSpPr>
        <p:spPr>
          <a:xfrm>
            <a:off x="10705207" y="5543550"/>
            <a:ext cx="2690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</a:t>
            </a:r>
            <a:endParaRPr lang="en-US" sz="825" dirty="0"/>
          </a:p>
        </p:txBody>
      </p:sp>
      <p:sp>
        <p:nvSpPr>
          <p:cNvPr id="92" name="Shape 78"/>
          <p:cNvSpPr/>
          <p:nvPr/>
        </p:nvSpPr>
        <p:spPr>
          <a:xfrm>
            <a:off x="3057525" y="5867400"/>
            <a:ext cx="7983438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93" name="Shape 79"/>
          <p:cNvSpPr/>
          <p:nvPr/>
        </p:nvSpPr>
        <p:spPr>
          <a:xfrm>
            <a:off x="3057525" y="5972175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E6E1D6"/>
          </a:solidFill>
          <a:ln/>
        </p:spPr>
      </p:sp>
      <p:sp>
        <p:nvSpPr>
          <p:cNvPr id="94" name="Text 80"/>
          <p:cNvSpPr/>
          <p:nvPr/>
        </p:nvSpPr>
        <p:spPr>
          <a:xfrm>
            <a:off x="3019425" y="597217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</a:t>
            </a:r>
            <a:endParaRPr lang="en-US" sz="900" dirty="0"/>
          </a:p>
        </p:txBody>
      </p:sp>
      <p:sp>
        <p:nvSpPr>
          <p:cNvPr id="95" name="Text 81"/>
          <p:cNvSpPr/>
          <p:nvPr/>
        </p:nvSpPr>
        <p:spPr>
          <a:xfrm>
            <a:off x="3476625" y="5981700"/>
            <a:ext cx="65160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박서준 </a:t>
            </a: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·M·ISTJ</a:t>
            </a:r>
            <a:endParaRPr lang="en-US" sz="975" dirty="0"/>
          </a:p>
        </p:txBody>
      </p:sp>
      <p:sp>
        <p:nvSpPr>
          <p:cNvPr id="96" name="Text 82"/>
          <p:cNvSpPr/>
          <p:nvPr/>
        </p:nvSpPr>
        <p:spPr>
          <a:xfrm>
            <a:off x="3476625" y="6143625"/>
            <a:ext cx="65160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6. 1 신청</a:t>
            </a:r>
            <a:endParaRPr lang="en-US" sz="825" dirty="0"/>
          </a:p>
        </p:txBody>
      </p:sp>
      <p:sp>
        <p:nvSpPr>
          <p:cNvPr id="97" name="Shape 83"/>
          <p:cNvSpPr/>
          <p:nvPr/>
        </p:nvSpPr>
        <p:spPr>
          <a:xfrm>
            <a:off x="9917162" y="6010275"/>
            <a:ext cx="607070" cy="228600"/>
          </a:xfrm>
          <a:prstGeom prst="roundRect">
            <a:avLst>
              <a:gd name="adj" fmla="val 50000"/>
            </a:avLst>
          </a:prstGeom>
          <a:solidFill>
            <a:srgbClr val="F6E2C4"/>
          </a:solidFill>
          <a:ln/>
        </p:spPr>
      </p:sp>
      <p:sp>
        <p:nvSpPr>
          <p:cNvPr id="98" name="Text 84"/>
          <p:cNvSpPr/>
          <p:nvPr/>
        </p:nvSpPr>
        <p:spPr>
          <a:xfrm>
            <a:off x="10012412" y="6057900"/>
            <a:ext cx="492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9B6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대기</a:t>
            </a:r>
            <a:endParaRPr lang="en-US" sz="900" dirty="0"/>
          </a:p>
        </p:txBody>
      </p:sp>
      <p:sp>
        <p:nvSpPr>
          <p:cNvPr id="99" name="Shape 85"/>
          <p:cNvSpPr/>
          <p:nvPr/>
        </p:nvSpPr>
        <p:spPr>
          <a:xfrm>
            <a:off x="10638532" y="5991225"/>
            <a:ext cx="402431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00" name="Text 86"/>
          <p:cNvSpPr/>
          <p:nvPr/>
        </p:nvSpPr>
        <p:spPr>
          <a:xfrm>
            <a:off x="10705207" y="6048375"/>
            <a:ext cx="2690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</a:t>
            </a:r>
            <a:endParaRPr lang="en-US" sz="825" dirty="0"/>
          </a:p>
        </p:txBody>
      </p:sp>
      <p:sp>
        <p:nvSpPr>
          <p:cNvPr id="101" name="Shape 87"/>
          <p:cNvSpPr/>
          <p:nvPr/>
        </p:nvSpPr>
        <p:spPr>
          <a:xfrm>
            <a:off x="3057525" y="6372225"/>
            <a:ext cx="7983438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02" name="Shape 88"/>
          <p:cNvSpPr/>
          <p:nvPr/>
        </p:nvSpPr>
        <p:spPr>
          <a:xfrm>
            <a:off x="3057525" y="6477000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F1E3D0"/>
          </a:solidFill>
          <a:ln/>
        </p:spPr>
      </p:sp>
      <p:sp>
        <p:nvSpPr>
          <p:cNvPr id="103" name="Text 89"/>
          <p:cNvSpPr/>
          <p:nvPr/>
        </p:nvSpPr>
        <p:spPr>
          <a:xfrm>
            <a:off x="3019425" y="647700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</a:t>
            </a:r>
            <a:endParaRPr lang="en-US" sz="900" dirty="0"/>
          </a:p>
        </p:txBody>
      </p:sp>
      <p:sp>
        <p:nvSpPr>
          <p:cNvPr id="104" name="Text 90"/>
          <p:cNvSpPr/>
          <p:nvPr/>
        </p:nvSpPr>
        <p:spPr>
          <a:xfrm>
            <a:off x="3476625" y="6486525"/>
            <a:ext cx="65160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최예린 </a:t>
            </a: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·F·INFP</a:t>
            </a:r>
            <a:endParaRPr lang="en-US" sz="975" dirty="0"/>
          </a:p>
        </p:txBody>
      </p:sp>
      <p:sp>
        <p:nvSpPr>
          <p:cNvPr id="105" name="Text 91"/>
          <p:cNvSpPr/>
          <p:nvPr/>
        </p:nvSpPr>
        <p:spPr>
          <a:xfrm>
            <a:off x="3476625" y="6648450"/>
            <a:ext cx="65160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6. 1 신청</a:t>
            </a:r>
            <a:endParaRPr lang="en-US" sz="825" dirty="0"/>
          </a:p>
        </p:txBody>
      </p:sp>
      <p:sp>
        <p:nvSpPr>
          <p:cNvPr id="106" name="Shape 92"/>
          <p:cNvSpPr/>
          <p:nvPr/>
        </p:nvSpPr>
        <p:spPr>
          <a:xfrm>
            <a:off x="9917162" y="6515100"/>
            <a:ext cx="607070" cy="22860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107" name="Text 93"/>
          <p:cNvSpPr/>
          <p:nvPr/>
        </p:nvSpPr>
        <p:spPr>
          <a:xfrm>
            <a:off x="10012412" y="6562725"/>
            <a:ext cx="492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 후보</a:t>
            </a:r>
            <a:endParaRPr lang="en-US" sz="900" dirty="0"/>
          </a:p>
        </p:txBody>
      </p:sp>
      <p:sp>
        <p:nvSpPr>
          <p:cNvPr id="108" name="Shape 94"/>
          <p:cNvSpPr/>
          <p:nvPr/>
        </p:nvSpPr>
        <p:spPr>
          <a:xfrm>
            <a:off x="10638532" y="6496050"/>
            <a:ext cx="402431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09" name="Text 95"/>
          <p:cNvSpPr/>
          <p:nvPr/>
        </p:nvSpPr>
        <p:spPr>
          <a:xfrm>
            <a:off x="10705207" y="6553200"/>
            <a:ext cx="2690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</a:t>
            </a:r>
            <a:endParaRPr lang="en-US" sz="825" dirty="0"/>
          </a:p>
        </p:txBody>
      </p:sp>
      <p:sp>
        <p:nvSpPr>
          <p:cNvPr id="110" name="Shape 96"/>
          <p:cNvSpPr/>
          <p:nvPr/>
        </p:nvSpPr>
        <p:spPr>
          <a:xfrm>
            <a:off x="3057525" y="6877050"/>
            <a:ext cx="7983438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11" name="Shape 97"/>
          <p:cNvSpPr/>
          <p:nvPr/>
        </p:nvSpPr>
        <p:spPr>
          <a:xfrm>
            <a:off x="3057525" y="6981825"/>
            <a:ext cx="304800" cy="304800"/>
          </a:xfrm>
          <a:prstGeom prst="roundRect">
            <a:avLst>
              <a:gd name="adj" fmla="val 31250"/>
            </a:avLst>
          </a:prstGeom>
          <a:solidFill>
            <a:srgbClr val="E6E1D6"/>
          </a:solidFill>
          <a:ln/>
        </p:spPr>
      </p:sp>
      <p:sp>
        <p:nvSpPr>
          <p:cNvPr id="112" name="Text 98"/>
          <p:cNvSpPr/>
          <p:nvPr/>
        </p:nvSpPr>
        <p:spPr>
          <a:xfrm>
            <a:off x="3019425" y="698182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</a:t>
            </a:r>
            <a:endParaRPr lang="en-US" sz="900" dirty="0"/>
          </a:p>
        </p:txBody>
      </p:sp>
      <p:sp>
        <p:nvSpPr>
          <p:cNvPr id="113" name="Text 99"/>
          <p:cNvSpPr/>
          <p:nvPr/>
        </p:nvSpPr>
        <p:spPr>
          <a:xfrm>
            <a:off x="3476625" y="6991350"/>
            <a:ext cx="65160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정민호 </a:t>
            </a: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·M·ENTP</a:t>
            </a:r>
            <a:endParaRPr lang="en-US" sz="975" dirty="0"/>
          </a:p>
        </p:txBody>
      </p:sp>
      <p:sp>
        <p:nvSpPr>
          <p:cNvPr id="114" name="Text 100"/>
          <p:cNvSpPr/>
          <p:nvPr/>
        </p:nvSpPr>
        <p:spPr>
          <a:xfrm>
            <a:off x="3476625" y="7153275"/>
            <a:ext cx="65160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6. 1 신청</a:t>
            </a:r>
            <a:endParaRPr lang="en-US" sz="825" dirty="0"/>
          </a:p>
        </p:txBody>
      </p:sp>
      <p:sp>
        <p:nvSpPr>
          <p:cNvPr id="115" name="Shape 101"/>
          <p:cNvSpPr/>
          <p:nvPr/>
        </p:nvSpPr>
        <p:spPr>
          <a:xfrm>
            <a:off x="9917162" y="7019925"/>
            <a:ext cx="607070" cy="228600"/>
          </a:xfrm>
          <a:prstGeom prst="roundRect">
            <a:avLst>
              <a:gd name="adj" fmla="val 50000"/>
            </a:avLst>
          </a:prstGeom>
          <a:solidFill>
            <a:srgbClr val="F5DFA8"/>
          </a:solidFill>
          <a:ln/>
        </p:spPr>
      </p:sp>
      <p:sp>
        <p:nvSpPr>
          <p:cNvPr id="116" name="Text 102"/>
          <p:cNvSpPr/>
          <p:nvPr/>
        </p:nvSpPr>
        <p:spPr>
          <a:xfrm>
            <a:off x="10012412" y="7067550"/>
            <a:ext cx="492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입금 대기</a:t>
            </a:r>
            <a:endParaRPr lang="en-US" sz="900" dirty="0"/>
          </a:p>
        </p:txBody>
      </p:sp>
      <p:sp>
        <p:nvSpPr>
          <p:cNvPr id="117" name="Shape 103"/>
          <p:cNvSpPr/>
          <p:nvPr/>
        </p:nvSpPr>
        <p:spPr>
          <a:xfrm>
            <a:off x="10638532" y="7000875"/>
            <a:ext cx="402431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18" name="Text 104"/>
          <p:cNvSpPr/>
          <p:nvPr/>
        </p:nvSpPr>
        <p:spPr>
          <a:xfrm>
            <a:off x="10705207" y="7058025"/>
            <a:ext cx="2690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</a:t>
            </a:r>
            <a:endParaRPr lang="en-US" sz="825" dirty="0"/>
          </a:p>
        </p:txBody>
      </p:sp>
      <p:sp>
        <p:nvSpPr>
          <p:cNvPr id="119" name="Shape 105"/>
          <p:cNvSpPr/>
          <p:nvPr/>
        </p:nvSpPr>
        <p:spPr>
          <a:xfrm>
            <a:off x="11355288" y="4400550"/>
            <a:ext cx="5961013" cy="1262063"/>
          </a:xfrm>
          <a:prstGeom prst="roundRect">
            <a:avLst>
              <a:gd name="adj" fmla="val 13585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20" name="Text 106"/>
          <p:cNvSpPr/>
          <p:nvPr/>
        </p:nvSpPr>
        <p:spPr>
          <a:xfrm>
            <a:off x="11536263" y="4581525"/>
            <a:ext cx="57670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8기 성비 &amp; 인원</a:t>
            </a:r>
            <a:endParaRPr lang="en-US" sz="1050" dirty="0"/>
          </a:p>
        </p:txBody>
      </p:sp>
      <p:sp>
        <p:nvSpPr>
          <p:cNvPr id="121" name="Shape 107"/>
          <p:cNvSpPr/>
          <p:nvPr/>
        </p:nvSpPr>
        <p:spPr>
          <a:xfrm>
            <a:off x="11536263" y="4867275"/>
            <a:ext cx="5599063" cy="152400"/>
          </a:xfrm>
          <a:prstGeom prst="roundRect">
            <a:avLst>
              <a:gd name="adj" fmla="val 50000"/>
            </a:avLst>
          </a:prstGeom>
          <a:solidFill>
            <a:srgbClr val="EFE2CE"/>
          </a:solidFill>
          <a:ln/>
        </p:spPr>
      </p:sp>
      <p:sp>
        <p:nvSpPr>
          <p:cNvPr id="122" name="Shape 108"/>
          <p:cNvSpPr/>
          <p:nvPr/>
        </p:nvSpPr>
        <p:spPr>
          <a:xfrm>
            <a:off x="11536263" y="4867275"/>
            <a:ext cx="2799457" cy="152400"/>
          </a:xfrm>
          <a:prstGeom prst="rect">
            <a:avLst/>
          </a:prstGeom>
          <a:solidFill>
            <a:srgbClr val="7BAEAA"/>
          </a:solidFill>
          <a:ln/>
        </p:spPr>
      </p:sp>
      <p:sp>
        <p:nvSpPr>
          <p:cNvPr id="123" name="Shape 109"/>
          <p:cNvSpPr/>
          <p:nvPr/>
        </p:nvSpPr>
        <p:spPr>
          <a:xfrm>
            <a:off x="14335720" y="4867275"/>
            <a:ext cx="2799606" cy="1524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24" name="Text 110"/>
          <p:cNvSpPr/>
          <p:nvPr/>
        </p:nvSpPr>
        <p:spPr>
          <a:xfrm>
            <a:off x="11536263" y="5095875"/>
            <a:ext cx="6642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 17 · 50%</a:t>
            </a:r>
            <a:endParaRPr lang="en-US" sz="900" dirty="0"/>
          </a:p>
        </p:txBody>
      </p:sp>
      <p:sp>
        <p:nvSpPr>
          <p:cNvPr id="125" name="Text 111"/>
          <p:cNvSpPr/>
          <p:nvPr/>
        </p:nvSpPr>
        <p:spPr>
          <a:xfrm>
            <a:off x="16547306" y="5095875"/>
            <a:ext cx="6642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 17 · 50%</a:t>
            </a:r>
            <a:endParaRPr lang="en-US" sz="900" dirty="0"/>
          </a:p>
        </p:txBody>
      </p:sp>
      <p:sp>
        <p:nvSpPr>
          <p:cNvPr id="126" name="Text 112"/>
          <p:cNvSpPr/>
          <p:nvPr/>
        </p:nvSpPr>
        <p:spPr>
          <a:xfrm>
            <a:off x="11536263" y="5324475"/>
            <a:ext cx="576703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4:4 · 현재 확정 1:1. 선정 후 캐릭터 배정 단계로 진행하세요.</a:t>
            </a:r>
            <a:endParaRPr lang="en-US" sz="825" dirty="0"/>
          </a:p>
        </p:txBody>
      </p:sp>
      <p:sp>
        <p:nvSpPr>
          <p:cNvPr id="127" name="Shape 113"/>
          <p:cNvSpPr/>
          <p:nvPr/>
        </p:nvSpPr>
        <p:spPr>
          <a:xfrm>
            <a:off x="11355288" y="5795963"/>
            <a:ext cx="5961013" cy="1762125"/>
          </a:xfrm>
          <a:prstGeom prst="roundRect">
            <a:avLst>
              <a:gd name="adj" fmla="val 973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28" name="Text 114"/>
          <p:cNvSpPr/>
          <p:nvPr/>
        </p:nvSpPr>
        <p:spPr>
          <a:xfrm>
            <a:off x="11536263" y="5976938"/>
            <a:ext cx="10190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투표 라운드 (8기)</a:t>
            </a:r>
            <a:endParaRPr lang="en-US" sz="1050" dirty="0"/>
          </a:p>
        </p:txBody>
      </p:sp>
      <p:sp>
        <p:nvSpPr>
          <p:cNvPr id="129" name="Text 115"/>
          <p:cNvSpPr/>
          <p:nvPr/>
        </p:nvSpPr>
        <p:spPr>
          <a:xfrm>
            <a:off x="16928753" y="6000750"/>
            <a:ext cx="2827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D-12</a:t>
            </a:r>
            <a:endParaRPr lang="en-US" sz="750" dirty="0"/>
          </a:p>
        </p:txBody>
      </p:sp>
      <p:sp>
        <p:nvSpPr>
          <p:cNvPr id="130" name="Shape 116"/>
          <p:cNvSpPr/>
          <p:nvPr/>
        </p:nvSpPr>
        <p:spPr>
          <a:xfrm>
            <a:off x="11536263" y="6324600"/>
            <a:ext cx="209550" cy="209550"/>
          </a:xfrm>
          <a:prstGeom prst="ellipse">
            <a:avLst/>
          </a:prstGeom>
          <a:solidFill>
            <a:srgbClr val="F1E3D0"/>
          </a:solidFill>
          <a:ln/>
        </p:spPr>
      </p:sp>
      <p:sp>
        <p:nvSpPr>
          <p:cNvPr id="131" name="Text 117"/>
          <p:cNvSpPr/>
          <p:nvPr/>
        </p:nvSpPr>
        <p:spPr>
          <a:xfrm>
            <a:off x="11498163" y="632460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25" dirty="0"/>
          </a:p>
        </p:txBody>
      </p:sp>
      <p:sp>
        <p:nvSpPr>
          <p:cNvPr id="132" name="Text 118"/>
          <p:cNvSpPr/>
          <p:nvPr/>
        </p:nvSpPr>
        <p:spPr>
          <a:xfrm>
            <a:off x="11822013" y="6362700"/>
            <a:ext cx="44421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첫인상선택</a:t>
            </a:r>
            <a:endParaRPr lang="en-US" sz="900" dirty="0"/>
          </a:p>
        </p:txBody>
      </p:sp>
      <p:sp>
        <p:nvSpPr>
          <p:cNvPr id="133" name="Text 119"/>
          <p:cNvSpPr/>
          <p:nvPr/>
        </p:nvSpPr>
        <p:spPr>
          <a:xfrm>
            <a:off x="16210955" y="6372225"/>
            <a:ext cx="55855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NOT_OPEN</a:t>
            </a:r>
            <a:endParaRPr lang="en-US" sz="750" dirty="0"/>
          </a:p>
        </p:txBody>
      </p:sp>
      <p:sp>
        <p:nvSpPr>
          <p:cNvPr id="134" name="Shape 120"/>
          <p:cNvSpPr/>
          <p:nvPr/>
        </p:nvSpPr>
        <p:spPr>
          <a:xfrm>
            <a:off x="16769507" y="6319838"/>
            <a:ext cx="365820" cy="219075"/>
          </a:xfrm>
          <a:prstGeom prst="roundRect">
            <a:avLst>
              <a:gd name="adj" fmla="val 26087"/>
            </a:avLst>
          </a:prstGeom>
          <a:solidFill>
            <a:srgbClr val="F1E3D0"/>
          </a:solidFill>
          <a:ln/>
        </p:spPr>
      </p:sp>
      <p:sp>
        <p:nvSpPr>
          <p:cNvPr id="135" name="Text 121"/>
          <p:cNvSpPr/>
          <p:nvPr/>
        </p:nvSpPr>
        <p:spPr>
          <a:xfrm>
            <a:off x="16826657" y="6357938"/>
            <a:ext cx="2515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열기</a:t>
            </a:r>
            <a:endParaRPr lang="en-US" sz="750" dirty="0"/>
          </a:p>
        </p:txBody>
      </p:sp>
      <p:sp>
        <p:nvSpPr>
          <p:cNvPr id="136" name="Shape 122"/>
          <p:cNvSpPr/>
          <p:nvPr/>
        </p:nvSpPr>
        <p:spPr>
          <a:xfrm>
            <a:off x="11536263" y="6615113"/>
            <a:ext cx="5599063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37" name="Shape 123"/>
          <p:cNvSpPr/>
          <p:nvPr/>
        </p:nvSpPr>
        <p:spPr>
          <a:xfrm>
            <a:off x="11536263" y="6705600"/>
            <a:ext cx="209550" cy="209550"/>
          </a:xfrm>
          <a:prstGeom prst="ellipse">
            <a:avLst/>
          </a:prstGeom>
          <a:solidFill>
            <a:srgbClr val="F1E3D0"/>
          </a:solidFill>
          <a:ln/>
        </p:spPr>
      </p:sp>
      <p:sp>
        <p:nvSpPr>
          <p:cNvPr id="138" name="Text 124"/>
          <p:cNvSpPr/>
          <p:nvPr/>
        </p:nvSpPr>
        <p:spPr>
          <a:xfrm>
            <a:off x="11498163" y="670560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25" dirty="0"/>
          </a:p>
        </p:txBody>
      </p:sp>
      <p:sp>
        <p:nvSpPr>
          <p:cNvPr id="139" name="Text 125"/>
          <p:cNvSpPr/>
          <p:nvPr/>
        </p:nvSpPr>
        <p:spPr>
          <a:xfrm>
            <a:off x="11822013" y="6743700"/>
            <a:ext cx="44421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중간선택</a:t>
            </a:r>
            <a:endParaRPr lang="en-US" sz="900" dirty="0"/>
          </a:p>
        </p:txBody>
      </p:sp>
      <p:sp>
        <p:nvSpPr>
          <p:cNvPr id="140" name="Text 126"/>
          <p:cNvSpPr/>
          <p:nvPr/>
        </p:nvSpPr>
        <p:spPr>
          <a:xfrm>
            <a:off x="16210955" y="6753225"/>
            <a:ext cx="55855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NOT_OPEN</a:t>
            </a:r>
            <a:endParaRPr lang="en-US" sz="750" dirty="0"/>
          </a:p>
        </p:txBody>
      </p:sp>
      <p:sp>
        <p:nvSpPr>
          <p:cNvPr id="141" name="Shape 127"/>
          <p:cNvSpPr/>
          <p:nvPr/>
        </p:nvSpPr>
        <p:spPr>
          <a:xfrm>
            <a:off x="16769507" y="6700838"/>
            <a:ext cx="365820" cy="219075"/>
          </a:xfrm>
          <a:prstGeom prst="roundRect">
            <a:avLst>
              <a:gd name="adj" fmla="val 26087"/>
            </a:avLst>
          </a:prstGeom>
          <a:solidFill>
            <a:srgbClr val="F1E3D0"/>
          </a:solidFill>
          <a:ln/>
        </p:spPr>
      </p:sp>
      <p:sp>
        <p:nvSpPr>
          <p:cNvPr id="142" name="Text 128"/>
          <p:cNvSpPr/>
          <p:nvPr/>
        </p:nvSpPr>
        <p:spPr>
          <a:xfrm>
            <a:off x="16826657" y="6738938"/>
            <a:ext cx="2515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열기</a:t>
            </a:r>
            <a:endParaRPr lang="en-US" sz="750" dirty="0"/>
          </a:p>
        </p:txBody>
      </p:sp>
      <p:sp>
        <p:nvSpPr>
          <p:cNvPr id="143" name="Shape 129"/>
          <p:cNvSpPr/>
          <p:nvPr/>
        </p:nvSpPr>
        <p:spPr>
          <a:xfrm>
            <a:off x="11536263" y="6996113"/>
            <a:ext cx="5599063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44" name="Shape 130"/>
          <p:cNvSpPr/>
          <p:nvPr/>
        </p:nvSpPr>
        <p:spPr>
          <a:xfrm>
            <a:off x="11536263" y="7086600"/>
            <a:ext cx="209550" cy="209550"/>
          </a:xfrm>
          <a:prstGeom prst="ellipse">
            <a:avLst/>
          </a:prstGeom>
          <a:solidFill>
            <a:srgbClr val="F1E3D0"/>
          </a:solidFill>
          <a:ln/>
        </p:spPr>
      </p:sp>
      <p:sp>
        <p:nvSpPr>
          <p:cNvPr id="145" name="Text 131"/>
          <p:cNvSpPr/>
          <p:nvPr/>
        </p:nvSpPr>
        <p:spPr>
          <a:xfrm>
            <a:off x="11498163" y="708660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25" dirty="0"/>
          </a:p>
        </p:txBody>
      </p:sp>
      <p:sp>
        <p:nvSpPr>
          <p:cNvPr id="146" name="Text 132"/>
          <p:cNvSpPr/>
          <p:nvPr/>
        </p:nvSpPr>
        <p:spPr>
          <a:xfrm>
            <a:off x="11822013" y="7124700"/>
            <a:ext cx="444212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최종선택</a:t>
            </a:r>
            <a:endParaRPr lang="en-US" sz="900" dirty="0"/>
          </a:p>
        </p:txBody>
      </p:sp>
      <p:sp>
        <p:nvSpPr>
          <p:cNvPr id="147" name="Text 133"/>
          <p:cNvSpPr/>
          <p:nvPr/>
        </p:nvSpPr>
        <p:spPr>
          <a:xfrm>
            <a:off x="16210955" y="7134225"/>
            <a:ext cx="55855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NOT_OPEN</a:t>
            </a:r>
            <a:endParaRPr lang="en-US" sz="750" dirty="0"/>
          </a:p>
        </p:txBody>
      </p:sp>
      <p:sp>
        <p:nvSpPr>
          <p:cNvPr id="148" name="Shape 134"/>
          <p:cNvSpPr/>
          <p:nvPr/>
        </p:nvSpPr>
        <p:spPr>
          <a:xfrm>
            <a:off x="16769507" y="7081838"/>
            <a:ext cx="365820" cy="219075"/>
          </a:xfrm>
          <a:prstGeom prst="roundRect">
            <a:avLst>
              <a:gd name="adj" fmla="val 26087"/>
            </a:avLst>
          </a:prstGeom>
          <a:solidFill>
            <a:srgbClr val="F1E3D0"/>
          </a:solidFill>
          <a:ln/>
        </p:spPr>
      </p:sp>
      <p:sp>
        <p:nvSpPr>
          <p:cNvPr id="149" name="Text 135"/>
          <p:cNvSpPr/>
          <p:nvPr/>
        </p:nvSpPr>
        <p:spPr>
          <a:xfrm>
            <a:off x="16826657" y="7119938"/>
            <a:ext cx="2515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열기</a:t>
            </a:r>
            <a:endParaRPr lang="en-US" sz="750" dirty="0"/>
          </a:p>
        </p:txBody>
      </p:sp>
      <p:sp>
        <p:nvSpPr>
          <p:cNvPr id="150" name="Shape 136"/>
          <p:cNvSpPr/>
          <p:nvPr/>
        </p:nvSpPr>
        <p:spPr>
          <a:xfrm>
            <a:off x="11355288" y="7691438"/>
            <a:ext cx="5961013" cy="179070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51" name="Text 137"/>
          <p:cNvSpPr/>
          <p:nvPr/>
        </p:nvSpPr>
        <p:spPr>
          <a:xfrm>
            <a:off x="11536263" y="7872413"/>
            <a:ext cx="57670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후기 승인 대기</a:t>
            </a:r>
            <a:endParaRPr lang="en-US" sz="1050" dirty="0"/>
          </a:p>
        </p:txBody>
      </p:sp>
      <p:sp>
        <p:nvSpPr>
          <p:cNvPr id="152" name="Shape 138"/>
          <p:cNvSpPr/>
          <p:nvPr/>
        </p:nvSpPr>
        <p:spPr>
          <a:xfrm>
            <a:off x="11536263" y="8215313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F1E3D0"/>
          </a:solidFill>
          <a:ln/>
        </p:spPr>
      </p:sp>
      <p:sp>
        <p:nvSpPr>
          <p:cNvPr id="153" name="Text 139"/>
          <p:cNvSpPr/>
          <p:nvPr/>
        </p:nvSpPr>
        <p:spPr>
          <a:xfrm>
            <a:off x="11591330" y="8239125"/>
            <a:ext cx="19466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-1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몽</a:t>
            </a:r>
            <a:endParaRPr lang="en-US" sz="975" dirty="0"/>
          </a:p>
        </p:txBody>
      </p:sp>
      <p:sp>
        <p:nvSpPr>
          <p:cNvPr id="154" name="Text 140"/>
          <p:cNvSpPr/>
          <p:nvPr/>
        </p:nvSpPr>
        <p:spPr>
          <a:xfrm>
            <a:off x="11860113" y="8262938"/>
            <a:ext cx="483624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몽블랑 </a:t>
            </a: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·7기</a:t>
            </a:r>
            <a:endParaRPr lang="en-US" sz="900" dirty="0"/>
          </a:p>
        </p:txBody>
      </p:sp>
      <p:sp>
        <p:nvSpPr>
          <p:cNvPr id="155" name="Shape 141"/>
          <p:cNvSpPr/>
          <p:nvPr/>
        </p:nvSpPr>
        <p:spPr>
          <a:xfrm>
            <a:off x="16650742" y="8243888"/>
            <a:ext cx="484584" cy="171450"/>
          </a:xfrm>
          <a:prstGeom prst="roundRect">
            <a:avLst>
              <a:gd name="adj" fmla="val 33333"/>
            </a:avLst>
          </a:prstGeom>
          <a:solidFill>
            <a:srgbClr val="F5DFA8"/>
          </a:solidFill>
          <a:ln/>
        </p:spPr>
      </p:sp>
      <p:sp>
        <p:nvSpPr>
          <p:cNvPr id="156" name="Text 142"/>
          <p:cNvSpPr/>
          <p:nvPr/>
        </p:nvSpPr>
        <p:spPr>
          <a:xfrm>
            <a:off x="16717417" y="8272463"/>
            <a:ext cx="42743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커플 인증</a:t>
            </a:r>
            <a:endParaRPr lang="en-US" sz="750" dirty="0"/>
          </a:p>
        </p:txBody>
      </p:sp>
      <p:sp>
        <p:nvSpPr>
          <p:cNvPr id="157" name="Shape 143"/>
          <p:cNvSpPr/>
          <p:nvPr/>
        </p:nvSpPr>
        <p:spPr>
          <a:xfrm>
            <a:off x="11536263" y="8520113"/>
            <a:ext cx="5599063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58" name="Shape 144"/>
          <p:cNvSpPr/>
          <p:nvPr/>
        </p:nvSpPr>
        <p:spPr>
          <a:xfrm>
            <a:off x="11536263" y="8605838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F1E3D0"/>
          </a:solidFill>
          <a:ln/>
        </p:spPr>
      </p:sp>
      <p:sp>
        <p:nvSpPr>
          <p:cNvPr id="159" name="Text 145"/>
          <p:cNvSpPr/>
          <p:nvPr/>
        </p:nvSpPr>
        <p:spPr>
          <a:xfrm>
            <a:off x="11591330" y="8629650"/>
            <a:ext cx="19466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-1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소</a:t>
            </a:r>
            <a:endParaRPr lang="en-US" sz="975" dirty="0"/>
          </a:p>
        </p:txBody>
      </p:sp>
      <p:sp>
        <p:nvSpPr>
          <p:cNvPr id="160" name="Text 146"/>
          <p:cNvSpPr/>
          <p:nvPr/>
        </p:nvSpPr>
        <p:spPr>
          <a:xfrm>
            <a:off x="11860113" y="8653463"/>
            <a:ext cx="475131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소금빵 </a:t>
            </a: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·6기</a:t>
            </a:r>
            <a:endParaRPr lang="en-US" sz="900" dirty="0"/>
          </a:p>
        </p:txBody>
      </p:sp>
      <p:sp>
        <p:nvSpPr>
          <p:cNvPr id="161" name="Shape 147"/>
          <p:cNvSpPr/>
          <p:nvPr/>
        </p:nvSpPr>
        <p:spPr>
          <a:xfrm>
            <a:off x="16568291" y="8634413"/>
            <a:ext cx="567035" cy="171450"/>
          </a:xfrm>
          <a:prstGeom prst="roundRect">
            <a:avLst>
              <a:gd name="adj" fmla="val 33333"/>
            </a:avLst>
          </a:prstGeom>
          <a:solidFill>
            <a:srgbClr val="F5DFA8"/>
          </a:solidFill>
          <a:ln/>
        </p:spPr>
      </p:sp>
      <p:sp>
        <p:nvSpPr>
          <p:cNvPr id="162" name="Text 148"/>
          <p:cNvSpPr/>
          <p:nvPr/>
        </p:nvSpPr>
        <p:spPr>
          <a:xfrm>
            <a:off x="16634966" y="8662988"/>
            <a:ext cx="50988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데이트 후기</a:t>
            </a:r>
            <a:endParaRPr lang="en-US" sz="750" dirty="0"/>
          </a:p>
        </p:txBody>
      </p:sp>
      <p:sp>
        <p:nvSpPr>
          <p:cNvPr id="163" name="Shape 149"/>
          <p:cNvSpPr/>
          <p:nvPr/>
        </p:nvSpPr>
        <p:spPr>
          <a:xfrm>
            <a:off x="11536263" y="8910638"/>
            <a:ext cx="5599063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64" name="Shape 150"/>
          <p:cNvSpPr/>
          <p:nvPr/>
        </p:nvSpPr>
        <p:spPr>
          <a:xfrm>
            <a:off x="11536263" y="8996363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F1E3D0"/>
          </a:solidFill>
          <a:ln/>
        </p:spPr>
      </p:sp>
      <p:sp>
        <p:nvSpPr>
          <p:cNvPr id="165" name="Text 151"/>
          <p:cNvSpPr/>
          <p:nvPr/>
        </p:nvSpPr>
        <p:spPr>
          <a:xfrm>
            <a:off x="11591330" y="9020175"/>
            <a:ext cx="19466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-10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에</a:t>
            </a:r>
            <a:endParaRPr lang="en-US" sz="975" dirty="0"/>
          </a:p>
        </p:txBody>
      </p:sp>
      <p:sp>
        <p:nvSpPr>
          <p:cNvPr id="166" name="Text 152"/>
          <p:cNvSpPr/>
          <p:nvPr/>
        </p:nvSpPr>
        <p:spPr>
          <a:xfrm>
            <a:off x="11860113" y="9043988"/>
            <a:ext cx="483624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에그타르트 </a:t>
            </a: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·7기</a:t>
            </a:r>
            <a:endParaRPr lang="en-US" sz="900" dirty="0"/>
          </a:p>
        </p:txBody>
      </p:sp>
      <p:sp>
        <p:nvSpPr>
          <p:cNvPr id="167" name="Shape 153"/>
          <p:cNvSpPr/>
          <p:nvPr/>
        </p:nvSpPr>
        <p:spPr>
          <a:xfrm>
            <a:off x="16650742" y="9024938"/>
            <a:ext cx="484584" cy="171450"/>
          </a:xfrm>
          <a:prstGeom prst="roundRect">
            <a:avLst>
              <a:gd name="adj" fmla="val 33333"/>
            </a:avLst>
          </a:prstGeom>
          <a:solidFill>
            <a:srgbClr val="F5DFA8"/>
          </a:solidFill>
          <a:ln/>
        </p:spPr>
      </p:sp>
      <p:sp>
        <p:nvSpPr>
          <p:cNvPr id="168" name="Text 154"/>
          <p:cNvSpPr/>
          <p:nvPr/>
        </p:nvSpPr>
        <p:spPr>
          <a:xfrm>
            <a:off x="16717417" y="9053513"/>
            <a:ext cx="42743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 후기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340892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관리자 · 인원 선정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035361" y="685800"/>
            <a:ext cx="23763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· 객관 · 케미점수 + AI 요약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1047750"/>
            <a:ext cx="16764000" cy="8382000"/>
          </a:xfrm>
          <a:prstGeom prst="roundRect">
            <a:avLst>
              <a:gd name="adj" fmla="val 2727"/>
            </a:avLst>
          </a:prstGeom>
          <a:solidFill>
            <a:srgbClr val="F7F1E6"/>
          </a:solidFill>
          <a:ln/>
          <a:effectLst>
            <a:outerShdw blurRad="571500" dist="285750" dir="5400000" algn="bl" rotWithShape="0">
              <a:srgbClr val="3A1E1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047750"/>
            <a:ext cx="16764000" cy="8382000"/>
          </a:xfrm>
          <a:prstGeom prst="rect">
            <a:avLst/>
          </a:prstGeom>
          <a:solidFill>
            <a:srgbClr val="F7F1E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047750"/>
            <a:ext cx="16764000" cy="209550"/>
          </a:xfrm>
          <a:prstGeom prst="rect">
            <a:avLst/>
          </a:prstGeom>
          <a:solidFill>
            <a:srgbClr val="551321"/>
          </a:solidFill>
          <a:ln/>
        </p:spPr>
      </p:sp>
      <p:sp>
        <p:nvSpPr>
          <p:cNvPr id="7" name="Text 5"/>
          <p:cNvSpPr/>
          <p:nvPr/>
        </p:nvSpPr>
        <p:spPr>
          <a:xfrm>
            <a:off x="971550" y="1047750"/>
            <a:ext cx="11630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kern="0" spc="-13" dirty="0">
                <a:solidFill>
                  <a:srgbClr val="F5D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Chemistry Oven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153692" y="1062038"/>
            <a:ext cx="537716" cy="180975"/>
          </a:xfrm>
          <a:prstGeom prst="roundRect">
            <a:avLst>
              <a:gd name="adj" fmla="val 31579"/>
            </a:avLst>
          </a:prstGeom>
          <a:solidFill>
            <a:srgbClr val="F5DFA8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229892" y="1090613"/>
            <a:ext cx="4615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5D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6580048" y="1085850"/>
            <a:ext cx="81260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운영자 · sora@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2000" y="1257300"/>
            <a:ext cx="1905000" cy="10326886"/>
          </a:xfrm>
          <a:prstGeom prst="rect">
            <a:avLst/>
          </a:prstGeom>
          <a:solidFill>
            <a:srgbClr val="FFF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7475" y="1257300"/>
            <a:ext cx="9525" cy="10326886"/>
          </a:xfrm>
          <a:prstGeom prst="rect">
            <a:avLst/>
          </a:prstGeom>
          <a:solidFill>
            <a:srgbClr val="EFE2CE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524000"/>
            <a:ext cx="152400" cy="152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38250" y="1528763"/>
            <a:ext cx="5043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975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885950"/>
            <a:ext cx="152400" cy="1524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8250" y="1890713"/>
            <a:ext cx="5345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회차 관리</a:t>
            </a:r>
            <a:endParaRPr lang="en-US" sz="975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247900"/>
            <a:ext cx="152400" cy="152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8250" y="2252663"/>
            <a:ext cx="6415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신청자 관리</a:t>
            </a:r>
            <a:endParaRPr lang="en-US" sz="975" dirty="0"/>
          </a:p>
        </p:txBody>
      </p:sp>
      <p:sp>
        <p:nvSpPr>
          <p:cNvPr id="19" name="Shape 14"/>
          <p:cNvSpPr/>
          <p:nvPr/>
        </p:nvSpPr>
        <p:spPr>
          <a:xfrm>
            <a:off x="876300" y="2514600"/>
            <a:ext cx="1666875" cy="342900"/>
          </a:xfrm>
          <a:prstGeom prst="roundRect">
            <a:avLst>
              <a:gd name="adj" fmla="val 33333"/>
            </a:avLst>
          </a:prstGeom>
          <a:solidFill>
            <a:srgbClr val="7A1F2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2609850"/>
            <a:ext cx="152400" cy="1524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8250" y="2614613"/>
            <a:ext cx="5328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인원 선정</a:t>
            </a:r>
            <a:endParaRPr lang="en-US" sz="975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2971800"/>
            <a:ext cx="152400" cy="1524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8250" y="2976563"/>
            <a:ext cx="6415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참가자 관리</a:t>
            </a:r>
            <a:endParaRPr lang="en-US" sz="975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3333750"/>
            <a:ext cx="152400" cy="1524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38250" y="3338513"/>
            <a:ext cx="6415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배정</a:t>
            </a:r>
            <a:endParaRPr lang="en-US" sz="975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3695700"/>
            <a:ext cx="152400" cy="1524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238250" y="3700463"/>
            <a:ext cx="5345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투표 관리</a:t>
            </a:r>
            <a:endParaRPr lang="en-US" sz="975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4057650"/>
            <a:ext cx="152400" cy="1524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238250" y="4062412"/>
            <a:ext cx="5043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자리배치</a:t>
            </a:r>
            <a:endParaRPr lang="en-US" sz="975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4419600"/>
            <a:ext cx="152400" cy="1524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238250" y="4424363"/>
            <a:ext cx="5345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결과</a:t>
            </a:r>
            <a:endParaRPr lang="en-US" sz="975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" y="4781550"/>
            <a:ext cx="152400" cy="1524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1238250" y="4786313"/>
            <a:ext cx="5345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후기 관리</a:t>
            </a:r>
            <a:endParaRPr lang="en-US" sz="975" dirty="0"/>
          </a:p>
        </p:txBody>
      </p:sp>
      <p:sp>
        <p:nvSpPr>
          <p:cNvPr id="34" name="Text 22"/>
          <p:cNvSpPr/>
          <p:nvPr/>
        </p:nvSpPr>
        <p:spPr>
          <a:xfrm>
            <a:off x="2876550" y="1447800"/>
            <a:ext cx="31855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인원 선정 · 케미스트리오븐 8기</a:t>
            </a:r>
            <a:endParaRPr lang="en-US" sz="1650" dirty="0"/>
          </a:p>
        </p:txBody>
      </p:sp>
      <p:sp>
        <p:nvSpPr>
          <p:cNvPr id="35" name="Text 23"/>
          <p:cNvSpPr/>
          <p:nvPr/>
        </p:nvSpPr>
        <p:spPr>
          <a:xfrm>
            <a:off x="2876550" y="1733550"/>
            <a:ext cx="318558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추천 점수는 선정 참고용입니다. 최종 선정은 운영자가 확정합니다.</a:t>
            </a:r>
            <a:endParaRPr lang="en-US" sz="900" dirty="0"/>
          </a:p>
        </p:txBody>
      </p:sp>
      <p:sp>
        <p:nvSpPr>
          <p:cNvPr id="36" name="Shape 24"/>
          <p:cNvSpPr/>
          <p:nvPr/>
        </p:nvSpPr>
        <p:spPr>
          <a:xfrm>
            <a:off x="15081647" y="1609725"/>
            <a:ext cx="715268" cy="257175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15186422" y="1676400"/>
            <a:ext cx="5819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회차: 8기 ▾</a:t>
            </a:r>
            <a:endParaRPr lang="en-US" sz="825" dirty="0"/>
          </a:p>
        </p:txBody>
      </p:sp>
      <p:sp>
        <p:nvSpPr>
          <p:cNvPr id="38" name="Shape 26"/>
          <p:cNvSpPr/>
          <p:nvPr/>
        </p:nvSpPr>
        <p:spPr>
          <a:xfrm>
            <a:off x="15873115" y="1609725"/>
            <a:ext cx="1443335" cy="257175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15977890" y="1676400"/>
            <a:ext cx="130998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STRICT 50 · 객관 50</a:t>
            </a:r>
            <a:endParaRPr lang="en-US" sz="825" dirty="0"/>
          </a:p>
        </p:txBody>
      </p:sp>
      <p:sp>
        <p:nvSpPr>
          <p:cNvPr id="40" name="Shape 28"/>
          <p:cNvSpPr/>
          <p:nvPr/>
        </p:nvSpPr>
        <p:spPr>
          <a:xfrm>
            <a:off x="2876550" y="2019300"/>
            <a:ext cx="659011" cy="238125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 w="9525">
            <a:solidFill>
              <a:srgbClr val="7A1F2B"/>
            </a:solidFill>
            <a:prstDash val="solid"/>
          </a:ln>
        </p:spPr>
      </p:sp>
      <p:sp>
        <p:nvSpPr>
          <p:cNvPr id="41" name="Text 29"/>
          <p:cNvSpPr/>
          <p:nvPr/>
        </p:nvSpPr>
        <p:spPr>
          <a:xfrm>
            <a:off x="2990850" y="2076450"/>
            <a:ext cx="50661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34명</a:t>
            </a:r>
            <a:endParaRPr lang="en-US" sz="825" dirty="0"/>
          </a:p>
        </p:txBody>
      </p:sp>
      <p:sp>
        <p:nvSpPr>
          <p:cNvPr id="42" name="Shape 30"/>
          <p:cNvSpPr/>
          <p:nvPr/>
        </p:nvSpPr>
        <p:spPr>
          <a:xfrm>
            <a:off x="3611761" y="2019300"/>
            <a:ext cx="451693" cy="2381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3726061" y="2076450"/>
            <a:ext cx="2992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 17</a:t>
            </a:r>
            <a:endParaRPr lang="en-US" sz="825" dirty="0"/>
          </a:p>
        </p:txBody>
      </p:sp>
      <p:sp>
        <p:nvSpPr>
          <p:cNvPr id="44" name="Shape 32"/>
          <p:cNvSpPr/>
          <p:nvPr/>
        </p:nvSpPr>
        <p:spPr>
          <a:xfrm>
            <a:off x="4139654" y="2019300"/>
            <a:ext cx="451693" cy="2381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4253954" y="2076450"/>
            <a:ext cx="2992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 17</a:t>
            </a:r>
            <a:endParaRPr lang="en-US" sz="825" dirty="0"/>
          </a:p>
        </p:txBody>
      </p:sp>
      <p:sp>
        <p:nvSpPr>
          <p:cNvPr id="46" name="Shape 34"/>
          <p:cNvSpPr/>
          <p:nvPr/>
        </p:nvSpPr>
        <p:spPr>
          <a:xfrm>
            <a:off x="4667548" y="2019300"/>
            <a:ext cx="615702" cy="2381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4781848" y="2076450"/>
            <a:ext cx="46330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완료</a:t>
            </a:r>
            <a:endParaRPr lang="en-US" sz="825" dirty="0"/>
          </a:p>
        </p:txBody>
      </p:sp>
      <p:sp>
        <p:nvSpPr>
          <p:cNvPr id="48" name="Shape 36"/>
          <p:cNvSpPr/>
          <p:nvPr/>
        </p:nvSpPr>
        <p:spPr>
          <a:xfrm>
            <a:off x="5359450" y="2019300"/>
            <a:ext cx="655290" cy="2381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5473750" y="2076450"/>
            <a:ext cx="50289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20대 후반</a:t>
            </a:r>
            <a:endParaRPr lang="en-US" sz="825" dirty="0"/>
          </a:p>
        </p:txBody>
      </p:sp>
      <p:sp>
        <p:nvSpPr>
          <p:cNvPr id="50" name="Shape 38"/>
          <p:cNvSpPr/>
          <p:nvPr/>
        </p:nvSpPr>
        <p:spPr>
          <a:xfrm>
            <a:off x="6090940" y="2019300"/>
            <a:ext cx="658267" cy="2381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6205240" y="2076450"/>
            <a:ext cx="50586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30대 초반</a:t>
            </a:r>
            <a:endParaRPr lang="en-US" sz="825" dirty="0"/>
          </a:p>
        </p:txBody>
      </p:sp>
      <p:sp>
        <p:nvSpPr>
          <p:cNvPr id="52" name="Shape 40"/>
          <p:cNvSpPr/>
          <p:nvPr/>
        </p:nvSpPr>
        <p:spPr>
          <a:xfrm>
            <a:off x="6825407" y="2019300"/>
            <a:ext cx="532507" cy="2381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53" name="Text 41"/>
          <p:cNvSpPr/>
          <p:nvPr/>
        </p:nvSpPr>
        <p:spPr>
          <a:xfrm>
            <a:off x="6939707" y="2076450"/>
            <a:ext cx="38010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IT/개발</a:t>
            </a:r>
            <a:endParaRPr lang="en-US" sz="825" dirty="0"/>
          </a:p>
        </p:txBody>
      </p:sp>
      <p:sp>
        <p:nvSpPr>
          <p:cNvPr id="54" name="Text 42"/>
          <p:cNvSpPr/>
          <p:nvPr/>
        </p:nvSpPr>
        <p:spPr>
          <a:xfrm>
            <a:off x="16507718" y="2019300"/>
            <a:ext cx="88493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케미점수 높은 순 ▾</a:t>
            </a:r>
            <a:endParaRPr lang="en-US" sz="825" dirty="0"/>
          </a:p>
        </p:txBody>
      </p:sp>
      <p:sp>
        <p:nvSpPr>
          <p:cNvPr id="55" name="Shape 43"/>
          <p:cNvSpPr/>
          <p:nvPr/>
        </p:nvSpPr>
        <p:spPr>
          <a:xfrm>
            <a:off x="2876550" y="2390775"/>
            <a:ext cx="14439900" cy="523875"/>
          </a:xfrm>
          <a:prstGeom prst="roundRect">
            <a:avLst>
              <a:gd name="adj" fmla="val 21818"/>
            </a:avLst>
          </a:prstGeom>
          <a:solidFill>
            <a:srgbClr val="FFF9F0"/>
          </a:solidFill>
          <a:ln w="9525">
            <a:solidFill>
              <a:srgbClr val="D9C5AA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3038475" y="2586038"/>
            <a:ext cx="49768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선정</a:t>
            </a:r>
            <a:endParaRPr lang="en-US" sz="900" dirty="0"/>
          </a:p>
        </p:txBody>
      </p:sp>
      <p:sp>
        <p:nvSpPr>
          <p:cNvPr id="57" name="Text 45"/>
          <p:cNvSpPr/>
          <p:nvPr/>
        </p:nvSpPr>
        <p:spPr>
          <a:xfrm>
            <a:off x="3593306" y="2581275"/>
            <a:ext cx="96634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 3 / 4 · 여 3 / 4</a:t>
            </a:r>
            <a:endParaRPr lang="en-US" sz="975" dirty="0"/>
          </a:p>
        </p:txBody>
      </p:sp>
      <p:sp>
        <p:nvSpPr>
          <p:cNvPr id="58" name="Shape 46"/>
          <p:cNvSpPr/>
          <p:nvPr/>
        </p:nvSpPr>
        <p:spPr>
          <a:xfrm>
            <a:off x="16231344" y="2514600"/>
            <a:ext cx="923181" cy="276225"/>
          </a:xfrm>
          <a:prstGeom prst="roundRect">
            <a:avLst>
              <a:gd name="adj" fmla="val 27586"/>
            </a:avLst>
          </a:prstGeom>
          <a:solidFill>
            <a:srgbClr val="7A1F2B"/>
          </a:solidFill>
          <a:ln/>
        </p:spPr>
      </p:sp>
      <p:sp>
        <p:nvSpPr>
          <p:cNvPr id="59" name="Text 47"/>
          <p:cNvSpPr/>
          <p:nvPr/>
        </p:nvSpPr>
        <p:spPr>
          <a:xfrm>
            <a:off x="16307544" y="2571750"/>
            <a:ext cx="77078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 안내 발송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2876550" y="3048000"/>
            <a:ext cx="14439900" cy="4343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2886075" y="3057525"/>
            <a:ext cx="14420850" cy="361950"/>
          </a:xfrm>
          <a:prstGeom prst="rect">
            <a:avLst/>
          </a:prstGeom>
          <a:solidFill>
            <a:srgbClr val="FFF9F0"/>
          </a:solidFill>
          <a:ln/>
        </p:spPr>
      </p:sp>
      <p:sp>
        <p:nvSpPr>
          <p:cNvPr id="62" name="Shape 50"/>
          <p:cNvSpPr/>
          <p:nvPr/>
        </p:nvSpPr>
        <p:spPr>
          <a:xfrm>
            <a:off x="2886075" y="3409950"/>
            <a:ext cx="144208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63" name="Text 51"/>
          <p:cNvSpPr/>
          <p:nvPr/>
        </p:nvSpPr>
        <p:spPr>
          <a:xfrm>
            <a:off x="3419475" y="3171825"/>
            <a:ext cx="227379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7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· MBTI</a:t>
            </a:r>
            <a:endParaRPr lang="en-US" sz="825" dirty="0"/>
          </a:p>
        </p:txBody>
      </p:sp>
      <p:sp>
        <p:nvSpPr>
          <p:cNvPr id="64" name="Text 52"/>
          <p:cNvSpPr/>
          <p:nvPr/>
        </p:nvSpPr>
        <p:spPr>
          <a:xfrm>
            <a:off x="5617071" y="3171825"/>
            <a:ext cx="154126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7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나이 · 키</a:t>
            </a:r>
            <a:endParaRPr lang="en-US" sz="825" dirty="0"/>
          </a:p>
        </p:txBody>
      </p:sp>
      <p:sp>
        <p:nvSpPr>
          <p:cNvPr id="65" name="Text 53"/>
          <p:cNvSpPr/>
          <p:nvPr/>
        </p:nvSpPr>
        <p:spPr>
          <a:xfrm>
            <a:off x="7082135" y="3171825"/>
            <a:ext cx="135805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7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성별</a:t>
            </a:r>
            <a:endParaRPr lang="en-US" sz="825" dirty="0"/>
          </a:p>
        </p:txBody>
      </p:sp>
      <p:sp>
        <p:nvSpPr>
          <p:cNvPr id="66" name="Text 54"/>
          <p:cNvSpPr/>
          <p:nvPr/>
        </p:nvSpPr>
        <p:spPr>
          <a:xfrm>
            <a:off x="8363992" y="3171825"/>
            <a:ext cx="190753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7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직업</a:t>
            </a:r>
            <a:endParaRPr lang="en-US" sz="825" dirty="0"/>
          </a:p>
        </p:txBody>
      </p:sp>
      <p:sp>
        <p:nvSpPr>
          <p:cNvPr id="67" name="Text 55"/>
          <p:cNvSpPr/>
          <p:nvPr/>
        </p:nvSpPr>
        <p:spPr>
          <a:xfrm>
            <a:off x="10195322" y="3171825"/>
            <a:ext cx="13582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7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</a:t>
            </a:r>
            <a:endParaRPr lang="en-US" sz="825" dirty="0"/>
          </a:p>
        </p:txBody>
      </p:sp>
      <p:sp>
        <p:nvSpPr>
          <p:cNvPr id="68" name="Text 56"/>
          <p:cNvSpPr/>
          <p:nvPr/>
        </p:nvSpPr>
        <p:spPr>
          <a:xfrm>
            <a:off x="11477327" y="3171825"/>
            <a:ext cx="135805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7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</a:t>
            </a:r>
            <a:endParaRPr lang="en-US" sz="825" dirty="0"/>
          </a:p>
        </p:txBody>
      </p:sp>
      <p:sp>
        <p:nvSpPr>
          <p:cNvPr id="69" name="Text 57"/>
          <p:cNvSpPr/>
          <p:nvPr/>
        </p:nvSpPr>
        <p:spPr>
          <a:xfrm>
            <a:off x="12759184" y="3171825"/>
            <a:ext cx="13582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7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</a:t>
            </a:r>
            <a:endParaRPr lang="en-US" sz="825" dirty="0"/>
          </a:p>
        </p:txBody>
      </p:sp>
      <p:sp>
        <p:nvSpPr>
          <p:cNvPr id="70" name="Text 58"/>
          <p:cNvSpPr/>
          <p:nvPr/>
        </p:nvSpPr>
        <p:spPr>
          <a:xfrm>
            <a:off x="14041189" y="3171825"/>
            <a:ext cx="154126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7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케미점수</a:t>
            </a:r>
            <a:endParaRPr lang="en-US" sz="825" dirty="0"/>
          </a:p>
        </p:txBody>
      </p:sp>
      <p:sp>
        <p:nvSpPr>
          <p:cNvPr id="71" name="Text 59"/>
          <p:cNvSpPr/>
          <p:nvPr/>
        </p:nvSpPr>
        <p:spPr>
          <a:xfrm>
            <a:off x="15506254" y="3171825"/>
            <a:ext cx="172432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7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액션</a:t>
            </a:r>
            <a:endParaRPr lang="en-US" sz="825" dirty="0"/>
          </a:p>
        </p:txBody>
      </p:sp>
      <p:sp>
        <p:nvSpPr>
          <p:cNvPr id="72" name="Shape 60"/>
          <p:cNvSpPr/>
          <p:nvPr/>
        </p:nvSpPr>
        <p:spPr>
          <a:xfrm>
            <a:off x="2886075" y="3905250"/>
            <a:ext cx="144208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73" name="Text 61"/>
          <p:cNvSpPr/>
          <p:nvPr/>
        </p:nvSpPr>
        <p:spPr>
          <a:xfrm>
            <a:off x="3419475" y="3533775"/>
            <a:ext cx="227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김도현</a:t>
            </a:r>
            <a:endParaRPr lang="en-US" sz="900" dirty="0"/>
          </a:p>
        </p:txBody>
      </p:sp>
      <p:sp>
        <p:nvSpPr>
          <p:cNvPr id="74" name="Text 62"/>
          <p:cNvSpPr/>
          <p:nvPr/>
        </p:nvSpPr>
        <p:spPr>
          <a:xfrm>
            <a:off x="3419475" y="3686175"/>
            <a:ext cx="227379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INFJ</a:t>
            </a:r>
            <a:endParaRPr lang="en-US" sz="750" dirty="0"/>
          </a:p>
        </p:txBody>
      </p:sp>
      <p:sp>
        <p:nvSpPr>
          <p:cNvPr id="75" name="Text 63"/>
          <p:cNvSpPr/>
          <p:nvPr/>
        </p:nvSpPr>
        <p:spPr>
          <a:xfrm>
            <a:off x="5617071" y="3595688"/>
            <a:ext cx="15412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30세 · </a:t>
            </a: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178cm</a:t>
            </a:r>
            <a:endParaRPr lang="en-US" sz="900" dirty="0"/>
          </a:p>
        </p:txBody>
      </p:sp>
      <p:sp>
        <p:nvSpPr>
          <p:cNvPr id="76" name="Shape 64"/>
          <p:cNvSpPr/>
          <p:nvPr/>
        </p:nvSpPr>
        <p:spPr>
          <a:xfrm>
            <a:off x="7082135" y="3586163"/>
            <a:ext cx="217438" cy="152400"/>
          </a:xfrm>
          <a:prstGeom prst="roundRect">
            <a:avLst>
              <a:gd name="adj" fmla="val 37500"/>
            </a:avLst>
          </a:prstGeom>
          <a:solidFill>
            <a:srgbClr val="E6E1D6"/>
          </a:solidFill>
          <a:ln/>
        </p:spPr>
      </p:sp>
      <p:sp>
        <p:nvSpPr>
          <p:cNvPr id="77" name="Text 65"/>
          <p:cNvSpPr/>
          <p:nvPr/>
        </p:nvSpPr>
        <p:spPr>
          <a:xfrm>
            <a:off x="7148810" y="3605213"/>
            <a:ext cx="16028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750" dirty="0"/>
          </a:p>
        </p:txBody>
      </p:sp>
      <p:sp>
        <p:nvSpPr>
          <p:cNvPr id="78" name="Text 66"/>
          <p:cNvSpPr/>
          <p:nvPr/>
        </p:nvSpPr>
        <p:spPr>
          <a:xfrm>
            <a:off x="8363992" y="3595688"/>
            <a:ext cx="19075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IT/개발</a:t>
            </a:r>
            <a:endParaRPr lang="en-US" sz="900" dirty="0"/>
          </a:p>
        </p:txBody>
      </p:sp>
      <p:sp>
        <p:nvSpPr>
          <p:cNvPr id="79" name="Text 67"/>
          <p:cNvSpPr/>
          <p:nvPr/>
        </p:nvSpPr>
        <p:spPr>
          <a:xfrm>
            <a:off x="10195322" y="3600450"/>
            <a:ext cx="13582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크루아상</a:t>
            </a:r>
            <a:endParaRPr lang="en-US" sz="825" dirty="0"/>
          </a:p>
        </p:txBody>
      </p:sp>
      <p:sp>
        <p:nvSpPr>
          <p:cNvPr id="80" name="Shape 68"/>
          <p:cNvSpPr/>
          <p:nvPr/>
        </p:nvSpPr>
        <p:spPr>
          <a:xfrm>
            <a:off x="11477327" y="3633788"/>
            <a:ext cx="996107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81" name="Shape 69"/>
          <p:cNvSpPr/>
          <p:nvPr/>
        </p:nvSpPr>
        <p:spPr>
          <a:xfrm>
            <a:off x="11477327" y="3633788"/>
            <a:ext cx="916335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82" name="Text 70"/>
          <p:cNvSpPr/>
          <p:nvPr/>
        </p:nvSpPr>
        <p:spPr>
          <a:xfrm>
            <a:off x="12473434" y="35956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900" dirty="0"/>
          </a:p>
        </p:txBody>
      </p:sp>
      <p:sp>
        <p:nvSpPr>
          <p:cNvPr id="83" name="Shape 71"/>
          <p:cNvSpPr/>
          <p:nvPr/>
        </p:nvSpPr>
        <p:spPr>
          <a:xfrm>
            <a:off x="12759184" y="3633788"/>
            <a:ext cx="996255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84" name="Shape 72"/>
          <p:cNvSpPr/>
          <p:nvPr/>
        </p:nvSpPr>
        <p:spPr>
          <a:xfrm>
            <a:off x="12759184" y="3633788"/>
            <a:ext cx="876598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85" name="Text 73"/>
          <p:cNvSpPr/>
          <p:nvPr/>
        </p:nvSpPr>
        <p:spPr>
          <a:xfrm>
            <a:off x="13755439" y="35956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900" dirty="0"/>
          </a:p>
        </p:txBody>
      </p:sp>
      <p:sp>
        <p:nvSpPr>
          <p:cNvPr id="86" name="Shape 74"/>
          <p:cNvSpPr/>
          <p:nvPr/>
        </p:nvSpPr>
        <p:spPr>
          <a:xfrm>
            <a:off x="14041189" y="3633788"/>
            <a:ext cx="1179314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87" name="Shape 75"/>
          <p:cNvSpPr/>
          <p:nvPr/>
        </p:nvSpPr>
        <p:spPr>
          <a:xfrm>
            <a:off x="14041189" y="3633788"/>
            <a:ext cx="1061293" cy="5715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88" name="Text 76"/>
          <p:cNvSpPr/>
          <p:nvPr/>
        </p:nvSpPr>
        <p:spPr>
          <a:xfrm>
            <a:off x="15220504" y="35956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  <p:sp>
        <p:nvSpPr>
          <p:cNvPr id="89" name="Shape 77"/>
          <p:cNvSpPr/>
          <p:nvPr/>
        </p:nvSpPr>
        <p:spPr>
          <a:xfrm>
            <a:off x="15506254" y="3548063"/>
            <a:ext cx="385911" cy="22860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90" name="Text 78"/>
          <p:cNvSpPr/>
          <p:nvPr/>
        </p:nvSpPr>
        <p:spPr>
          <a:xfrm>
            <a:off x="15601504" y="3595688"/>
            <a:ext cx="27161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</a:t>
            </a:r>
            <a:endParaRPr lang="en-US" sz="900" dirty="0"/>
          </a:p>
        </p:txBody>
      </p:sp>
      <p:sp>
        <p:nvSpPr>
          <p:cNvPr id="91" name="Shape 79"/>
          <p:cNvSpPr/>
          <p:nvPr/>
        </p:nvSpPr>
        <p:spPr>
          <a:xfrm>
            <a:off x="2886075" y="4400550"/>
            <a:ext cx="144208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92" name="Text 80"/>
          <p:cNvSpPr/>
          <p:nvPr/>
        </p:nvSpPr>
        <p:spPr>
          <a:xfrm>
            <a:off x="3419475" y="4029075"/>
            <a:ext cx="227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이지윤</a:t>
            </a:r>
            <a:endParaRPr lang="en-US" sz="900" dirty="0"/>
          </a:p>
        </p:txBody>
      </p:sp>
      <p:sp>
        <p:nvSpPr>
          <p:cNvPr id="93" name="Text 81"/>
          <p:cNvSpPr/>
          <p:nvPr/>
        </p:nvSpPr>
        <p:spPr>
          <a:xfrm>
            <a:off x="3419475" y="4181475"/>
            <a:ext cx="227379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INFP</a:t>
            </a:r>
            <a:endParaRPr lang="en-US" sz="750" dirty="0"/>
          </a:p>
        </p:txBody>
      </p:sp>
      <p:sp>
        <p:nvSpPr>
          <p:cNvPr id="94" name="Text 82"/>
          <p:cNvSpPr/>
          <p:nvPr/>
        </p:nvSpPr>
        <p:spPr>
          <a:xfrm>
            <a:off x="5617071" y="4090987"/>
            <a:ext cx="15412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28세 · </a:t>
            </a: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167cm</a:t>
            </a:r>
            <a:endParaRPr lang="en-US" sz="900" dirty="0"/>
          </a:p>
        </p:txBody>
      </p:sp>
      <p:sp>
        <p:nvSpPr>
          <p:cNvPr id="95" name="Shape 83"/>
          <p:cNvSpPr/>
          <p:nvPr/>
        </p:nvSpPr>
        <p:spPr>
          <a:xfrm>
            <a:off x="7082135" y="4081463"/>
            <a:ext cx="186928" cy="152400"/>
          </a:xfrm>
          <a:prstGeom prst="roundRect">
            <a:avLst>
              <a:gd name="adj" fmla="val 37500"/>
            </a:avLst>
          </a:prstGeom>
          <a:solidFill>
            <a:srgbClr val="F1E3D0"/>
          </a:solidFill>
          <a:ln/>
        </p:spPr>
      </p:sp>
      <p:sp>
        <p:nvSpPr>
          <p:cNvPr id="96" name="Text 84"/>
          <p:cNvSpPr/>
          <p:nvPr/>
        </p:nvSpPr>
        <p:spPr>
          <a:xfrm>
            <a:off x="7148810" y="4100513"/>
            <a:ext cx="1297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50" dirty="0"/>
          </a:p>
        </p:txBody>
      </p:sp>
      <p:sp>
        <p:nvSpPr>
          <p:cNvPr id="97" name="Text 85"/>
          <p:cNvSpPr/>
          <p:nvPr/>
        </p:nvSpPr>
        <p:spPr>
          <a:xfrm>
            <a:off x="8363992" y="4090987"/>
            <a:ext cx="19075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</a:t>
            </a:r>
            <a:endParaRPr lang="en-US" sz="900" dirty="0"/>
          </a:p>
        </p:txBody>
      </p:sp>
      <p:sp>
        <p:nvSpPr>
          <p:cNvPr id="98" name="Text 86"/>
          <p:cNvSpPr/>
          <p:nvPr/>
        </p:nvSpPr>
        <p:spPr>
          <a:xfrm>
            <a:off x="10195322" y="4095750"/>
            <a:ext cx="13582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티라미수</a:t>
            </a:r>
            <a:endParaRPr lang="en-US" sz="825" dirty="0"/>
          </a:p>
        </p:txBody>
      </p:sp>
      <p:sp>
        <p:nvSpPr>
          <p:cNvPr id="99" name="Shape 87"/>
          <p:cNvSpPr/>
          <p:nvPr/>
        </p:nvSpPr>
        <p:spPr>
          <a:xfrm>
            <a:off x="11477327" y="4129088"/>
            <a:ext cx="996107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00" name="Shape 88"/>
          <p:cNvSpPr/>
          <p:nvPr/>
        </p:nvSpPr>
        <p:spPr>
          <a:xfrm>
            <a:off x="11477327" y="4129088"/>
            <a:ext cx="876449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101" name="Text 89"/>
          <p:cNvSpPr/>
          <p:nvPr/>
        </p:nvSpPr>
        <p:spPr>
          <a:xfrm>
            <a:off x="12473434" y="4090987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900" dirty="0"/>
          </a:p>
        </p:txBody>
      </p:sp>
      <p:sp>
        <p:nvSpPr>
          <p:cNvPr id="102" name="Shape 90"/>
          <p:cNvSpPr/>
          <p:nvPr/>
        </p:nvSpPr>
        <p:spPr>
          <a:xfrm>
            <a:off x="12759184" y="4129088"/>
            <a:ext cx="996255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03" name="Shape 91"/>
          <p:cNvSpPr/>
          <p:nvPr/>
        </p:nvSpPr>
        <p:spPr>
          <a:xfrm>
            <a:off x="12759184" y="4129088"/>
            <a:ext cx="906512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104" name="Text 92"/>
          <p:cNvSpPr/>
          <p:nvPr/>
        </p:nvSpPr>
        <p:spPr>
          <a:xfrm>
            <a:off x="13755439" y="4090987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900" dirty="0"/>
          </a:p>
        </p:txBody>
      </p:sp>
      <p:sp>
        <p:nvSpPr>
          <p:cNvPr id="105" name="Shape 93"/>
          <p:cNvSpPr/>
          <p:nvPr/>
        </p:nvSpPr>
        <p:spPr>
          <a:xfrm>
            <a:off x="14041189" y="4129088"/>
            <a:ext cx="1179314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06" name="Shape 94"/>
          <p:cNvSpPr/>
          <p:nvPr/>
        </p:nvSpPr>
        <p:spPr>
          <a:xfrm>
            <a:off x="14041189" y="4129088"/>
            <a:ext cx="1049536" cy="5715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107" name="Text 95"/>
          <p:cNvSpPr/>
          <p:nvPr/>
        </p:nvSpPr>
        <p:spPr>
          <a:xfrm>
            <a:off x="15220504" y="4090987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900" dirty="0"/>
          </a:p>
        </p:txBody>
      </p:sp>
      <p:sp>
        <p:nvSpPr>
          <p:cNvPr id="108" name="Shape 96"/>
          <p:cNvSpPr/>
          <p:nvPr/>
        </p:nvSpPr>
        <p:spPr>
          <a:xfrm>
            <a:off x="15506254" y="4043363"/>
            <a:ext cx="385911" cy="22860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109" name="Text 97"/>
          <p:cNvSpPr/>
          <p:nvPr/>
        </p:nvSpPr>
        <p:spPr>
          <a:xfrm>
            <a:off x="15601504" y="4090987"/>
            <a:ext cx="27161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</a:t>
            </a:r>
            <a:endParaRPr lang="en-US" sz="900" dirty="0"/>
          </a:p>
        </p:txBody>
      </p:sp>
      <p:sp>
        <p:nvSpPr>
          <p:cNvPr id="110" name="Shape 98"/>
          <p:cNvSpPr/>
          <p:nvPr/>
        </p:nvSpPr>
        <p:spPr>
          <a:xfrm>
            <a:off x="2886075" y="4895850"/>
            <a:ext cx="144208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11" name="Text 99"/>
          <p:cNvSpPr/>
          <p:nvPr/>
        </p:nvSpPr>
        <p:spPr>
          <a:xfrm>
            <a:off x="3419475" y="4524375"/>
            <a:ext cx="227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박서준</a:t>
            </a:r>
            <a:endParaRPr lang="en-US" sz="900" dirty="0"/>
          </a:p>
        </p:txBody>
      </p:sp>
      <p:sp>
        <p:nvSpPr>
          <p:cNvPr id="112" name="Text 100"/>
          <p:cNvSpPr/>
          <p:nvPr/>
        </p:nvSpPr>
        <p:spPr>
          <a:xfrm>
            <a:off x="3419475" y="4676775"/>
            <a:ext cx="227379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ISTJ</a:t>
            </a:r>
            <a:endParaRPr lang="en-US" sz="750" dirty="0"/>
          </a:p>
        </p:txBody>
      </p:sp>
      <p:sp>
        <p:nvSpPr>
          <p:cNvPr id="113" name="Text 101"/>
          <p:cNvSpPr/>
          <p:nvPr/>
        </p:nvSpPr>
        <p:spPr>
          <a:xfrm>
            <a:off x="5617071" y="4586288"/>
            <a:ext cx="15412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32세 · </a:t>
            </a: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175cm</a:t>
            </a:r>
            <a:endParaRPr lang="en-US" sz="900" dirty="0"/>
          </a:p>
        </p:txBody>
      </p:sp>
      <p:sp>
        <p:nvSpPr>
          <p:cNvPr id="114" name="Shape 102"/>
          <p:cNvSpPr/>
          <p:nvPr/>
        </p:nvSpPr>
        <p:spPr>
          <a:xfrm>
            <a:off x="7082135" y="4576763"/>
            <a:ext cx="217438" cy="152400"/>
          </a:xfrm>
          <a:prstGeom prst="roundRect">
            <a:avLst>
              <a:gd name="adj" fmla="val 37500"/>
            </a:avLst>
          </a:prstGeom>
          <a:solidFill>
            <a:srgbClr val="E6E1D6"/>
          </a:solidFill>
          <a:ln/>
        </p:spPr>
      </p:sp>
      <p:sp>
        <p:nvSpPr>
          <p:cNvPr id="115" name="Text 103"/>
          <p:cNvSpPr/>
          <p:nvPr/>
        </p:nvSpPr>
        <p:spPr>
          <a:xfrm>
            <a:off x="7148810" y="4595812"/>
            <a:ext cx="16028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750" dirty="0"/>
          </a:p>
        </p:txBody>
      </p:sp>
      <p:sp>
        <p:nvSpPr>
          <p:cNvPr id="116" name="Text 104"/>
          <p:cNvSpPr/>
          <p:nvPr/>
        </p:nvSpPr>
        <p:spPr>
          <a:xfrm>
            <a:off x="8363992" y="4586288"/>
            <a:ext cx="19075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</a:t>
            </a:r>
            <a:endParaRPr lang="en-US" sz="900" dirty="0"/>
          </a:p>
        </p:txBody>
      </p:sp>
      <p:sp>
        <p:nvSpPr>
          <p:cNvPr id="117" name="Text 105"/>
          <p:cNvSpPr/>
          <p:nvPr/>
        </p:nvSpPr>
        <p:spPr>
          <a:xfrm>
            <a:off x="10195322" y="4591050"/>
            <a:ext cx="13582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소금빵</a:t>
            </a:r>
            <a:endParaRPr lang="en-US" sz="825" dirty="0"/>
          </a:p>
        </p:txBody>
      </p:sp>
      <p:sp>
        <p:nvSpPr>
          <p:cNvPr id="118" name="Shape 106"/>
          <p:cNvSpPr/>
          <p:nvPr/>
        </p:nvSpPr>
        <p:spPr>
          <a:xfrm>
            <a:off x="11477327" y="4624388"/>
            <a:ext cx="996107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19" name="Shape 107"/>
          <p:cNvSpPr/>
          <p:nvPr/>
        </p:nvSpPr>
        <p:spPr>
          <a:xfrm>
            <a:off x="11477327" y="4624388"/>
            <a:ext cx="846683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120" name="Text 108"/>
          <p:cNvSpPr/>
          <p:nvPr/>
        </p:nvSpPr>
        <p:spPr>
          <a:xfrm>
            <a:off x="12473434" y="45862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900" dirty="0"/>
          </a:p>
        </p:txBody>
      </p:sp>
      <p:sp>
        <p:nvSpPr>
          <p:cNvPr id="121" name="Shape 109"/>
          <p:cNvSpPr/>
          <p:nvPr/>
        </p:nvSpPr>
        <p:spPr>
          <a:xfrm>
            <a:off x="12759184" y="4624388"/>
            <a:ext cx="996255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22" name="Shape 110"/>
          <p:cNvSpPr/>
          <p:nvPr/>
        </p:nvSpPr>
        <p:spPr>
          <a:xfrm>
            <a:off x="12759184" y="4624388"/>
            <a:ext cx="836712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123" name="Text 111"/>
          <p:cNvSpPr/>
          <p:nvPr/>
        </p:nvSpPr>
        <p:spPr>
          <a:xfrm>
            <a:off x="13755439" y="45862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00" dirty="0"/>
          </a:p>
        </p:txBody>
      </p:sp>
      <p:sp>
        <p:nvSpPr>
          <p:cNvPr id="124" name="Shape 112"/>
          <p:cNvSpPr/>
          <p:nvPr/>
        </p:nvSpPr>
        <p:spPr>
          <a:xfrm>
            <a:off x="14041189" y="4624388"/>
            <a:ext cx="1179314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25" name="Shape 113"/>
          <p:cNvSpPr/>
          <p:nvPr/>
        </p:nvSpPr>
        <p:spPr>
          <a:xfrm>
            <a:off x="14041189" y="4624388"/>
            <a:ext cx="990600" cy="5715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126" name="Text 114"/>
          <p:cNvSpPr/>
          <p:nvPr/>
        </p:nvSpPr>
        <p:spPr>
          <a:xfrm>
            <a:off x="15220504" y="45862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00" dirty="0"/>
          </a:p>
        </p:txBody>
      </p:sp>
      <p:sp>
        <p:nvSpPr>
          <p:cNvPr id="127" name="Shape 115"/>
          <p:cNvSpPr/>
          <p:nvPr/>
        </p:nvSpPr>
        <p:spPr>
          <a:xfrm>
            <a:off x="15506254" y="4538663"/>
            <a:ext cx="385911" cy="22860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128" name="Text 116"/>
          <p:cNvSpPr/>
          <p:nvPr/>
        </p:nvSpPr>
        <p:spPr>
          <a:xfrm>
            <a:off x="15601504" y="4586288"/>
            <a:ext cx="27161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</a:t>
            </a:r>
            <a:endParaRPr lang="en-US" sz="900" dirty="0"/>
          </a:p>
        </p:txBody>
      </p:sp>
      <p:sp>
        <p:nvSpPr>
          <p:cNvPr id="129" name="Shape 117"/>
          <p:cNvSpPr/>
          <p:nvPr/>
        </p:nvSpPr>
        <p:spPr>
          <a:xfrm>
            <a:off x="2886075" y="5391150"/>
            <a:ext cx="144208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30" name="Text 118"/>
          <p:cNvSpPr/>
          <p:nvPr/>
        </p:nvSpPr>
        <p:spPr>
          <a:xfrm>
            <a:off x="3419475" y="5019675"/>
            <a:ext cx="227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최예린</a:t>
            </a:r>
            <a:endParaRPr lang="en-US" sz="900" dirty="0"/>
          </a:p>
        </p:txBody>
      </p:sp>
      <p:sp>
        <p:nvSpPr>
          <p:cNvPr id="131" name="Text 119"/>
          <p:cNvSpPr/>
          <p:nvPr/>
        </p:nvSpPr>
        <p:spPr>
          <a:xfrm>
            <a:off x="3419475" y="5172075"/>
            <a:ext cx="227379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ENFP</a:t>
            </a:r>
            <a:endParaRPr lang="en-US" sz="750" dirty="0"/>
          </a:p>
        </p:txBody>
      </p:sp>
      <p:sp>
        <p:nvSpPr>
          <p:cNvPr id="132" name="Text 120"/>
          <p:cNvSpPr/>
          <p:nvPr/>
        </p:nvSpPr>
        <p:spPr>
          <a:xfrm>
            <a:off x="5617071" y="5081588"/>
            <a:ext cx="15412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27세 · </a:t>
            </a: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165cm</a:t>
            </a:r>
            <a:endParaRPr lang="en-US" sz="900" dirty="0"/>
          </a:p>
        </p:txBody>
      </p:sp>
      <p:sp>
        <p:nvSpPr>
          <p:cNvPr id="133" name="Shape 121"/>
          <p:cNvSpPr/>
          <p:nvPr/>
        </p:nvSpPr>
        <p:spPr>
          <a:xfrm>
            <a:off x="7082135" y="5072063"/>
            <a:ext cx="186928" cy="152400"/>
          </a:xfrm>
          <a:prstGeom prst="roundRect">
            <a:avLst>
              <a:gd name="adj" fmla="val 37500"/>
            </a:avLst>
          </a:prstGeom>
          <a:solidFill>
            <a:srgbClr val="F1E3D0"/>
          </a:solidFill>
          <a:ln/>
        </p:spPr>
      </p:sp>
      <p:sp>
        <p:nvSpPr>
          <p:cNvPr id="134" name="Text 122"/>
          <p:cNvSpPr/>
          <p:nvPr/>
        </p:nvSpPr>
        <p:spPr>
          <a:xfrm>
            <a:off x="7148810" y="5091113"/>
            <a:ext cx="1297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50" dirty="0"/>
          </a:p>
        </p:txBody>
      </p:sp>
      <p:sp>
        <p:nvSpPr>
          <p:cNvPr id="135" name="Text 123"/>
          <p:cNvSpPr/>
          <p:nvPr/>
        </p:nvSpPr>
        <p:spPr>
          <a:xfrm>
            <a:off x="8363992" y="5081588"/>
            <a:ext cx="19075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</a:t>
            </a:r>
            <a:endParaRPr lang="en-US" sz="900" dirty="0"/>
          </a:p>
        </p:txBody>
      </p:sp>
      <p:sp>
        <p:nvSpPr>
          <p:cNvPr id="136" name="Text 124"/>
          <p:cNvSpPr/>
          <p:nvPr/>
        </p:nvSpPr>
        <p:spPr>
          <a:xfrm>
            <a:off x="10195322" y="5086350"/>
            <a:ext cx="13582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에그타르트</a:t>
            </a:r>
            <a:endParaRPr lang="en-US" sz="825" dirty="0"/>
          </a:p>
        </p:txBody>
      </p:sp>
      <p:sp>
        <p:nvSpPr>
          <p:cNvPr id="137" name="Shape 125"/>
          <p:cNvSpPr/>
          <p:nvPr/>
        </p:nvSpPr>
        <p:spPr>
          <a:xfrm>
            <a:off x="11477327" y="5119688"/>
            <a:ext cx="996107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38" name="Shape 126"/>
          <p:cNvSpPr/>
          <p:nvPr/>
        </p:nvSpPr>
        <p:spPr>
          <a:xfrm>
            <a:off x="11477327" y="5119688"/>
            <a:ext cx="776883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139" name="Text 127"/>
          <p:cNvSpPr/>
          <p:nvPr/>
        </p:nvSpPr>
        <p:spPr>
          <a:xfrm>
            <a:off x="12473434" y="50815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  <p:sp>
        <p:nvSpPr>
          <p:cNvPr id="140" name="Shape 128"/>
          <p:cNvSpPr/>
          <p:nvPr/>
        </p:nvSpPr>
        <p:spPr>
          <a:xfrm>
            <a:off x="12759184" y="5119688"/>
            <a:ext cx="996255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41" name="Shape 129"/>
          <p:cNvSpPr/>
          <p:nvPr/>
        </p:nvSpPr>
        <p:spPr>
          <a:xfrm>
            <a:off x="12759184" y="5119688"/>
            <a:ext cx="896541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142" name="Text 130"/>
          <p:cNvSpPr/>
          <p:nvPr/>
        </p:nvSpPr>
        <p:spPr>
          <a:xfrm>
            <a:off x="13755439" y="50815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  <p:sp>
        <p:nvSpPr>
          <p:cNvPr id="143" name="Shape 131"/>
          <p:cNvSpPr/>
          <p:nvPr/>
        </p:nvSpPr>
        <p:spPr>
          <a:xfrm>
            <a:off x="14041189" y="5119688"/>
            <a:ext cx="1179314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44" name="Shape 132"/>
          <p:cNvSpPr/>
          <p:nvPr/>
        </p:nvSpPr>
        <p:spPr>
          <a:xfrm>
            <a:off x="14041189" y="5119688"/>
            <a:ext cx="990600" cy="5715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145" name="Text 133"/>
          <p:cNvSpPr/>
          <p:nvPr/>
        </p:nvSpPr>
        <p:spPr>
          <a:xfrm>
            <a:off x="15220504" y="50815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00" dirty="0"/>
          </a:p>
        </p:txBody>
      </p:sp>
      <p:sp>
        <p:nvSpPr>
          <p:cNvPr id="146" name="Shape 134"/>
          <p:cNvSpPr/>
          <p:nvPr/>
        </p:nvSpPr>
        <p:spPr>
          <a:xfrm>
            <a:off x="15506254" y="5033963"/>
            <a:ext cx="385911" cy="22860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147" name="Text 135"/>
          <p:cNvSpPr/>
          <p:nvPr/>
        </p:nvSpPr>
        <p:spPr>
          <a:xfrm>
            <a:off x="15601504" y="5081587"/>
            <a:ext cx="27161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</a:t>
            </a:r>
            <a:endParaRPr lang="en-US" sz="900" dirty="0"/>
          </a:p>
        </p:txBody>
      </p:sp>
      <p:sp>
        <p:nvSpPr>
          <p:cNvPr id="148" name="Shape 136"/>
          <p:cNvSpPr/>
          <p:nvPr/>
        </p:nvSpPr>
        <p:spPr>
          <a:xfrm>
            <a:off x="2886075" y="5886450"/>
            <a:ext cx="144208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49" name="Text 137"/>
          <p:cNvSpPr/>
          <p:nvPr/>
        </p:nvSpPr>
        <p:spPr>
          <a:xfrm>
            <a:off x="3419475" y="5514975"/>
            <a:ext cx="227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정민호</a:t>
            </a:r>
            <a:endParaRPr lang="en-US" sz="900" dirty="0"/>
          </a:p>
        </p:txBody>
      </p:sp>
      <p:sp>
        <p:nvSpPr>
          <p:cNvPr id="150" name="Text 138"/>
          <p:cNvSpPr/>
          <p:nvPr/>
        </p:nvSpPr>
        <p:spPr>
          <a:xfrm>
            <a:off x="3419475" y="5667375"/>
            <a:ext cx="227379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ENTP</a:t>
            </a:r>
            <a:endParaRPr lang="en-US" sz="750" dirty="0"/>
          </a:p>
        </p:txBody>
      </p:sp>
      <p:sp>
        <p:nvSpPr>
          <p:cNvPr id="151" name="Text 139"/>
          <p:cNvSpPr/>
          <p:nvPr/>
        </p:nvSpPr>
        <p:spPr>
          <a:xfrm>
            <a:off x="5617071" y="5576888"/>
            <a:ext cx="15412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29세 · </a:t>
            </a: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180cm</a:t>
            </a:r>
            <a:endParaRPr lang="en-US" sz="900" dirty="0"/>
          </a:p>
        </p:txBody>
      </p:sp>
      <p:sp>
        <p:nvSpPr>
          <p:cNvPr id="152" name="Shape 140"/>
          <p:cNvSpPr/>
          <p:nvPr/>
        </p:nvSpPr>
        <p:spPr>
          <a:xfrm>
            <a:off x="7082135" y="5567363"/>
            <a:ext cx="217438" cy="152400"/>
          </a:xfrm>
          <a:prstGeom prst="roundRect">
            <a:avLst>
              <a:gd name="adj" fmla="val 37500"/>
            </a:avLst>
          </a:prstGeom>
          <a:solidFill>
            <a:srgbClr val="E6E1D6"/>
          </a:solidFill>
          <a:ln/>
        </p:spPr>
      </p:sp>
      <p:sp>
        <p:nvSpPr>
          <p:cNvPr id="153" name="Text 141"/>
          <p:cNvSpPr/>
          <p:nvPr/>
        </p:nvSpPr>
        <p:spPr>
          <a:xfrm>
            <a:off x="7148810" y="5586413"/>
            <a:ext cx="16028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750" dirty="0"/>
          </a:p>
        </p:txBody>
      </p:sp>
      <p:sp>
        <p:nvSpPr>
          <p:cNvPr id="154" name="Text 142"/>
          <p:cNvSpPr/>
          <p:nvPr/>
        </p:nvSpPr>
        <p:spPr>
          <a:xfrm>
            <a:off x="8363992" y="5576888"/>
            <a:ext cx="19075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</a:t>
            </a:r>
            <a:endParaRPr lang="en-US" sz="900" dirty="0"/>
          </a:p>
        </p:txBody>
      </p:sp>
      <p:sp>
        <p:nvSpPr>
          <p:cNvPr id="155" name="Text 143"/>
          <p:cNvSpPr/>
          <p:nvPr/>
        </p:nvSpPr>
        <p:spPr>
          <a:xfrm>
            <a:off x="10195322" y="5581650"/>
            <a:ext cx="13582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에클레어</a:t>
            </a:r>
            <a:endParaRPr lang="en-US" sz="825" dirty="0"/>
          </a:p>
        </p:txBody>
      </p:sp>
      <p:sp>
        <p:nvSpPr>
          <p:cNvPr id="156" name="Shape 144"/>
          <p:cNvSpPr/>
          <p:nvPr/>
        </p:nvSpPr>
        <p:spPr>
          <a:xfrm>
            <a:off x="11477327" y="5614988"/>
            <a:ext cx="996107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57" name="Shape 145"/>
          <p:cNvSpPr/>
          <p:nvPr/>
        </p:nvSpPr>
        <p:spPr>
          <a:xfrm>
            <a:off x="11477327" y="5614988"/>
            <a:ext cx="746968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158" name="Text 146"/>
          <p:cNvSpPr/>
          <p:nvPr/>
        </p:nvSpPr>
        <p:spPr>
          <a:xfrm>
            <a:off x="12473434" y="55768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  <p:sp>
        <p:nvSpPr>
          <p:cNvPr id="159" name="Shape 147"/>
          <p:cNvSpPr/>
          <p:nvPr/>
        </p:nvSpPr>
        <p:spPr>
          <a:xfrm>
            <a:off x="12759184" y="5614988"/>
            <a:ext cx="996255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60" name="Shape 148"/>
          <p:cNvSpPr/>
          <p:nvPr/>
        </p:nvSpPr>
        <p:spPr>
          <a:xfrm>
            <a:off x="12759184" y="5614988"/>
            <a:ext cx="816918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161" name="Text 149"/>
          <p:cNvSpPr/>
          <p:nvPr/>
        </p:nvSpPr>
        <p:spPr>
          <a:xfrm>
            <a:off x="13755439" y="55768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00" dirty="0"/>
          </a:p>
        </p:txBody>
      </p:sp>
      <p:sp>
        <p:nvSpPr>
          <p:cNvPr id="162" name="Shape 150"/>
          <p:cNvSpPr/>
          <p:nvPr/>
        </p:nvSpPr>
        <p:spPr>
          <a:xfrm>
            <a:off x="14041189" y="5614988"/>
            <a:ext cx="1179314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63" name="Shape 151"/>
          <p:cNvSpPr/>
          <p:nvPr/>
        </p:nvSpPr>
        <p:spPr>
          <a:xfrm>
            <a:off x="14041189" y="5614988"/>
            <a:ext cx="919758" cy="5715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164" name="Text 152"/>
          <p:cNvSpPr/>
          <p:nvPr/>
        </p:nvSpPr>
        <p:spPr>
          <a:xfrm>
            <a:off x="15220504" y="55768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  <p:sp>
        <p:nvSpPr>
          <p:cNvPr id="165" name="Shape 153"/>
          <p:cNvSpPr/>
          <p:nvPr/>
        </p:nvSpPr>
        <p:spPr>
          <a:xfrm>
            <a:off x="15506254" y="5529263"/>
            <a:ext cx="385911" cy="228600"/>
          </a:xfrm>
          <a:prstGeom prst="roundRect">
            <a:avLst>
              <a:gd name="adj" fmla="val 50000"/>
            </a:avLst>
          </a:prstGeom>
          <a:solidFill>
            <a:srgbClr val="F5DFA8"/>
          </a:solidFill>
          <a:ln/>
        </p:spPr>
      </p:sp>
      <p:sp>
        <p:nvSpPr>
          <p:cNvPr id="166" name="Text 154"/>
          <p:cNvSpPr/>
          <p:nvPr/>
        </p:nvSpPr>
        <p:spPr>
          <a:xfrm>
            <a:off x="15601504" y="5576888"/>
            <a:ext cx="27161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보류</a:t>
            </a:r>
            <a:endParaRPr lang="en-US" sz="900" dirty="0"/>
          </a:p>
        </p:txBody>
      </p:sp>
      <p:sp>
        <p:nvSpPr>
          <p:cNvPr id="167" name="Shape 155"/>
          <p:cNvSpPr/>
          <p:nvPr/>
        </p:nvSpPr>
        <p:spPr>
          <a:xfrm>
            <a:off x="2886075" y="6381750"/>
            <a:ext cx="144208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68" name="Text 156"/>
          <p:cNvSpPr/>
          <p:nvPr/>
        </p:nvSpPr>
        <p:spPr>
          <a:xfrm>
            <a:off x="3419475" y="6010275"/>
            <a:ext cx="227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한소영</a:t>
            </a:r>
            <a:endParaRPr lang="en-US" sz="900" dirty="0"/>
          </a:p>
        </p:txBody>
      </p:sp>
      <p:sp>
        <p:nvSpPr>
          <p:cNvPr id="169" name="Text 157"/>
          <p:cNvSpPr/>
          <p:nvPr/>
        </p:nvSpPr>
        <p:spPr>
          <a:xfrm>
            <a:off x="3419475" y="6162675"/>
            <a:ext cx="227379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ISFJ</a:t>
            </a:r>
            <a:endParaRPr lang="en-US" sz="750" dirty="0"/>
          </a:p>
        </p:txBody>
      </p:sp>
      <p:sp>
        <p:nvSpPr>
          <p:cNvPr id="170" name="Text 158"/>
          <p:cNvSpPr/>
          <p:nvPr/>
        </p:nvSpPr>
        <p:spPr>
          <a:xfrm>
            <a:off x="5617071" y="6072188"/>
            <a:ext cx="15412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30세 · </a:t>
            </a: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163cm</a:t>
            </a:r>
            <a:endParaRPr lang="en-US" sz="900" dirty="0"/>
          </a:p>
        </p:txBody>
      </p:sp>
      <p:sp>
        <p:nvSpPr>
          <p:cNvPr id="171" name="Shape 159"/>
          <p:cNvSpPr/>
          <p:nvPr/>
        </p:nvSpPr>
        <p:spPr>
          <a:xfrm>
            <a:off x="7082135" y="6062663"/>
            <a:ext cx="186928" cy="152400"/>
          </a:xfrm>
          <a:prstGeom prst="roundRect">
            <a:avLst>
              <a:gd name="adj" fmla="val 37500"/>
            </a:avLst>
          </a:prstGeom>
          <a:solidFill>
            <a:srgbClr val="F1E3D0"/>
          </a:solidFill>
          <a:ln/>
        </p:spPr>
      </p:sp>
      <p:sp>
        <p:nvSpPr>
          <p:cNvPr id="172" name="Text 160"/>
          <p:cNvSpPr/>
          <p:nvPr/>
        </p:nvSpPr>
        <p:spPr>
          <a:xfrm>
            <a:off x="7148810" y="6081712"/>
            <a:ext cx="1297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50" dirty="0"/>
          </a:p>
        </p:txBody>
      </p:sp>
      <p:sp>
        <p:nvSpPr>
          <p:cNvPr id="173" name="Text 161"/>
          <p:cNvSpPr/>
          <p:nvPr/>
        </p:nvSpPr>
        <p:spPr>
          <a:xfrm>
            <a:off x="8363992" y="6072188"/>
            <a:ext cx="19075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</a:t>
            </a:r>
            <a:endParaRPr lang="en-US" sz="900" dirty="0"/>
          </a:p>
        </p:txBody>
      </p:sp>
      <p:sp>
        <p:nvSpPr>
          <p:cNvPr id="174" name="Text 162"/>
          <p:cNvSpPr/>
          <p:nvPr/>
        </p:nvSpPr>
        <p:spPr>
          <a:xfrm>
            <a:off x="10195322" y="6076950"/>
            <a:ext cx="13582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마들렌</a:t>
            </a:r>
            <a:endParaRPr lang="en-US" sz="825" dirty="0"/>
          </a:p>
        </p:txBody>
      </p:sp>
      <p:sp>
        <p:nvSpPr>
          <p:cNvPr id="175" name="Shape 163"/>
          <p:cNvSpPr/>
          <p:nvPr/>
        </p:nvSpPr>
        <p:spPr>
          <a:xfrm>
            <a:off x="11477327" y="6110288"/>
            <a:ext cx="996107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76" name="Shape 164"/>
          <p:cNvSpPr/>
          <p:nvPr/>
        </p:nvSpPr>
        <p:spPr>
          <a:xfrm>
            <a:off x="11477327" y="6110288"/>
            <a:ext cx="796826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177" name="Text 165"/>
          <p:cNvSpPr/>
          <p:nvPr/>
        </p:nvSpPr>
        <p:spPr>
          <a:xfrm>
            <a:off x="12473434" y="60721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78" name="Shape 166"/>
          <p:cNvSpPr/>
          <p:nvPr/>
        </p:nvSpPr>
        <p:spPr>
          <a:xfrm>
            <a:off x="12759184" y="6110288"/>
            <a:ext cx="996255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79" name="Shape 167"/>
          <p:cNvSpPr/>
          <p:nvPr/>
        </p:nvSpPr>
        <p:spPr>
          <a:xfrm>
            <a:off x="12759184" y="6110288"/>
            <a:ext cx="737146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180" name="Text 168"/>
          <p:cNvSpPr/>
          <p:nvPr/>
        </p:nvSpPr>
        <p:spPr>
          <a:xfrm>
            <a:off x="13755439" y="60721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900" dirty="0"/>
          </a:p>
        </p:txBody>
      </p:sp>
      <p:sp>
        <p:nvSpPr>
          <p:cNvPr id="181" name="Shape 169"/>
          <p:cNvSpPr/>
          <p:nvPr/>
        </p:nvSpPr>
        <p:spPr>
          <a:xfrm>
            <a:off x="14041189" y="6110288"/>
            <a:ext cx="1179314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82" name="Shape 170"/>
          <p:cNvSpPr/>
          <p:nvPr/>
        </p:nvSpPr>
        <p:spPr>
          <a:xfrm>
            <a:off x="14041189" y="6110288"/>
            <a:ext cx="908000" cy="5715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183" name="Text 171"/>
          <p:cNvSpPr/>
          <p:nvPr/>
        </p:nvSpPr>
        <p:spPr>
          <a:xfrm>
            <a:off x="15220504" y="60721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900" dirty="0"/>
          </a:p>
        </p:txBody>
      </p:sp>
      <p:sp>
        <p:nvSpPr>
          <p:cNvPr id="184" name="Shape 172"/>
          <p:cNvSpPr/>
          <p:nvPr/>
        </p:nvSpPr>
        <p:spPr>
          <a:xfrm>
            <a:off x="15506254" y="6024563"/>
            <a:ext cx="385911" cy="228600"/>
          </a:xfrm>
          <a:prstGeom prst="roundRect">
            <a:avLst>
              <a:gd name="adj" fmla="val 50000"/>
            </a:avLst>
          </a:prstGeom>
          <a:solidFill>
            <a:srgbClr val="F5DFA8"/>
          </a:solidFill>
          <a:ln/>
        </p:spPr>
      </p:sp>
      <p:sp>
        <p:nvSpPr>
          <p:cNvPr id="185" name="Text 173"/>
          <p:cNvSpPr/>
          <p:nvPr/>
        </p:nvSpPr>
        <p:spPr>
          <a:xfrm>
            <a:off x="15601504" y="6072188"/>
            <a:ext cx="27161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보류</a:t>
            </a:r>
            <a:endParaRPr lang="en-US" sz="900" dirty="0"/>
          </a:p>
        </p:txBody>
      </p:sp>
      <p:sp>
        <p:nvSpPr>
          <p:cNvPr id="186" name="Shape 174"/>
          <p:cNvSpPr/>
          <p:nvPr/>
        </p:nvSpPr>
        <p:spPr>
          <a:xfrm>
            <a:off x="2886075" y="6877050"/>
            <a:ext cx="144208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87" name="Text 175"/>
          <p:cNvSpPr/>
          <p:nvPr/>
        </p:nvSpPr>
        <p:spPr>
          <a:xfrm>
            <a:off x="3419475" y="6505575"/>
            <a:ext cx="227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오지훈</a:t>
            </a:r>
            <a:endParaRPr lang="en-US" sz="900" dirty="0"/>
          </a:p>
        </p:txBody>
      </p:sp>
      <p:sp>
        <p:nvSpPr>
          <p:cNvPr id="188" name="Text 176"/>
          <p:cNvSpPr/>
          <p:nvPr/>
        </p:nvSpPr>
        <p:spPr>
          <a:xfrm>
            <a:off x="3419475" y="6657975"/>
            <a:ext cx="227379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ESFP</a:t>
            </a:r>
            <a:endParaRPr lang="en-US" sz="750" dirty="0"/>
          </a:p>
        </p:txBody>
      </p:sp>
      <p:sp>
        <p:nvSpPr>
          <p:cNvPr id="189" name="Text 177"/>
          <p:cNvSpPr/>
          <p:nvPr/>
        </p:nvSpPr>
        <p:spPr>
          <a:xfrm>
            <a:off x="5617071" y="6567488"/>
            <a:ext cx="15412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28세 · </a:t>
            </a: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172cm</a:t>
            </a:r>
            <a:endParaRPr lang="en-US" sz="900" dirty="0"/>
          </a:p>
        </p:txBody>
      </p:sp>
      <p:sp>
        <p:nvSpPr>
          <p:cNvPr id="190" name="Shape 178"/>
          <p:cNvSpPr/>
          <p:nvPr/>
        </p:nvSpPr>
        <p:spPr>
          <a:xfrm>
            <a:off x="7082135" y="6557963"/>
            <a:ext cx="217438" cy="152400"/>
          </a:xfrm>
          <a:prstGeom prst="roundRect">
            <a:avLst>
              <a:gd name="adj" fmla="val 37500"/>
            </a:avLst>
          </a:prstGeom>
          <a:solidFill>
            <a:srgbClr val="E6E1D6"/>
          </a:solidFill>
          <a:ln/>
        </p:spPr>
      </p:sp>
      <p:sp>
        <p:nvSpPr>
          <p:cNvPr id="191" name="Text 179"/>
          <p:cNvSpPr/>
          <p:nvPr/>
        </p:nvSpPr>
        <p:spPr>
          <a:xfrm>
            <a:off x="7148810" y="6577013"/>
            <a:ext cx="16028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750" dirty="0"/>
          </a:p>
        </p:txBody>
      </p:sp>
      <p:sp>
        <p:nvSpPr>
          <p:cNvPr id="192" name="Text 180"/>
          <p:cNvSpPr/>
          <p:nvPr/>
        </p:nvSpPr>
        <p:spPr>
          <a:xfrm>
            <a:off x="8363992" y="6567488"/>
            <a:ext cx="19075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</a:t>
            </a:r>
            <a:endParaRPr lang="en-US" sz="900" dirty="0"/>
          </a:p>
        </p:txBody>
      </p:sp>
      <p:sp>
        <p:nvSpPr>
          <p:cNvPr id="193" name="Text 181"/>
          <p:cNvSpPr/>
          <p:nvPr/>
        </p:nvSpPr>
        <p:spPr>
          <a:xfrm>
            <a:off x="10195322" y="6572250"/>
            <a:ext cx="13582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단팥빵</a:t>
            </a:r>
            <a:endParaRPr lang="en-US" sz="825" dirty="0"/>
          </a:p>
        </p:txBody>
      </p:sp>
      <p:sp>
        <p:nvSpPr>
          <p:cNvPr id="194" name="Shape 182"/>
          <p:cNvSpPr/>
          <p:nvPr/>
        </p:nvSpPr>
        <p:spPr>
          <a:xfrm>
            <a:off x="11477327" y="6605588"/>
            <a:ext cx="996107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95" name="Shape 183"/>
          <p:cNvSpPr/>
          <p:nvPr/>
        </p:nvSpPr>
        <p:spPr>
          <a:xfrm>
            <a:off x="11477327" y="6605588"/>
            <a:ext cx="637431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196" name="Text 184"/>
          <p:cNvSpPr/>
          <p:nvPr/>
        </p:nvSpPr>
        <p:spPr>
          <a:xfrm>
            <a:off x="12473434" y="65674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  <p:sp>
        <p:nvSpPr>
          <p:cNvPr id="197" name="Shape 185"/>
          <p:cNvSpPr/>
          <p:nvPr/>
        </p:nvSpPr>
        <p:spPr>
          <a:xfrm>
            <a:off x="12759184" y="6605588"/>
            <a:ext cx="996255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198" name="Shape 186"/>
          <p:cNvSpPr/>
          <p:nvPr/>
        </p:nvSpPr>
        <p:spPr>
          <a:xfrm>
            <a:off x="12759184" y="6605588"/>
            <a:ext cx="757089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199" name="Text 187"/>
          <p:cNvSpPr/>
          <p:nvPr/>
        </p:nvSpPr>
        <p:spPr>
          <a:xfrm>
            <a:off x="13755439" y="65674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900" dirty="0"/>
          </a:p>
        </p:txBody>
      </p:sp>
      <p:sp>
        <p:nvSpPr>
          <p:cNvPr id="200" name="Shape 188"/>
          <p:cNvSpPr/>
          <p:nvPr/>
        </p:nvSpPr>
        <p:spPr>
          <a:xfrm>
            <a:off x="14041189" y="6605588"/>
            <a:ext cx="1179314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201" name="Shape 189"/>
          <p:cNvSpPr/>
          <p:nvPr/>
        </p:nvSpPr>
        <p:spPr>
          <a:xfrm>
            <a:off x="14041189" y="6605588"/>
            <a:ext cx="825401" cy="5715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202" name="Text 190"/>
          <p:cNvSpPr/>
          <p:nvPr/>
        </p:nvSpPr>
        <p:spPr>
          <a:xfrm>
            <a:off x="15220504" y="65674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203" name="Shape 191"/>
          <p:cNvSpPr/>
          <p:nvPr/>
        </p:nvSpPr>
        <p:spPr>
          <a:xfrm>
            <a:off x="15506254" y="6519863"/>
            <a:ext cx="385911" cy="228600"/>
          </a:xfrm>
          <a:prstGeom prst="roundRect">
            <a:avLst>
              <a:gd name="adj" fmla="val 50000"/>
            </a:avLst>
          </a:prstGeom>
          <a:solidFill>
            <a:srgbClr val="F6E2C4"/>
          </a:solidFill>
          <a:ln/>
        </p:spPr>
      </p:sp>
      <p:sp>
        <p:nvSpPr>
          <p:cNvPr id="204" name="Text 192"/>
          <p:cNvSpPr/>
          <p:nvPr/>
        </p:nvSpPr>
        <p:spPr>
          <a:xfrm>
            <a:off x="15601504" y="6567487"/>
            <a:ext cx="27161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9B6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</a:t>
            </a:r>
            <a:endParaRPr lang="en-US" sz="900" dirty="0"/>
          </a:p>
        </p:txBody>
      </p:sp>
      <p:sp>
        <p:nvSpPr>
          <p:cNvPr id="205" name="Shape 193"/>
          <p:cNvSpPr/>
          <p:nvPr/>
        </p:nvSpPr>
        <p:spPr>
          <a:xfrm>
            <a:off x="2886075" y="7372350"/>
            <a:ext cx="14420850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206" name="Text 194"/>
          <p:cNvSpPr/>
          <p:nvPr/>
        </p:nvSpPr>
        <p:spPr>
          <a:xfrm>
            <a:off x="3419475" y="7000875"/>
            <a:ext cx="227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윤예진</a:t>
            </a:r>
            <a:endParaRPr lang="en-US" sz="900" dirty="0"/>
          </a:p>
        </p:txBody>
      </p:sp>
      <p:sp>
        <p:nvSpPr>
          <p:cNvPr id="207" name="Text 195"/>
          <p:cNvSpPr/>
          <p:nvPr/>
        </p:nvSpPr>
        <p:spPr>
          <a:xfrm>
            <a:off x="3419475" y="7153275"/>
            <a:ext cx="227379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ENFJ</a:t>
            </a:r>
            <a:endParaRPr lang="en-US" sz="750" dirty="0"/>
          </a:p>
        </p:txBody>
      </p:sp>
      <p:sp>
        <p:nvSpPr>
          <p:cNvPr id="208" name="Text 196"/>
          <p:cNvSpPr/>
          <p:nvPr/>
        </p:nvSpPr>
        <p:spPr>
          <a:xfrm>
            <a:off x="5617071" y="7062788"/>
            <a:ext cx="15412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31세 · </a:t>
            </a:r>
            <a:r>
              <a:rPr lang="en-US" sz="9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168cm</a:t>
            </a:r>
            <a:endParaRPr lang="en-US" sz="900" dirty="0"/>
          </a:p>
        </p:txBody>
      </p:sp>
      <p:sp>
        <p:nvSpPr>
          <p:cNvPr id="209" name="Shape 197"/>
          <p:cNvSpPr/>
          <p:nvPr/>
        </p:nvSpPr>
        <p:spPr>
          <a:xfrm>
            <a:off x="7082135" y="7053263"/>
            <a:ext cx="186928" cy="152400"/>
          </a:xfrm>
          <a:prstGeom prst="roundRect">
            <a:avLst>
              <a:gd name="adj" fmla="val 37500"/>
            </a:avLst>
          </a:prstGeom>
          <a:solidFill>
            <a:srgbClr val="F1E3D0"/>
          </a:solidFill>
          <a:ln/>
        </p:spPr>
      </p:sp>
      <p:sp>
        <p:nvSpPr>
          <p:cNvPr id="210" name="Text 198"/>
          <p:cNvSpPr/>
          <p:nvPr/>
        </p:nvSpPr>
        <p:spPr>
          <a:xfrm>
            <a:off x="7148810" y="7072313"/>
            <a:ext cx="1297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50" dirty="0"/>
          </a:p>
        </p:txBody>
      </p:sp>
      <p:sp>
        <p:nvSpPr>
          <p:cNvPr id="211" name="Text 199"/>
          <p:cNvSpPr/>
          <p:nvPr/>
        </p:nvSpPr>
        <p:spPr>
          <a:xfrm>
            <a:off x="8363992" y="7062788"/>
            <a:ext cx="19075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공공기관</a:t>
            </a:r>
            <a:endParaRPr lang="en-US" sz="900" dirty="0"/>
          </a:p>
        </p:txBody>
      </p:sp>
      <p:sp>
        <p:nvSpPr>
          <p:cNvPr id="212" name="Text 200"/>
          <p:cNvSpPr/>
          <p:nvPr/>
        </p:nvSpPr>
        <p:spPr>
          <a:xfrm>
            <a:off x="10195322" y="7067550"/>
            <a:ext cx="13582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몽블랑</a:t>
            </a:r>
            <a:endParaRPr lang="en-US" sz="825" dirty="0"/>
          </a:p>
        </p:txBody>
      </p:sp>
      <p:sp>
        <p:nvSpPr>
          <p:cNvPr id="213" name="Shape 201"/>
          <p:cNvSpPr/>
          <p:nvPr/>
        </p:nvSpPr>
        <p:spPr>
          <a:xfrm>
            <a:off x="11477327" y="7100888"/>
            <a:ext cx="996107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214" name="Shape 202"/>
          <p:cNvSpPr/>
          <p:nvPr/>
        </p:nvSpPr>
        <p:spPr>
          <a:xfrm>
            <a:off x="11477327" y="7100888"/>
            <a:ext cx="617488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215" name="Text 203"/>
          <p:cNvSpPr/>
          <p:nvPr/>
        </p:nvSpPr>
        <p:spPr>
          <a:xfrm>
            <a:off x="12473434" y="70627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  <p:sp>
        <p:nvSpPr>
          <p:cNvPr id="216" name="Shape 204"/>
          <p:cNvSpPr/>
          <p:nvPr/>
        </p:nvSpPr>
        <p:spPr>
          <a:xfrm>
            <a:off x="12759184" y="7100888"/>
            <a:ext cx="996255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217" name="Shape 205"/>
          <p:cNvSpPr/>
          <p:nvPr/>
        </p:nvSpPr>
        <p:spPr>
          <a:xfrm>
            <a:off x="12759184" y="7100888"/>
            <a:ext cx="697260" cy="57150"/>
          </a:xfrm>
          <a:prstGeom prst="roundRect">
            <a:avLst>
              <a:gd name="adj" fmla="val 50000"/>
            </a:avLst>
          </a:prstGeom>
          <a:solidFill>
            <a:srgbClr val="B5A290"/>
          </a:solidFill>
          <a:ln/>
        </p:spPr>
      </p:sp>
      <p:sp>
        <p:nvSpPr>
          <p:cNvPr id="218" name="Text 206"/>
          <p:cNvSpPr/>
          <p:nvPr/>
        </p:nvSpPr>
        <p:spPr>
          <a:xfrm>
            <a:off x="13755439" y="70627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219" name="Shape 207"/>
          <p:cNvSpPr/>
          <p:nvPr/>
        </p:nvSpPr>
        <p:spPr>
          <a:xfrm>
            <a:off x="14041189" y="7100888"/>
            <a:ext cx="1179314" cy="57150"/>
          </a:xfrm>
          <a:prstGeom prst="roundRect">
            <a:avLst>
              <a:gd name="adj" fmla="val 50000"/>
            </a:avLst>
          </a:prstGeom>
          <a:solidFill>
            <a:srgbClr val="F1E3D0"/>
          </a:solidFill>
          <a:ln/>
        </p:spPr>
      </p:sp>
      <p:sp>
        <p:nvSpPr>
          <p:cNvPr id="220" name="Shape 208"/>
          <p:cNvSpPr/>
          <p:nvPr/>
        </p:nvSpPr>
        <p:spPr>
          <a:xfrm>
            <a:off x="14041189" y="7100888"/>
            <a:ext cx="778222" cy="5715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221" name="Text 209"/>
          <p:cNvSpPr/>
          <p:nvPr/>
        </p:nvSpPr>
        <p:spPr>
          <a:xfrm>
            <a:off x="15220504" y="7062788"/>
            <a:ext cx="285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5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00" dirty="0"/>
          </a:p>
        </p:txBody>
      </p:sp>
      <p:sp>
        <p:nvSpPr>
          <p:cNvPr id="222" name="Shape 210"/>
          <p:cNvSpPr/>
          <p:nvPr/>
        </p:nvSpPr>
        <p:spPr>
          <a:xfrm>
            <a:off x="15506254" y="7015163"/>
            <a:ext cx="385911" cy="228600"/>
          </a:xfrm>
          <a:prstGeom prst="roundRect">
            <a:avLst>
              <a:gd name="adj" fmla="val 50000"/>
            </a:avLst>
          </a:prstGeom>
          <a:solidFill>
            <a:srgbClr val="F6E2C4"/>
          </a:solidFill>
          <a:ln/>
        </p:spPr>
      </p:sp>
      <p:sp>
        <p:nvSpPr>
          <p:cNvPr id="223" name="Text 211"/>
          <p:cNvSpPr/>
          <p:nvPr/>
        </p:nvSpPr>
        <p:spPr>
          <a:xfrm>
            <a:off x="15601504" y="7062788"/>
            <a:ext cx="27161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9B6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</a:t>
            </a:r>
            <a:endParaRPr lang="en-US" sz="900" dirty="0"/>
          </a:p>
        </p:txBody>
      </p:sp>
      <p:sp>
        <p:nvSpPr>
          <p:cNvPr id="224" name="Shape 212"/>
          <p:cNvSpPr/>
          <p:nvPr/>
        </p:nvSpPr>
        <p:spPr>
          <a:xfrm>
            <a:off x="2876550" y="7543800"/>
            <a:ext cx="14439900" cy="3773686"/>
          </a:xfrm>
          <a:prstGeom prst="roundRect">
            <a:avLst>
              <a:gd name="adj" fmla="val 4038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25" name="Shape 213"/>
          <p:cNvSpPr/>
          <p:nvPr/>
        </p:nvSpPr>
        <p:spPr>
          <a:xfrm>
            <a:off x="3057525" y="7724775"/>
            <a:ext cx="457200" cy="457200"/>
          </a:xfrm>
          <a:prstGeom prst="roundRect">
            <a:avLst>
              <a:gd name="adj" fmla="val 29167"/>
            </a:avLst>
          </a:prstGeom>
          <a:solidFill>
            <a:srgbClr val="F1E3D0"/>
          </a:solidFill>
          <a:ln/>
        </p:spPr>
      </p:sp>
      <p:sp>
        <p:nvSpPr>
          <p:cNvPr id="226" name="Text 214"/>
          <p:cNvSpPr/>
          <p:nvPr/>
        </p:nvSpPr>
        <p:spPr>
          <a:xfrm>
            <a:off x="3185815" y="7805738"/>
            <a:ext cx="2766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</a:t>
            </a:r>
            <a:endParaRPr lang="en-US" sz="1650" dirty="0"/>
          </a:p>
        </p:txBody>
      </p:sp>
      <p:sp>
        <p:nvSpPr>
          <p:cNvPr id="227" name="Text 215"/>
          <p:cNvSpPr/>
          <p:nvPr/>
        </p:nvSpPr>
        <p:spPr>
          <a:xfrm>
            <a:off x="3648075" y="7786688"/>
            <a:ext cx="123137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이지윤</a:t>
            </a: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 · 28 · INFP · 167cm · 디자인/콘텐츠</a:t>
            </a:r>
            <a:endParaRPr lang="en-US" sz="1200" dirty="0"/>
          </a:p>
        </p:txBody>
      </p:sp>
      <p:sp>
        <p:nvSpPr>
          <p:cNvPr id="228" name="Text 216"/>
          <p:cNvSpPr/>
          <p:nvPr/>
        </p:nvSpPr>
        <p:spPr>
          <a:xfrm>
            <a:off x="3648075" y="7996237"/>
            <a:ext cx="123137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6. 1 신청 · 인증 완료 · 기본 캐릭터: 티라미수</a:t>
            </a:r>
            <a:endParaRPr lang="en-US" sz="825" dirty="0"/>
          </a:p>
        </p:txBody>
      </p:sp>
      <p:sp>
        <p:nvSpPr>
          <p:cNvPr id="229" name="Shape 217"/>
          <p:cNvSpPr/>
          <p:nvPr/>
        </p:nvSpPr>
        <p:spPr>
          <a:xfrm>
            <a:off x="15736491" y="7810500"/>
            <a:ext cx="383381" cy="285750"/>
          </a:xfrm>
          <a:prstGeom prst="roundRect">
            <a:avLst>
              <a:gd name="adj" fmla="val 26667"/>
            </a:avLst>
          </a:prstGeom>
          <a:solidFill>
            <a:srgbClr val="7A1F2B"/>
          </a:solidFill>
          <a:ln/>
        </p:spPr>
      </p:sp>
      <p:sp>
        <p:nvSpPr>
          <p:cNvPr id="230" name="Text 218"/>
          <p:cNvSpPr/>
          <p:nvPr/>
        </p:nvSpPr>
        <p:spPr>
          <a:xfrm>
            <a:off x="15793641" y="7867650"/>
            <a:ext cx="26908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선정</a:t>
            </a:r>
            <a:endParaRPr lang="en-US" sz="825" dirty="0"/>
          </a:p>
        </p:txBody>
      </p:sp>
      <p:sp>
        <p:nvSpPr>
          <p:cNvPr id="231" name="Shape 219"/>
          <p:cNvSpPr/>
          <p:nvPr/>
        </p:nvSpPr>
        <p:spPr>
          <a:xfrm>
            <a:off x="16177022" y="7810500"/>
            <a:ext cx="402431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32" name="Text 220"/>
          <p:cNvSpPr/>
          <p:nvPr/>
        </p:nvSpPr>
        <p:spPr>
          <a:xfrm>
            <a:off x="16243697" y="7877175"/>
            <a:ext cx="2690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보류</a:t>
            </a:r>
            <a:endParaRPr lang="en-US" sz="825" dirty="0"/>
          </a:p>
        </p:txBody>
      </p:sp>
      <p:sp>
        <p:nvSpPr>
          <p:cNvPr id="233" name="Shape 221"/>
          <p:cNvSpPr/>
          <p:nvPr/>
        </p:nvSpPr>
        <p:spPr>
          <a:xfrm>
            <a:off x="16636603" y="7810500"/>
            <a:ext cx="498872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34" name="Text 222"/>
          <p:cNvSpPr/>
          <p:nvPr/>
        </p:nvSpPr>
        <p:spPr>
          <a:xfrm>
            <a:off x="16703278" y="7877175"/>
            <a:ext cx="36552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dirty="0">
                <a:solidFill>
                  <a:srgbClr val="9C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미선정</a:t>
            </a:r>
            <a:endParaRPr lang="en-US" sz="825" dirty="0"/>
          </a:p>
        </p:txBody>
      </p:sp>
      <p:sp>
        <p:nvSpPr>
          <p:cNvPr id="235" name="Shape 223"/>
          <p:cNvSpPr/>
          <p:nvPr/>
        </p:nvSpPr>
        <p:spPr>
          <a:xfrm>
            <a:off x="3057525" y="8315325"/>
            <a:ext cx="4603700" cy="1438275"/>
          </a:xfrm>
          <a:prstGeom prst="roundRect">
            <a:avLst>
              <a:gd name="adj" fmla="val 9272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36" name="Text 224"/>
          <p:cNvSpPr/>
          <p:nvPr/>
        </p:nvSpPr>
        <p:spPr>
          <a:xfrm>
            <a:off x="3200400" y="8458200"/>
            <a:ext cx="444748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7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점수</a:t>
            </a:r>
            <a:endParaRPr lang="en-US" sz="825" dirty="0"/>
          </a:p>
        </p:txBody>
      </p:sp>
      <p:sp>
        <p:nvSpPr>
          <p:cNvPr id="237" name="Text 225"/>
          <p:cNvSpPr/>
          <p:nvPr/>
        </p:nvSpPr>
        <p:spPr>
          <a:xfrm>
            <a:off x="3200400" y="8620125"/>
            <a:ext cx="3500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-22" dirty="0">
                <a:solidFill>
                  <a:srgbClr val="3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</a:t>
            </a:r>
            <a:endParaRPr lang="en-US" sz="2250" dirty="0"/>
          </a:p>
        </p:txBody>
      </p:sp>
      <p:sp>
        <p:nvSpPr>
          <p:cNvPr id="238" name="Text 226"/>
          <p:cNvSpPr/>
          <p:nvPr/>
        </p:nvSpPr>
        <p:spPr>
          <a:xfrm>
            <a:off x="3531394" y="8753475"/>
            <a:ext cx="7684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 조건 충족도</a:t>
            </a:r>
            <a:endParaRPr lang="en-US" sz="825" dirty="0"/>
          </a:p>
        </p:txBody>
      </p:sp>
      <p:sp>
        <p:nvSpPr>
          <p:cNvPr id="239" name="Text 227"/>
          <p:cNvSpPr/>
          <p:nvPr/>
        </p:nvSpPr>
        <p:spPr>
          <a:xfrm>
            <a:off x="3200400" y="9001125"/>
            <a:ext cx="5581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 나이대</a:t>
            </a:r>
            <a:endParaRPr lang="en-US" sz="825" dirty="0"/>
          </a:p>
        </p:txBody>
      </p:sp>
      <p:sp>
        <p:nvSpPr>
          <p:cNvPr id="240" name="Text 228"/>
          <p:cNvSpPr/>
          <p:nvPr/>
        </p:nvSpPr>
        <p:spPr>
          <a:xfrm>
            <a:off x="7337227" y="9001125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충족</a:t>
            </a:r>
            <a:endParaRPr lang="en-US" sz="825" dirty="0"/>
          </a:p>
        </p:txBody>
      </p:sp>
      <p:sp>
        <p:nvSpPr>
          <p:cNvPr id="241" name="Text 229"/>
          <p:cNvSpPr/>
          <p:nvPr/>
        </p:nvSpPr>
        <p:spPr>
          <a:xfrm>
            <a:off x="3200400" y="9163050"/>
            <a:ext cx="4676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이상형 키</a:t>
            </a:r>
            <a:endParaRPr lang="en-US" sz="825" dirty="0"/>
          </a:p>
        </p:txBody>
      </p:sp>
      <p:sp>
        <p:nvSpPr>
          <p:cNvPr id="242" name="Text 230"/>
          <p:cNvSpPr/>
          <p:nvPr/>
        </p:nvSpPr>
        <p:spPr>
          <a:xfrm>
            <a:off x="7337227" y="9163050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충족</a:t>
            </a:r>
            <a:endParaRPr lang="en-US" sz="825" dirty="0"/>
          </a:p>
        </p:txBody>
      </p:sp>
      <p:sp>
        <p:nvSpPr>
          <p:cNvPr id="243" name="Text 231"/>
          <p:cNvSpPr/>
          <p:nvPr/>
        </p:nvSpPr>
        <p:spPr>
          <a:xfrm>
            <a:off x="3200400" y="9324975"/>
            <a:ext cx="53682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 MBTI</a:t>
            </a:r>
            <a:endParaRPr lang="en-US" sz="825" dirty="0"/>
          </a:p>
        </p:txBody>
      </p:sp>
      <p:sp>
        <p:nvSpPr>
          <p:cNvPr id="244" name="Text 232"/>
          <p:cNvSpPr/>
          <p:nvPr/>
        </p:nvSpPr>
        <p:spPr>
          <a:xfrm>
            <a:off x="7131248" y="9324975"/>
            <a:ext cx="46330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부분 충족</a:t>
            </a:r>
            <a:endParaRPr lang="en-US" sz="825" dirty="0"/>
          </a:p>
        </p:txBody>
      </p:sp>
      <p:sp>
        <p:nvSpPr>
          <p:cNvPr id="245" name="Text 233"/>
          <p:cNvSpPr/>
          <p:nvPr/>
        </p:nvSpPr>
        <p:spPr>
          <a:xfrm>
            <a:off x="3200400" y="9486900"/>
            <a:ext cx="5581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비선호 직군</a:t>
            </a:r>
            <a:endParaRPr lang="en-US" sz="825" dirty="0"/>
          </a:p>
        </p:txBody>
      </p:sp>
      <p:sp>
        <p:nvSpPr>
          <p:cNvPr id="246" name="Text 234"/>
          <p:cNvSpPr/>
          <p:nvPr/>
        </p:nvSpPr>
        <p:spPr>
          <a:xfrm>
            <a:off x="7337227" y="9486900"/>
            <a:ext cx="2573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회피</a:t>
            </a:r>
            <a:endParaRPr lang="en-US" sz="825" dirty="0"/>
          </a:p>
        </p:txBody>
      </p:sp>
      <p:sp>
        <p:nvSpPr>
          <p:cNvPr id="247" name="Shape 235"/>
          <p:cNvSpPr/>
          <p:nvPr/>
        </p:nvSpPr>
        <p:spPr>
          <a:xfrm>
            <a:off x="7794575" y="8315325"/>
            <a:ext cx="4603700" cy="1438275"/>
          </a:xfrm>
          <a:prstGeom prst="roundRect">
            <a:avLst>
              <a:gd name="adj" fmla="val 9272"/>
            </a:avLst>
          </a:prstGeom>
          <a:solidFill>
            <a:srgbClr val="FFFCF6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48" name="Text 236"/>
          <p:cNvSpPr/>
          <p:nvPr/>
        </p:nvSpPr>
        <p:spPr>
          <a:xfrm>
            <a:off x="7937450" y="8458200"/>
            <a:ext cx="444748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7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 점수</a:t>
            </a:r>
            <a:endParaRPr lang="en-US" sz="825" dirty="0"/>
          </a:p>
        </p:txBody>
      </p:sp>
      <p:sp>
        <p:nvSpPr>
          <p:cNvPr id="249" name="Text 237"/>
          <p:cNvSpPr/>
          <p:nvPr/>
        </p:nvSpPr>
        <p:spPr>
          <a:xfrm>
            <a:off x="7937450" y="8620125"/>
            <a:ext cx="2982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-22" dirty="0">
                <a:solidFill>
                  <a:srgbClr val="3B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</a:t>
            </a:r>
            <a:endParaRPr lang="en-US" sz="2250" dirty="0"/>
          </a:p>
        </p:txBody>
      </p:sp>
      <p:sp>
        <p:nvSpPr>
          <p:cNvPr id="250" name="Text 238"/>
          <p:cNvSpPr/>
          <p:nvPr/>
        </p:nvSpPr>
        <p:spPr>
          <a:xfrm>
            <a:off x="8216652" y="8753475"/>
            <a:ext cx="74175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성향 · 취향 궁합</a:t>
            </a:r>
            <a:endParaRPr lang="en-US" sz="825" dirty="0"/>
          </a:p>
        </p:txBody>
      </p:sp>
      <p:sp>
        <p:nvSpPr>
          <p:cNvPr id="251" name="Text 239"/>
          <p:cNvSpPr/>
          <p:nvPr/>
        </p:nvSpPr>
        <p:spPr>
          <a:xfrm>
            <a:off x="7937450" y="9001125"/>
            <a:ext cx="53682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MBTI 궁합</a:t>
            </a:r>
            <a:endParaRPr lang="en-US" sz="825" dirty="0"/>
          </a:p>
        </p:txBody>
      </p:sp>
      <p:sp>
        <p:nvSpPr>
          <p:cNvPr id="252" name="Text 240"/>
          <p:cNvSpPr/>
          <p:nvPr/>
        </p:nvSpPr>
        <p:spPr>
          <a:xfrm>
            <a:off x="12122795" y="9001125"/>
            <a:ext cx="20880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825" dirty="0"/>
          </a:p>
        </p:txBody>
      </p:sp>
      <p:sp>
        <p:nvSpPr>
          <p:cNvPr id="253" name="Text 241"/>
          <p:cNvSpPr/>
          <p:nvPr/>
        </p:nvSpPr>
        <p:spPr>
          <a:xfrm>
            <a:off x="7937450" y="9163050"/>
            <a:ext cx="5581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스타일</a:t>
            </a:r>
            <a:endParaRPr lang="en-US" sz="825" dirty="0"/>
          </a:p>
        </p:txBody>
      </p:sp>
      <p:sp>
        <p:nvSpPr>
          <p:cNvPr id="254" name="Text 242"/>
          <p:cNvSpPr/>
          <p:nvPr/>
        </p:nvSpPr>
        <p:spPr>
          <a:xfrm>
            <a:off x="12123093" y="9163050"/>
            <a:ext cx="20850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825" dirty="0"/>
          </a:p>
        </p:txBody>
      </p:sp>
      <p:sp>
        <p:nvSpPr>
          <p:cNvPr id="255" name="Text 243"/>
          <p:cNvSpPr/>
          <p:nvPr/>
        </p:nvSpPr>
        <p:spPr>
          <a:xfrm>
            <a:off x="7937450" y="9324975"/>
            <a:ext cx="64874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가치관 유사도</a:t>
            </a:r>
            <a:endParaRPr lang="en-US" sz="825" dirty="0"/>
          </a:p>
        </p:txBody>
      </p:sp>
      <p:sp>
        <p:nvSpPr>
          <p:cNvPr id="256" name="Text 244"/>
          <p:cNvSpPr/>
          <p:nvPr/>
        </p:nvSpPr>
        <p:spPr>
          <a:xfrm>
            <a:off x="12125920" y="9324975"/>
            <a:ext cx="2056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825" dirty="0"/>
          </a:p>
        </p:txBody>
      </p:sp>
      <p:sp>
        <p:nvSpPr>
          <p:cNvPr id="257" name="Text 245"/>
          <p:cNvSpPr/>
          <p:nvPr/>
        </p:nvSpPr>
        <p:spPr>
          <a:xfrm>
            <a:off x="7937450" y="9486900"/>
            <a:ext cx="6777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취미/음식 매칭</a:t>
            </a:r>
            <a:endParaRPr lang="en-US" sz="825" dirty="0"/>
          </a:p>
        </p:txBody>
      </p:sp>
      <p:sp>
        <p:nvSpPr>
          <p:cNvPr id="258" name="Text 246"/>
          <p:cNvSpPr/>
          <p:nvPr/>
        </p:nvSpPr>
        <p:spPr>
          <a:xfrm>
            <a:off x="12122051" y="9486900"/>
            <a:ext cx="2095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825" dirty="0"/>
          </a:p>
        </p:txBody>
      </p:sp>
      <p:sp>
        <p:nvSpPr>
          <p:cNvPr id="259" name="Shape 247"/>
          <p:cNvSpPr/>
          <p:nvPr/>
        </p:nvSpPr>
        <p:spPr>
          <a:xfrm>
            <a:off x="12531626" y="8315325"/>
            <a:ext cx="4603849" cy="1438275"/>
          </a:xfrm>
          <a:prstGeom prst="roundRect">
            <a:avLst>
              <a:gd name="adj" fmla="val 9272"/>
            </a:avLst>
          </a:prstGeom>
          <a:solidFill>
            <a:srgbClr val="FFF9F0"/>
          </a:solidFill>
          <a:ln w="9525">
            <a:solidFill>
              <a:srgbClr val="D9C5AA"/>
            </a:solidFill>
            <a:prstDash val="solid"/>
          </a:ln>
        </p:spPr>
      </p:sp>
      <p:sp>
        <p:nvSpPr>
          <p:cNvPr id="260" name="Text 248"/>
          <p:cNvSpPr/>
          <p:nvPr/>
        </p:nvSpPr>
        <p:spPr>
          <a:xfrm>
            <a:off x="12674501" y="8458200"/>
            <a:ext cx="444764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7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케미점수</a:t>
            </a:r>
            <a:endParaRPr lang="en-US" sz="825" dirty="0"/>
          </a:p>
        </p:txBody>
      </p:sp>
      <p:sp>
        <p:nvSpPr>
          <p:cNvPr id="261" name="Text 249"/>
          <p:cNvSpPr/>
          <p:nvPr/>
        </p:nvSpPr>
        <p:spPr>
          <a:xfrm>
            <a:off x="12674501" y="8620125"/>
            <a:ext cx="3431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kern="0" spc="-22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</a:t>
            </a:r>
            <a:endParaRPr lang="en-US" sz="2250" dirty="0"/>
          </a:p>
        </p:txBody>
      </p:sp>
      <p:sp>
        <p:nvSpPr>
          <p:cNvPr id="262" name="Text 250"/>
          <p:cNvSpPr/>
          <p:nvPr/>
        </p:nvSpPr>
        <p:spPr>
          <a:xfrm>
            <a:off x="12998648" y="8753475"/>
            <a:ext cx="96336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× 객관 종합</a:t>
            </a:r>
            <a:endParaRPr lang="en-US" sz="825" dirty="0"/>
          </a:p>
        </p:txBody>
      </p:sp>
      <p:sp>
        <p:nvSpPr>
          <p:cNvPr id="263" name="Text 251"/>
          <p:cNvSpPr/>
          <p:nvPr/>
        </p:nvSpPr>
        <p:spPr>
          <a:xfrm>
            <a:off x="12674501" y="9001125"/>
            <a:ext cx="4676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순위</a:t>
            </a:r>
            <a:endParaRPr lang="en-US" sz="825" dirty="0"/>
          </a:p>
        </p:txBody>
      </p:sp>
      <p:sp>
        <p:nvSpPr>
          <p:cNvPr id="264" name="Text 252"/>
          <p:cNvSpPr/>
          <p:nvPr/>
        </p:nvSpPr>
        <p:spPr>
          <a:xfrm>
            <a:off x="16476166" y="9001125"/>
            <a:ext cx="59263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/ 17 (여)</a:t>
            </a:r>
            <a:endParaRPr lang="en-US" sz="825" dirty="0"/>
          </a:p>
        </p:txBody>
      </p:sp>
      <p:sp>
        <p:nvSpPr>
          <p:cNvPr id="265" name="Text 253"/>
          <p:cNvSpPr/>
          <p:nvPr/>
        </p:nvSpPr>
        <p:spPr>
          <a:xfrm>
            <a:off x="12674501" y="9163050"/>
            <a:ext cx="4676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성비 균형</a:t>
            </a:r>
            <a:endParaRPr lang="en-US" sz="825" dirty="0"/>
          </a:p>
        </p:txBody>
      </p:sp>
      <p:sp>
        <p:nvSpPr>
          <p:cNvPr id="266" name="Text 254"/>
          <p:cNvSpPr/>
          <p:nvPr/>
        </p:nvSpPr>
        <p:spPr>
          <a:xfrm>
            <a:off x="16719054" y="9163050"/>
            <a:ext cx="34974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안정</a:t>
            </a:r>
            <a:endParaRPr lang="en-US" sz="825" dirty="0"/>
          </a:p>
        </p:txBody>
      </p:sp>
      <p:sp>
        <p:nvSpPr>
          <p:cNvPr id="267" name="Text 255"/>
          <p:cNvSpPr/>
          <p:nvPr/>
        </p:nvSpPr>
        <p:spPr>
          <a:xfrm>
            <a:off x="12674501" y="9324975"/>
            <a:ext cx="46761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연령 균형</a:t>
            </a:r>
            <a:endParaRPr lang="en-US" sz="825" dirty="0"/>
          </a:p>
        </p:txBody>
      </p:sp>
      <p:sp>
        <p:nvSpPr>
          <p:cNvPr id="268" name="Text 256"/>
          <p:cNvSpPr/>
          <p:nvPr/>
        </p:nvSpPr>
        <p:spPr>
          <a:xfrm>
            <a:off x="16719054" y="9324975"/>
            <a:ext cx="34974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적합</a:t>
            </a:r>
            <a:endParaRPr lang="en-US" sz="825" dirty="0"/>
          </a:p>
        </p:txBody>
      </p:sp>
      <p:sp>
        <p:nvSpPr>
          <p:cNvPr id="269" name="Text 257"/>
          <p:cNvSpPr/>
          <p:nvPr/>
        </p:nvSpPr>
        <p:spPr>
          <a:xfrm>
            <a:off x="12674501" y="9486900"/>
            <a:ext cx="5581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메모</a:t>
            </a:r>
            <a:endParaRPr lang="en-US" sz="825" dirty="0"/>
          </a:p>
        </p:txBody>
      </p:sp>
      <p:sp>
        <p:nvSpPr>
          <p:cNvPr id="270" name="Text 258"/>
          <p:cNvSpPr/>
          <p:nvPr/>
        </p:nvSpPr>
        <p:spPr>
          <a:xfrm>
            <a:off x="16399520" y="9486900"/>
            <a:ext cx="6692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깊이 강점</a:t>
            </a:r>
            <a:endParaRPr lang="en-US" sz="825" dirty="0"/>
          </a:p>
        </p:txBody>
      </p:sp>
      <p:sp>
        <p:nvSpPr>
          <p:cNvPr id="271" name="Shape 259"/>
          <p:cNvSpPr/>
          <p:nvPr/>
        </p:nvSpPr>
        <p:spPr>
          <a:xfrm>
            <a:off x="3057525" y="9886950"/>
            <a:ext cx="14077950" cy="1249561"/>
          </a:xfrm>
          <a:prstGeom prst="roundRect">
            <a:avLst>
              <a:gd name="adj" fmla="val 9147"/>
            </a:avLst>
          </a:prstGeom>
          <a:solidFill>
            <a:srgbClr val="FFF9F0"/>
          </a:solidFill>
          <a:ln/>
        </p:spPr>
      </p:sp>
      <p:sp>
        <p:nvSpPr>
          <p:cNvPr id="272" name="Text 260"/>
          <p:cNvSpPr/>
          <p:nvPr/>
        </p:nvSpPr>
        <p:spPr>
          <a:xfrm>
            <a:off x="3190875" y="10020300"/>
            <a:ext cx="142255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요약</a:t>
            </a:r>
            <a:endParaRPr lang="en-US" sz="900" dirty="0"/>
          </a:p>
        </p:txBody>
      </p:sp>
      <p:sp>
        <p:nvSpPr>
          <p:cNvPr id="273" name="Text 261"/>
          <p:cNvSpPr/>
          <p:nvPr/>
        </p:nvSpPr>
        <p:spPr>
          <a:xfrm>
            <a:off x="3190875" y="10210800"/>
            <a:ext cx="14225588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성향 키워드</a:t>
            </a: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차분 · 감성 · 천천히 깊어지는 사람 </a:t>
            </a: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이상형 키워드</a:t>
            </a: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"자기 일에 단단하면서, 같이 있으면 편안한 사람" </a:t>
            </a: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스타일</a:t>
            </a: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차분한 대화, 취향 공유, 천천히 친해지는 편 </a:t>
            </a:r>
            <a:r>
              <a:rPr lang="en-US" sz="975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 조건</a:t>
            </a:r>
            <a:r>
              <a:rPr lang="en-US" sz="975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같은 직장군 매칭 회피 권장</a:t>
            </a:r>
            <a:endParaRPr lang="en-US" sz="9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578619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기존 엑셀 설문 → 새 앱 매핑표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078075" y="685800"/>
            <a:ext cx="23336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항목 · UI · 내부 필드 · 활용 점수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1047750"/>
            <a:ext cx="16764000" cy="8382000"/>
          </a:xfrm>
          <a:prstGeom prst="roundRect">
            <a:avLst>
              <a:gd name="adj" fmla="val 2727"/>
            </a:avLst>
          </a:prstGeom>
          <a:solidFill>
            <a:srgbClr val="F7F1E6"/>
          </a:solidFill>
          <a:ln/>
          <a:effectLst>
            <a:outerShdw blurRad="571500" dist="285750" dir="5400000" algn="bl" rotWithShape="0">
              <a:srgbClr val="3A1E1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047750"/>
            <a:ext cx="17373600" cy="8915400"/>
          </a:xfrm>
          <a:prstGeom prst="rect">
            <a:avLst/>
          </a:prstGeom>
          <a:solidFill>
            <a:srgbClr val="F7F1E6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1314450"/>
            <a:ext cx="484773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6800" y="1485900"/>
            <a:ext cx="484773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-24" dirty="0">
                <a:solidFill>
                  <a:srgbClr val="5513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기존 설문 → 새 앱 매핑표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66800" y="1981200"/>
            <a:ext cx="48477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설문의 각 항목이 새 온보딩의 어느 스텝/UI로 옮겨가는지, 어떤 점수에 쓰이는지 정리했어요.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5986671" y="1895475"/>
            <a:ext cx="581769" cy="22860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</p:sp>
      <p:sp>
        <p:nvSpPr>
          <p:cNvPr id="10" name="Text 8"/>
          <p:cNvSpPr/>
          <p:nvPr/>
        </p:nvSpPr>
        <p:spPr>
          <a:xfrm>
            <a:off x="16081921" y="1943100"/>
            <a:ext cx="4674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644640" y="1895475"/>
            <a:ext cx="385911" cy="228600"/>
          </a:xfrm>
          <a:prstGeom prst="roundRect">
            <a:avLst>
              <a:gd name="adj" fmla="val 50000"/>
            </a:avLst>
          </a:prstGeom>
          <a:solidFill>
            <a:srgbClr val="DDEBDD"/>
          </a:solidFill>
          <a:ln/>
        </p:spPr>
      </p:sp>
      <p:sp>
        <p:nvSpPr>
          <p:cNvPr id="12" name="Text 10"/>
          <p:cNvSpPr/>
          <p:nvPr/>
        </p:nvSpPr>
        <p:spPr>
          <a:xfrm>
            <a:off x="16739890" y="1943100"/>
            <a:ext cx="27161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3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106751" y="1895475"/>
            <a:ext cx="581174" cy="228600"/>
          </a:xfrm>
          <a:prstGeom prst="roundRect">
            <a:avLst>
              <a:gd name="adj" fmla="val 50000"/>
            </a:avLst>
          </a:prstGeom>
          <a:solidFill>
            <a:srgbClr val="551321"/>
          </a:solidFill>
          <a:ln/>
        </p:spPr>
      </p:sp>
      <p:sp>
        <p:nvSpPr>
          <p:cNvPr id="14" name="Text 12"/>
          <p:cNvSpPr/>
          <p:nvPr/>
        </p:nvSpPr>
        <p:spPr>
          <a:xfrm>
            <a:off x="17202001" y="1943100"/>
            <a:ext cx="46687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-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케미점수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66800" y="2333625"/>
            <a:ext cx="16621125" cy="10315575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6325" y="2343150"/>
            <a:ext cx="16602075" cy="390525"/>
          </a:xfrm>
          <a:prstGeom prst="rect">
            <a:avLst/>
          </a:prstGeom>
          <a:solidFill>
            <a:srgbClr val="FFF9F0"/>
          </a:solidFill>
          <a:ln/>
        </p:spPr>
      </p:sp>
      <p:sp>
        <p:nvSpPr>
          <p:cNvPr id="17" name="Text 15"/>
          <p:cNvSpPr/>
          <p:nvPr/>
        </p:nvSpPr>
        <p:spPr>
          <a:xfrm>
            <a:off x="1247775" y="2476500"/>
            <a:ext cx="340172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설문 항목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550420" y="2476500"/>
            <a:ext cx="261671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이동 위치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090916" y="2476500"/>
            <a:ext cx="314005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방식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0139511" y="2476500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필드명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3696206" y="2476500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점수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1076325" y="2733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6325" y="2733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24" name="Text 22"/>
          <p:cNvSpPr/>
          <p:nvPr/>
        </p:nvSpPr>
        <p:spPr>
          <a:xfrm>
            <a:off x="1247775" y="2857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성함</a:t>
            </a:r>
            <a:endParaRPr lang="en-US" sz="938" dirty="0"/>
          </a:p>
        </p:txBody>
      </p:sp>
      <p:sp>
        <p:nvSpPr>
          <p:cNvPr id="25" name="Text 23"/>
          <p:cNvSpPr/>
          <p:nvPr/>
        </p:nvSpPr>
        <p:spPr>
          <a:xfrm>
            <a:off x="4550420" y="2857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기본정보</a:t>
            </a:r>
            <a:endParaRPr lang="en-US" sz="938" dirty="0"/>
          </a:p>
        </p:txBody>
      </p:sp>
      <p:sp>
        <p:nvSpPr>
          <p:cNvPr id="26" name="Text 24"/>
          <p:cNvSpPr/>
          <p:nvPr/>
        </p:nvSpPr>
        <p:spPr>
          <a:xfrm>
            <a:off x="7090916" y="2857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입력</a:t>
            </a:r>
            <a:endParaRPr lang="en-US" sz="938" dirty="0"/>
          </a:p>
        </p:txBody>
      </p:sp>
      <p:sp>
        <p:nvSpPr>
          <p:cNvPr id="27" name="Text 25"/>
          <p:cNvSpPr/>
          <p:nvPr/>
        </p:nvSpPr>
        <p:spPr>
          <a:xfrm>
            <a:off x="10139511" y="2867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3696206" y="2871788"/>
            <a:ext cx="392506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1076325" y="3114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6325" y="3114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31" name="Text 29"/>
          <p:cNvSpPr/>
          <p:nvPr/>
        </p:nvSpPr>
        <p:spPr>
          <a:xfrm>
            <a:off x="1247775" y="3238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성별</a:t>
            </a:r>
            <a:endParaRPr lang="en-US" sz="938" dirty="0"/>
          </a:p>
        </p:txBody>
      </p:sp>
      <p:sp>
        <p:nvSpPr>
          <p:cNvPr id="32" name="Text 30"/>
          <p:cNvSpPr/>
          <p:nvPr/>
        </p:nvSpPr>
        <p:spPr>
          <a:xfrm>
            <a:off x="4550420" y="3238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38" dirty="0"/>
          </a:p>
        </p:txBody>
      </p:sp>
      <p:sp>
        <p:nvSpPr>
          <p:cNvPr id="33" name="Text 31"/>
          <p:cNvSpPr/>
          <p:nvPr/>
        </p:nvSpPr>
        <p:spPr>
          <a:xfrm>
            <a:off x="7090916" y="3238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선택</a:t>
            </a:r>
            <a:endParaRPr lang="en-US" sz="938" dirty="0"/>
          </a:p>
        </p:txBody>
      </p:sp>
      <p:sp>
        <p:nvSpPr>
          <p:cNvPr id="34" name="Text 32"/>
          <p:cNvSpPr/>
          <p:nvPr/>
        </p:nvSpPr>
        <p:spPr>
          <a:xfrm>
            <a:off x="10139511" y="3248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13696206" y="3248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(필수)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1076325" y="3495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76325" y="3495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38" name="Text 36"/>
          <p:cNvSpPr/>
          <p:nvPr/>
        </p:nvSpPr>
        <p:spPr>
          <a:xfrm>
            <a:off x="1247775" y="3619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나이</a:t>
            </a:r>
            <a:endParaRPr lang="en-US" sz="938" dirty="0"/>
          </a:p>
        </p:txBody>
      </p:sp>
      <p:sp>
        <p:nvSpPr>
          <p:cNvPr id="39" name="Text 37"/>
          <p:cNvSpPr/>
          <p:nvPr/>
        </p:nvSpPr>
        <p:spPr>
          <a:xfrm>
            <a:off x="4550420" y="3619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38" dirty="0"/>
          </a:p>
        </p:txBody>
      </p:sp>
      <p:sp>
        <p:nvSpPr>
          <p:cNvPr id="40" name="Text 38"/>
          <p:cNvSpPr/>
          <p:nvPr/>
        </p:nvSpPr>
        <p:spPr>
          <a:xfrm>
            <a:off x="7090916" y="3619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연/월/일 입력</a:t>
            </a:r>
            <a:endParaRPr lang="en-US" sz="938" dirty="0"/>
          </a:p>
        </p:txBody>
      </p:sp>
      <p:sp>
        <p:nvSpPr>
          <p:cNvPr id="41" name="Text 39"/>
          <p:cNvSpPr/>
          <p:nvPr/>
        </p:nvSpPr>
        <p:spPr>
          <a:xfrm>
            <a:off x="10139511" y="3629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birthdate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13696206" y="3629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(선호 나이대 충족)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076325" y="3876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76325" y="3876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45" name="Text 43"/>
          <p:cNvSpPr/>
          <p:nvPr/>
        </p:nvSpPr>
        <p:spPr>
          <a:xfrm>
            <a:off x="1247775" y="4000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</a:t>
            </a:r>
            <a:endParaRPr lang="en-US" sz="938" dirty="0"/>
          </a:p>
        </p:txBody>
      </p:sp>
      <p:sp>
        <p:nvSpPr>
          <p:cNvPr id="46" name="Text 44"/>
          <p:cNvSpPr/>
          <p:nvPr/>
        </p:nvSpPr>
        <p:spPr>
          <a:xfrm>
            <a:off x="4550420" y="4000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38" dirty="0"/>
          </a:p>
        </p:txBody>
      </p:sp>
      <p:sp>
        <p:nvSpPr>
          <p:cNvPr id="47" name="Text 45"/>
          <p:cNvSpPr/>
          <p:nvPr/>
        </p:nvSpPr>
        <p:spPr>
          <a:xfrm>
            <a:off x="7090916" y="4000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입력</a:t>
            </a:r>
            <a:endParaRPr lang="en-US" sz="938" dirty="0"/>
          </a:p>
        </p:txBody>
      </p:sp>
      <p:sp>
        <p:nvSpPr>
          <p:cNvPr id="48" name="Text 46"/>
          <p:cNvSpPr/>
          <p:nvPr/>
        </p:nvSpPr>
        <p:spPr>
          <a:xfrm>
            <a:off x="10139511" y="4010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heightCm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3696206" y="4010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(이상형 키 충족)</a:t>
            </a:r>
            <a:endParaRPr lang="en-US" sz="825" dirty="0"/>
          </a:p>
        </p:txBody>
      </p:sp>
      <p:sp>
        <p:nvSpPr>
          <p:cNvPr id="50" name="Shape 48"/>
          <p:cNvSpPr/>
          <p:nvPr/>
        </p:nvSpPr>
        <p:spPr>
          <a:xfrm>
            <a:off x="1076325" y="4257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1076325" y="4257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52" name="Text 50"/>
          <p:cNvSpPr/>
          <p:nvPr/>
        </p:nvSpPr>
        <p:spPr>
          <a:xfrm>
            <a:off x="1247775" y="4381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</a:t>
            </a:r>
            <a:endParaRPr lang="en-US" sz="938" dirty="0"/>
          </a:p>
        </p:txBody>
      </p:sp>
      <p:sp>
        <p:nvSpPr>
          <p:cNvPr id="53" name="Text 51"/>
          <p:cNvSpPr/>
          <p:nvPr/>
        </p:nvSpPr>
        <p:spPr>
          <a:xfrm>
            <a:off x="4550420" y="4381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인증</a:t>
            </a:r>
            <a:endParaRPr lang="en-US" sz="938" dirty="0"/>
          </a:p>
        </p:txBody>
      </p:sp>
      <p:sp>
        <p:nvSpPr>
          <p:cNvPr id="54" name="Text 52"/>
          <p:cNvSpPr/>
          <p:nvPr/>
        </p:nvSpPr>
        <p:spPr>
          <a:xfrm>
            <a:off x="7090916" y="4381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휴대폰 인증</a:t>
            </a:r>
            <a:endParaRPr lang="en-US" sz="938" dirty="0"/>
          </a:p>
        </p:txBody>
      </p:sp>
      <p:sp>
        <p:nvSpPr>
          <p:cNvPr id="55" name="Text 53"/>
          <p:cNvSpPr/>
          <p:nvPr/>
        </p:nvSpPr>
        <p:spPr>
          <a:xfrm>
            <a:off x="10139511" y="4391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phoneVerified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13696206" y="4391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(인증)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1076325" y="4638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1076325" y="4638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59" name="Text 57"/>
          <p:cNvSpPr/>
          <p:nvPr/>
        </p:nvSpPr>
        <p:spPr>
          <a:xfrm>
            <a:off x="1247775" y="4762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거주 지역</a:t>
            </a:r>
            <a:endParaRPr lang="en-US" sz="938" dirty="0"/>
          </a:p>
        </p:txBody>
      </p:sp>
      <p:sp>
        <p:nvSpPr>
          <p:cNvPr id="60" name="Text 58"/>
          <p:cNvSpPr/>
          <p:nvPr/>
        </p:nvSpPr>
        <p:spPr>
          <a:xfrm>
            <a:off x="4550420" y="4762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38" dirty="0"/>
          </a:p>
        </p:txBody>
      </p:sp>
      <p:sp>
        <p:nvSpPr>
          <p:cNvPr id="61" name="Text 59"/>
          <p:cNvSpPr/>
          <p:nvPr/>
        </p:nvSpPr>
        <p:spPr>
          <a:xfrm>
            <a:off x="7090916" y="4762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 선택</a:t>
            </a:r>
            <a:endParaRPr lang="en-US" sz="938" dirty="0"/>
          </a:p>
        </p:txBody>
      </p:sp>
      <p:sp>
        <p:nvSpPr>
          <p:cNvPr id="62" name="Text 60"/>
          <p:cNvSpPr/>
          <p:nvPr/>
        </p:nvSpPr>
        <p:spPr>
          <a:xfrm>
            <a:off x="10139511" y="4772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13696206" y="4772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 (회차 동선)</a:t>
            </a:r>
            <a:endParaRPr lang="en-US" sz="825" dirty="0"/>
          </a:p>
        </p:txBody>
      </p:sp>
      <p:sp>
        <p:nvSpPr>
          <p:cNvPr id="64" name="Shape 62"/>
          <p:cNvSpPr/>
          <p:nvPr/>
        </p:nvSpPr>
        <p:spPr>
          <a:xfrm>
            <a:off x="1076325" y="5019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1076325" y="5019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66" name="Text 64"/>
          <p:cNvSpPr/>
          <p:nvPr/>
        </p:nvSpPr>
        <p:spPr>
          <a:xfrm>
            <a:off x="1247775" y="5143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직업(직장/파트)</a:t>
            </a:r>
            <a:endParaRPr lang="en-US" sz="938" dirty="0"/>
          </a:p>
        </p:txBody>
      </p:sp>
      <p:sp>
        <p:nvSpPr>
          <p:cNvPr id="67" name="Text 65"/>
          <p:cNvSpPr/>
          <p:nvPr/>
        </p:nvSpPr>
        <p:spPr>
          <a:xfrm>
            <a:off x="4550420" y="5143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38" dirty="0"/>
          </a:p>
        </p:txBody>
      </p:sp>
      <p:sp>
        <p:nvSpPr>
          <p:cNvPr id="68" name="Text 66"/>
          <p:cNvSpPr/>
          <p:nvPr/>
        </p:nvSpPr>
        <p:spPr>
          <a:xfrm>
            <a:off x="7090916" y="5143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 + 텍스트</a:t>
            </a:r>
            <a:endParaRPr lang="en-US" sz="938" dirty="0"/>
          </a:p>
        </p:txBody>
      </p:sp>
      <p:sp>
        <p:nvSpPr>
          <p:cNvPr id="69" name="Text 67"/>
          <p:cNvSpPr/>
          <p:nvPr/>
        </p:nvSpPr>
        <p:spPr>
          <a:xfrm>
            <a:off x="10139511" y="5153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occupation/role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13696206" y="5153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 + STRICT(비선호 회피)</a:t>
            </a:r>
            <a:endParaRPr lang="en-US" sz="825" dirty="0"/>
          </a:p>
        </p:txBody>
      </p:sp>
      <p:sp>
        <p:nvSpPr>
          <p:cNvPr id="71" name="Shape 69"/>
          <p:cNvSpPr/>
          <p:nvPr/>
        </p:nvSpPr>
        <p:spPr>
          <a:xfrm>
            <a:off x="1076325" y="5400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1076325" y="5400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73" name="Text 71"/>
          <p:cNvSpPr/>
          <p:nvPr/>
        </p:nvSpPr>
        <p:spPr>
          <a:xfrm>
            <a:off x="1247775" y="5524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 비선호 직군</a:t>
            </a:r>
            <a:endParaRPr lang="en-US" sz="938" dirty="0"/>
          </a:p>
        </p:txBody>
      </p:sp>
      <p:sp>
        <p:nvSpPr>
          <p:cNvPr id="74" name="Text 72"/>
          <p:cNvSpPr/>
          <p:nvPr/>
        </p:nvSpPr>
        <p:spPr>
          <a:xfrm>
            <a:off x="4550420" y="5524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선호조건</a:t>
            </a:r>
            <a:endParaRPr lang="en-US" sz="938" dirty="0"/>
          </a:p>
        </p:txBody>
      </p:sp>
      <p:sp>
        <p:nvSpPr>
          <p:cNvPr id="75" name="Text 73"/>
          <p:cNvSpPr/>
          <p:nvPr/>
        </p:nvSpPr>
        <p:spPr>
          <a:xfrm>
            <a:off x="7090916" y="5524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 다중 + 없음</a:t>
            </a:r>
            <a:endParaRPr lang="en-US" sz="938" dirty="0"/>
          </a:p>
        </p:txBody>
      </p:sp>
      <p:sp>
        <p:nvSpPr>
          <p:cNvPr id="76" name="Text 74"/>
          <p:cNvSpPr/>
          <p:nvPr/>
        </p:nvSpPr>
        <p:spPr>
          <a:xfrm>
            <a:off x="10139511" y="5534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avoidJobs[]</a:t>
            </a:r>
            <a:endParaRPr lang="en-US" sz="825" dirty="0"/>
          </a:p>
        </p:txBody>
      </p:sp>
      <p:sp>
        <p:nvSpPr>
          <p:cNvPr id="77" name="Text 75"/>
          <p:cNvSpPr/>
          <p:nvPr/>
        </p:nvSpPr>
        <p:spPr>
          <a:xfrm>
            <a:off x="13696206" y="5534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(회피)</a:t>
            </a:r>
            <a:endParaRPr lang="en-US" sz="825" dirty="0"/>
          </a:p>
        </p:txBody>
      </p:sp>
      <p:sp>
        <p:nvSpPr>
          <p:cNvPr id="78" name="Shape 76"/>
          <p:cNvSpPr/>
          <p:nvPr/>
        </p:nvSpPr>
        <p:spPr>
          <a:xfrm>
            <a:off x="1076325" y="5781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Shape 77"/>
          <p:cNvSpPr/>
          <p:nvPr/>
        </p:nvSpPr>
        <p:spPr>
          <a:xfrm>
            <a:off x="1076325" y="5781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80" name="Text 78"/>
          <p:cNvSpPr/>
          <p:nvPr/>
        </p:nvSpPr>
        <p:spPr>
          <a:xfrm>
            <a:off x="1247775" y="5905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 선호 나이대</a:t>
            </a:r>
            <a:endParaRPr lang="en-US" sz="938" dirty="0"/>
          </a:p>
        </p:txBody>
      </p:sp>
      <p:sp>
        <p:nvSpPr>
          <p:cNvPr id="81" name="Text 79"/>
          <p:cNvSpPr/>
          <p:nvPr/>
        </p:nvSpPr>
        <p:spPr>
          <a:xfrm>
            <a:off x="4550420" y="5905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938" dirty="0"/>
          </a:p>
        </p:txBody>
      </p:sp>
      <p:sp>
        <p:nvSpPr>
          <p:cNvPr id="82" name="Text 80"/>
          <p:cNvSpPr/>
          <p:nvPr/>
        </p:nvSpPr>
        <p:spPr>
          <a:xfrm>
            <a:off x="7090916" y="5905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 슬라이더</a:t>
            </a:r>
            <a:endParaRPr lang="en-US" sz="938" dirty="0"/>
          </a:p>
        </p:txBody>
      </p:sp>
      <p:sp>
        <p:nvSpPr>
          <p:cNvPr id="83" name="Text 81"/>
          <p:cNvSpPr/>
          <p:nvPr/>
        </p:nvSpPr>
        <p:spPr>
          <a:xfrm>
            <a:off x="10139511" y="5915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prefAge.min/max</a:t>
            </a:r>
            <a:endParaRPr lang="en-US" sz="825" dirty="0"/>
          </a:p>
        </p:txBody>
      </p:sp>
      <p:sp>
        <p:nvSpPr>
          <p:cNvPr id="84" name="Text 82"/>
          <p:cNvSpPr/>
          <p:nvPr/>
        </p:nvSpPr>
        <p:spPr>
          <a:xfrm>
            <a:off x="13696206" y="5919788"/>
            <a:ext cx="392506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</a:t>
            </a:r>
            <a:endParaRPr lang="en-US" sz="825" dirty="0"/>
          </a:p>
        </p:txBody>
      </p:sp>
      <p:sp>
        <p:nvSpPr>
          <p:cNvPr id="85" name="Shape 83"/>
          <p:cNvSpPr/>
          <p:nvPr/>
        </p:nvSpPr>
        <p:spPr>
          <a:xfrm>
            <a:off x="1076325" y="6162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Shape 84"/>
          <p:cNvSpPr/>
          <p:nvPr/>
        </p:nvSpPr>
        <p:spPr>
          <a:xfrm>
            <a:off x="1076325" y="6162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87" name="Text 85"/>
          <p:cNvSpPr/>
          <p:nvPr/>
        </p:nvSpPr>
        <p:spPr>
          <a:xfrm>
            <a:off x="1247775" y="6286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 이상형 키</a:t>
            </a:r>
            <a:endParaRPr lang="en-US" sz="938" dirty="0"/>
          </a:p>
        </p:txBody>
      </p:sp>
      <p:sp>
        <p:nvSpPr>
          <p:cNvPr id="88" name="Text 86"/>
          <p:cNvSpPr/>
          <p:nvPr/>
        </p:nvSpPr>
        <p:spPr>
          <a:xfrm>
            <a:off x="4550420" y="6286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938" dirty="0"/>
          </a:p>
        </p:txBody>
      </p:sp>
      <p:sp>
        <p:nvSpPr>
          <p:cNvPr id="89" name="Text 87"/>
          <p:cNvSpPr/>
          <p:nvPr/>
        </p:nvSpPr>
        <p:spPr>
          <a:xfrm>
            <a:off x="7090916" y="6286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 선택</a:t>
            </a:r>
            <a:endParaRPr lang="en-US" sz="938" dirty="0"/>
          </a:p>
        </p:txBody>
      </p:sp>
      <p:sp>
        <p:nvSpPr>
          <p:cNvPr id="90" name="Text 88"/>
          <p:cNvSpPr/>
          <p:nvPr/>
        </p:nvSpPr>
        <p:spPr>
          <a:xfrm>
            <a:off x="10139511" y="6296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prefHeight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13696206" y="6300788"/>
            <a:ext cx="392506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</a:t>
            </a:r>
            <a:endParaRPr lang="en-US" sz="825" dirty="0"/>
          </a:p>
        </p:txBody>
      </p:sp>
      <p:sp>
        <p:nvSpPr>
          <p:cNvPr id="92" name="Shape 90"/>
          <p:cNvSpPr/>
          <p:nvPr/>
        </p:nvSpPr>
        <p:spPr>
          <a:xfrm>
            <a:off x="1076325" y="6543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hape 91"/>
          <p:cNvSpPr/>
          <p:nvPr/>
        </p:nvSpPr>
        <p:spPr>
          <a:xfrm>
            <a:off x="1076325" y="6543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94" name="Text 92"/>
          <p:cNvSpPr/>
          <p:nvPr/>
        </p:nvSpPr>
        <p:spPr>
          <a:xfrm>
            <a:off x="1247775" y="6667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MBTI</a:t>
            </a:r>
            <a:endParaRPr lang="en-US" sz="938" dirty="0"/>
          </a:p>
        </p:txBody>
      </p:sp>
      <p:sp>
        <p:nvSpPr>
          <p:cNvPr id="95" name="Text 93"/>
          <p:cNvSpPr/>
          <p:nvPr/>
        </p:nvSpPr>
        <p:spPr>
          <a:xfrm>
            <a:off x="4550420" y="6667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38" dirty="0"/>
          </a:p>
        </p:txBody>
      </p:sp>
      <p:sp>
        <p:nvSpPr>
          <p:cNvPr id="96" name="Text 94"/>
          <p:cNvSpPr/>
          <p:nvPr/>
        </p:nvSpPr>
        <p:spPr>
          <a:xfrm>
            <a:off x="7090916" y="6667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16개 카드</a:t>
            </a:r>
            <a:endParaRPr lang="en-US" sz="938" dirty="0"/>
          </a:p>
        </p:txBody>
      </p:sp>
      <p:sp>
        <p:nvSpPr>
          <p:cNvPr id="97" name="Text 95"/>
          <p:cNvSpPr/>
          <p:nvPr/>
        </p:nvSpPr>
        <p:spPr>
          <a:xfrm>
            <a:off x="10139511" y="6677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mbti</a:t>
            </a:r>
            <a:endParaRPr lang="en-US" sz="825" dirty="0"/>
          </a:p>
        </p:txBody>
      </p:sp>
      <p:sp>
        <p:nvSpPr>
          <p:cNvPr id="98" name="Text 96"/>
          <p:cNvSpPr/>
          <p:nvPr/>
        </p:nvSpPr>
        <p:spPr>
          <a:xfrm>
            <a:off x="13696206" y="6677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 (궁합)</a:t>
            </a:r>
            <a:endParaRPr lang="en-US" sz="825" dirty="0"/>
          </a:p>
        </p:txBody>
      </p:sp>
      <p:sp>
        <p:nvSpPr>
          <p:cNvPr id="99" name="Shape 97"/>
          <p:cNvSpPr/>
          <p:nvPr/>
        </p:nvSpPr>
        <p:spPr>
          <a:xfrm>
            <a:off x="1076325" y="6924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76325" y="6924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01" name="Text 99"/>
          <p:cNvSpPr/>
          <p:nvPr/>
        </p:nvSpPr>
        <p:spPr>
          <a:xfrm>
            <a:off x="1247775" y="7048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 원하는 MBTI</a:t>
            </a:r>
            <a:endParaRPr lang="en-US" sz="938" dirty="0"/>
          </a:p>
        </p:txBody>
      </p:sp>
      <p:sp>
        <p:nvSpPr>
          <p:cNvPr id="102" name="Text 100"/>
          <p:cNvSpPr/>
          <p:nvPr/>
        </p:nvSpPr>
        <p:spPr>
          <a:xfrm>
            <a:off x="4550420" y="7048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938" dirty="0"/>
          </a:p>
        </p:txBody>
      </p:sp>
      <p:sp>
        <p:nvSpPr>
          <p:cNvPr id="103" name="Text 101"/>
          <p:cNvSpPr/>
          <p:nvPr/>
        </p:nvSpPr>
        <p:spPr>
          <a:xfrm>
            <a:off x="7090916" y="7048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 다중</a:t>
            </a:r>
            <a:endParaRPr lang="en-US" sz="938" dirty="0"/>
          </a:p>
        </p:txBody>
      </p:sp>
      <p:sp>
        <p:nvSpPr>
          <p:cNvPr id="104" name="Text 102"/>
          <p:cNvSpPr/>
          <p:nvPr/>
        </p:nvSpPr>
        <p:spPr>
          <a:xfrm>
            <a:off x="10139511" y="7058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prefMbti[]</a:t>
            </a:r>
            <a:endParaRPr lang="en-US" sz="825" dirty="0"/>
          </a:p>
        </p:txBody>
      </p:sp>
      <p:sp>
        <p:nvSpPr>
          <p:cNvPr id="105" name="Text 103"/>
          <p:cNvSpPr/>
          <p:nvPr/>
        </p:nvSpPr>
        <p:spPr>
          <a:xfrm>
            <a:off x="13696206" y="7058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+ 객관</a:t>
            </a:r>
            <a:endParaRPr lang="en-US" sz="825" dirty="0"/>
          </a:p>
        </p:txBody>
      </p:sp>
      <p:sp>
        <p:nvSpPr>
          <p:cNvPr id="106" name="Shape 104"/>
          <p:cNvSpPr/>
          <p:nvPr/>
        </p:nvSpPr>
        <p:spPr>
          <a:xfrm>
            <a:off x="1076325" y="7305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76325" y="7305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08" name="Text 106"/>
          <p:cNvSpPr/>
          <p:nvPr/>
        </p:nvSpPr>
        <p:spPr>
          <a:xfrm>
            <a:off x="1247775" y="7429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종교</a:t>
            </a:r>
            <a:endParaRPr lang="en-US" sz="938" dirty="0"/>
          </a:p>
        </p:txBody>
      </p:sp>
      <p:sp>
        <p:nvSpPr>
          <p:cNvPr id="109" name="Text 107"/>
          <p:cNvSpPr/>
          <p:nvPr/>
        </p:nvSpPr>
        <p:spPr>
          <a:xfrm>
            <a:off x="4550420" y="7429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38" dirty="0"/>
          </a:p>
        </p:txBody>
      </p:sp>
      <p:sp>
        <p:nvSpPr>
          <p:cNvPr id="110" name="Text 108"/>
          <p:cNvSpPr/>
          <p:nvPr/>
        </p:nvSpPr>
        <p:spPr>
          <a:xfrm>
            <a:off x="7090916" y="7429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 선택</a:t>
            </a:r>
            <a:endParaRPr lang="en-US" sz="938" dirty="0"/>
          </a:p>
        </p:txBody>
      </p:sp>
      <p:sp>
        <p:nvSpPr>
          <p:cNvPr id="111" name="Text 109"/>
          <p:cNvSpPr/>
          <p:nvPr/>
        </p:nvSpPr>
        <p:spPr>
          <a:xfrm>
            <a:off x="10139511" y="7439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religion</a:t>
            </a:r>
            <a:endParaRPr lang="en-US" sz="825" dirty="0"/>
          </a:p>
        </p:txBody>
      </p:sp>
      <p:sp>
        <p:nvSpPr>
          <p:cNvPr id="112" name="Text 110"/>
          <p:cNvSpPr/>
          <p:nvPr/>
        </p:nvSpPr>
        <p:spPr>
          <a:xfrm>
            <a:off x="13696206" y="7443788"/>
            <a:ext cx="392506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</a:t>
            </a:r>
            <a:endParaRPr lang="en-US" sz="825" dirty="0"/>
          </a:p>
        </p:txBody>
      </p:sp>
      <p:sp>
        <p:nvSpPr>
          <p:cNvPr id="113" name="Shape 111"/>
          <p:cNvSpPr/>
          <p:nvPr/>
        </p:nvSpPr>
        <p:spPr>
          <a:xfrm>
            <a:off x="1076325" y="7686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76325" y="7686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15" name="Text 113"/>
          <p:cNvSpPr/>
          <p:nvPr/>
        </p:nvSpPr>
        <p:spPr>
          <a:xfrm>
            <a:off x="1247775" y="7810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 선호 종교</a:t>
            </a:r>
            <a:endParaRPr lang="en-US" sz="938" dirty="0"/>
          </a:p>
        </p:txBody>
      </p:sp>
      <p:sp>
        <p:nvSpPr>
          <p:cNvPr id="116" name="Text 114"/>
          <p:cNvSpPr/>
          <p:nvPr/>
        </p:nvSpPr>
        <p:spPr>
          <a:xfrm>
            <a:off x="4550420" y="7810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938" dirty="0"/>
          </a:p>
        </p:txBody>
      </p:sp>
      <p:sp>
        <p:nvSpPr>
          <p:cNvPr id="117" name="Text 115"/>
          <p:cNvSpPr/>
          <p:nvPr/>
        </p:nvSpPr>
        <p:spPr>
          <a:xfrm>
            <a:off x="7090916" y="7810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 다중</a:t>
            </a:r>
            <a:endParaRPr lang="en-US" sz="938" dirty="0"/>
          </a:p>
        </p:txBody>
      </p:sp>
      <p:sp>
        <p:nvSpPr>
          <p:cNvPr id="118" name="Text 116"/>
          <p:cNvSpPr/>
          <p:nvPr/>
        </p:nvSpPr>
        <p:spPr>
          <a:xfrm>
            <a:off x="10139511" y="7820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prefReligion[]</a:t>
            </a:r>
            <a:endParaRPr lang="en-US" sz="825" dirty="0"/>
          </a:p>
        </p:txBody>
      </p:sp>
      <p:sp>
        <p:nvSpPr>
          <p:cNvPr id="119" name="Text 117"/>
          <p:cNvSpPr/>
          <p:nvPr/>
        </p:nvSpPr>
        <p:spPr>
          <a:xfrm>
            <a:off x="13696206" y="7824787"/>
            <a:ext cx="392506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</a:t>
            </a:r>
            <a:endParaRPr lang="en-US" sz="825" dirty="0"/>
          </a:p>
        </p:txBody>
      </p:sp>
      <p:sp>
        <p:nvSpPr>
          <p:cNvPr id="120" name="Shape 118"/>
          <p:cNvSpPr/>
          <p:nvPr/>
        </p:nvSpPr>
        <p:spPr>
          <a:xfrm>
            <a:off x="1076325" y="8067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076325" y="8067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22" name="Text 120"/>
          <p:cNvSpPr/>
          <p:nvPr/>
        </p:nvSpPr>
        <p:spPr>
          <a:xfrm>
            <a:off x="1247775" y="8191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나는 어떤 사람?</a:t>
            </a:r>
            <a:endParaRPr lang="en-US" sz="938" dirty="0"/>
          </a:p>
        </p:txBody>
      </p:sp>
      <p:sp>
        <p:nvSpPr>
          <p:cNvPr id="123" name="Text 121"/>
          <p:cNvSpPr/>
          <p:nvPr/>
        </p:nvSpPr>
        <p:spPr>
          <a:xfrm>
            <a:off x="4550420" y="8191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938" dirty="0"/>
          </a:p>
        </p:txBody>
      </p:sp>
      <p:sp>
        <p:nvSpPr>
          <p:cNvPr id="124" name="Text 122"/>
          <p:cNvSpPr/>
          <p:nvPr/>
        </p:nvSpPr>
        <p:spPr>
          <a:xfrm>
            <a:off x="7090916" y="8191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칩 3개</a:t>
            </a:r>
            <a:endParaRPr lang="en-US" sz="938" dirty="0"/>
          </a:p>
        </p:txBody>
      </p:sp>
      <p:sp>
        <p:nvSpPr>
          <p:cNvPr id="125" name="Text 123"/>
          <p:cNvSpPr/>
          <p:nvPr/>
        </p:nvSpPr>
        <p:spPr>
          <a:xfrm>
            <a:off x="10139511" y="8201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selfKeywords[]</a:t>
            </a:r>
            <a:endParaRPr lang="en-US" sz="825" dirty="0"/>
          </a:p>
        </p:txBody>
      </p:sp>
      <p:sp>
        <p:nvSpPr>
          <p:cNvPr id="126" name="Text 124"/>
          <p:cNvSpPr/>
          <p:nvPr/>
        </p:nvSpPr>
        <p:spPr>
          <a:xfrm>
            <a:off x="13696206" y="8201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 (자기소개 매칭)</a:t>
            </a:r>
            <a:endParaRPr lang="en-US" sz="825" dirty="0"/>
          </a:p>
        </p:txBody>
      </p:sp>
      <p:sp>
        <p:nvSpPr>
          <p:cNvPr id="127" name="Shape 125"/>
          <p:cNvSpPr/>
          <p:nvPr/>
        </p:nvSpPr>
        <p:spPr>
          <a:xfrm>
            <a:off x="1076325" y="8448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76325" y="8448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29" name="Text 127"/>
          <p:cNvSpPr/>
          <p:nvPr/>
        </p:nvSpPr>
        <p:spPr>
          <a:xfrm>
            <a:off x="1247775" y="8572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이상형</a:t>
            </a:r>
            <a:endParaRPr lang="en-US" sz="938" dirty="0"/>
          </a:p>
        </p:txBody>
      </p:sp>
      <p:sp>
        <p:nvSpPr>
          <p:cNvPr id="130" name="Text 128"/>
          <p:cNvSpPr/>
          <p:nvPr/>
        </p:nvSpPr>
        <p:spPr>
          <a:xfrm>
            <a:off x="4550420" y="8572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938" dirty="0"/>
          </a:p>
        </p:txBody>
      </p:sp>
      <p:sp>
        <p:nvSpPr>
          <p:cNvPr id="131" name="Text 129"/>
          <p:cNvSpPr/>
          <p:nvPr/>
        </p:nvSpPr>
        <p:spPr>
          <a:xfrm>
            <a:off x="7090916" y="8572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+ 한 문장</a:t>
            </a:r>
            <a:endParaRPr lang="en-US" sz="938" dirty="0"/>
          </a:p>
        </p:txBody>
      </p:sp>
      <p:sp>
        <p:nvSpPr>
          <p:cNvPr id="132" name="Text 130"/>
          <p:cNvSpPr/>
          <p:nvPr/>
        </p:nvSpPr>
        <p:spPr>
          <a:xfrm>
            <a:off x="10139511" y="8582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idealCard/idealText</a:t>
            </a:r>
            <a:endParaRPr lang="en-US" sz="825" dirty="0"/>
          </a:p>
        </p:txBody>
      </p:sp>
      <p:sp>
        <p:nvSpPr>
          <p:cNvPr id="133" name="Text 131"/>
          <p:cNvSpPr/>
          <p:nvPr/>
        </p:nvSpPr>
        <p:spPr>
          <a:xfrm>
            <a:off x="13696206" y="8582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 (키워드 매칭)</a:t>
            </a:r>
            <a:endParaRPr lang="en-US" sz="825" dirty="0"/>
          </a:p>
        </p:txBody>
      </p:sp>
      <p:sp>
        <p:nvSpPr>
          <p:cNvPr id="134" name="Shape 132"/>
          <p:cNvSpPr/>
          <p:nvPr/>
        </p:nvSpPr>
        <p:spPr>
          <a:xfrm>
            <a:off x="1076325" y="8829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076325" y="8829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36" name="Text 134"/>
          <p:cNvSpPr/>
          <p:nvPr/>
        </p:nvSpPr>
        <p:spPr>
          <a:xfrm>
            <a:off x="1247775" y="8953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인생영화</a:t>
            </a:r>
            <a:endParaRPr lang="en-US" sz="938" dirty="0"/>
          </a:p>
        </p:txBody>
      </p:sp>
      <p:sp>
        <p:nvSpPr>
          <p:cNvPr id="137" name="Text 135"/>
          <p:cNvSpPr/>
          <p:nvPr/>
        </p:nvSpPr>
        <p:spPr>
          <a:xfrm>
            <a:off x="4550420" y="8953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38" dirty="0"/>
          </a:p>
        </p:txBody>
      </p:sp>
      <p:sp>
        <p:nvSpPr>
          <p:cNvPr id="138" name="Text 136"/>
          <p:cNvSpPr/>
          <p:nvPr/>
        </p:nvSpPr>
        <p:spPr>
          <a:xfrm>
            <a:off x="7090916" y="8953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입력</a:t>
            </a:r>
            <a:endParaRPr lang="en-US" sz="938" dirty="0"/>
          </a:p>
        </p:txBody>
      </p:sp>
      <p:sp>
        <p:nvSpPr>
          <p:cNvPr id="139" name="Text 137"/>
          <p:cNvSpPr/>
          <p:nvPr/>
        </p:nvSpPr>
        <p:spPr>
          <a:xfrm>
            <a:off x="10139511" y="8963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lifeMovie</a:t>
            </a:r>
            <a:endParaRPr lang="en-US" sz="825" dirty="0"/>
          </a:p>
        </p:txBody>
      </p:sp>
      <p:sp>
        <p:nvSpPr>
          <p:cNvPr id="140" name="Text 138"/>
          <p:cNvSpPr/>
          <p:nvPr/>
        </p:nvSpPr>
        <p:spPr>
          <a:xfrm>
            <a:off x="13696206" y="8963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 (대화 소재)</a:t>
            </a:r>
            <a:endParaRPr lang="en-US" sz="825" dirty="0"/>
          </a:p>
        </p:txBody>
      </p:sp>
      <p:sp>
        <p:nvSpPr>
          <p:cNvPr id="141" name="Shape 139"/>
          <p:cNvSpPr/>
          <p:nvPr/>
        </p:nvSpPr>
        <p:spPr>
          <a:xfrm>
            <a:off x="1076325" y="9210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Shape 140"/>
          <p:cNvSpPr/>
          <p:nvPr/>
        </p:nvSpPr>
        <p:spPr>
          <a:xfrm>
            <a:off x="1076325" y="9210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43" name="Text 141"/>
          <p:cNvSpPr/>
          <p:nvPr/>
        </p:nvSpPr>
        <p:spPr>
          <a:xfrm>
            <a:off x="1247775" y="9334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취미</a:t>
            </a:r>
            <a:endParaRPr lang="en-US" sz="938" dirty="0"/>
          </a:p>
        </p:txBody>
      </p:sp>
      <p:sp>
        <p:nvSpPr>
          <p:cNvPr id="144" name="Text 142"/>
          <p:cNvSpPr/>
          <p:nvPr/>
        </p:nvSpPr>
        <p:spPr>
          <a:xfrm>
            <a:off x="4550420" y="9334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38" dirty="0"/>
          </a:p>
        </p:txBody>
      </p:sp>
      <p:sp>
        <p:nvSpPr>
          <p:cNvPr id="145" name="Text 143"/>
          <p:cNvSpPr/>
          <p:nvPr/>
        </p:nvSpPr>
        <p:spPr>
          <a:xfrm>
            <a:off x="7090916" y="9334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 다중</a:t>
            </a:r>
            <a:endParaRPr lang="en-US" sz="938" dirty="0"/>
          </a:p>
        </p:txBody>
      </p:sp>
      <p:sp>
        <p:nvSpPr>
          <p:cNvPr id="146" name="Text 144"/>
          <p:cNvSpPr/>
          <p:nvPr/>
        </p:nvSpPr>
        <p:spPr>
          <a:xfrm>
            <a:off x="10139511" y="9344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hobbies[]</a:t>
            </a:r>
            <a:endParaRPr lang="en-US" sz="825" dirty="0"/>
          </a:p>
        </p:txBody>
      </p:sp>
      <p:sp>
        <p:nvSpPr>
          <p:cNvPr id="147" name="Text 145"/>
          <p:cNvSpPr/>
          <p:nvPr/>
        </p:nvSpPr>
        <p:spPr>
          <a:xfrm>
            <a:off x="13696206" y="9344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 (취향 유사도)</a:t>
            </a:r>
            <a:endParaRPr lang="en-US" sz="825" dirty="0"/>
          </a:p>
        </p:txBody>
      </p:sp>
      <p:sp>
        <p:nvSpPr>
          <p:cNvPr id="148" name="Shape 146"/>
          <p:cNvSpPr/>
          <p:nvPr/>
        </p:nvSpPr>
        <p:spPr>
          <a:xfrm>
            <a:off x="1076325" y="9591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076325" y="9591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50" name="Text 148"/>
          <p:cNvSpPr/>
          <p:nvPr/>
        </p:nvSpPr>
        <p:spPr>
          <a:xfrm>
            <a:off x="1247775" y="9715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좋아하는 음식</a:t>
            </a:r>
            <a:endParaRPr lang="en-US" sz="938" dirty="0"/>
          </a:p>
        </p:txBody>
      </p:sp>
      <p:sp>
        <p:nvSpPr>
          <p:cNvPr id="151" name="Text 149"/>
          <p:cNvSpPr/>
          <p:nvPr/>
        </p:nvSpPr>
        <p:spPr>
          <a:xfrm>
            <a:off x="4550420" y="9715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38" dirty="0"/>
          </a:p>
        </p:txBody>
      </p:sp>
      <p:sp>
        <p:nvSpPr>
          <p:cNvPr id="152" name="Text 150"/>
          <p:cNvSpPr/>
          <p:nvPr/>
        </p:nvSpPr>
        <p:spPr>
          <a:xfrm>
            <a:off x="7090916" y="9715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 다중</a:t>
            </a:r>
            <a:endParaRPr lang="en-US" sz="938" dirty="0"/>
          </a:p>
        </p:txBody>
      </p:sp>
      <p:sp>
        <p:nvSpPr>
          <p:cNvPr id="153" name="Text 151"/>
          <p:cNvSpPr/>
          <p:nvPr/>
        </p:nvSpPr>
        <p:spPr>
          <a:xfrm>
            <a:off x="10139511" y="9725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foods[]</a:t>
            </a:r>
            <a:endParaRPr lang="en-US" sz="825" dirty="0"/>
          </a:p>
        </p:txBody>
      </p:sp>
      <p:sp>
        <p:nvSpPr>
          <p:cNvPr id="154" name="Text 152"/>
          <p:cNvSpPr/>
          <p:nvPr/>
        </p:nvSpPr>
        <p:spPr>
          <a:xfrm>
            <a:off x="13696206" y="9725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</a:t>
            </a:r>
            <a:endParaRPr lang="en-US" sz="825" dirty="0"/>
          </a:p>
        </p:txBody>
      </p:sp>
      <p:sp>
        <p:nvSpPr>
          <p:cNvPr id="155" name="Shape 153"/>
          <p:cNvSpPr/>
          <p:nvPr/>
        </p:nvSpPr>
        <p:spPr>
          <a:xfrm>
            <a:off x="1076325" y="9972675"/>
            <a:ext cx="16602075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6" name="Shape 154"/>
          <p:cNvSpPr/>
          <p:nvPr/>
        </p:nvSpPr>
        <p:spPr>
          <a:xfrm>
            <a:off x="1076325" y="9972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57" name="Text 155"/>
          <p:cNvSpPr/>
          <p:nvPr/>
        </p:nvSpPr>
        <p:spPr>
          <a:xfrm>
            <a:off x="1247775" y="10096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연인 중요 한 가지</a:t>
            </a:r>
            <a:endParaRPr lang="en-US" sz="938" dirty="0"/>
          </a:p>
        </p:txBody>
      </p:sp>
      <p:sp>
        <p:nvSpPr>
          <p:cNvPr id="158" name="Text 156"/>
          <p:cNvSpPr/>
          <p:nvPr/>
        </p:nvSpPr>
        <p:spPr>
          <a:xfrm>
            <a:off x="4550420" y="10096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938" dirty="0"/>
          </a:p>
        </p:txBody>
      </p:sp>
      <p:sp>
        <p:nvSpPr>
          <p:cNvPr id="159" name="Text 157"/>
          <p:cNvSpPr/>
          <p:nvPr/>
        </p:nvSpPr>
        <p:spPr>
          <a:xfrm>
            <a:off x="7090916" y="10096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칩</a:t>
            </a:r>
            <a:endParaRPr lang="en-US" sz="938" dirty="0"/>
          </a:p>
        </p:txBody>
      </p:sp>
      <p:sp>
        <p:nvSpPr>
          <p:cNvPr id="160" name="Text 158"/>
          <p:cNvSpPr/>
          <p:nvPr/>
        </p:nvSpPr>
        <p:spPr>
          <a:xfrm>
            <a:off x="10139511" y="10106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topValue</a:t>
            </a:r>
            <a:endParaRPr lang="en-US" sz="825" dirty="0"/>
          </a:p>
        </p:txBody>
      </p:sp>
      <p:sp>
        <p:nvSpPr>
          <p:cNvPr id="161" name="Text 159"/>
          <p:cNvSpPr/>
          <p:nvPr/>
        </p:nvSpPr>
        <p:spPr>
          <a:xfrm>
            <a:off x="13696206" y="10106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 (가치관)</a:t>
            </a:r>
            <a:endParaRPr lang="en-US" sz="825" dirty="0"/>
          </a:p>
        </p:txBody>
      </p:sp>
      <p:sp>
        <p:nvSpPr>
          <p:cNvPr id="162" name="Shape 160"/>
          <p:cNvSpPr/>
          <p:nvPr/>
        </p:nvSpPr>
        <p:spPr>
          <a:xfrm>
            <a:off x="1076325" y="10353675"/>
            <a:ext cx="16602075" cy="381000"/>
          </a:xfrm>
          <a:prstGeom prst="rect">
            <a:avLst/>
          </a:prstGeom>
          <a:solidFill>
            <a:srgbClr val="FBF1E3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076325" y="10353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64" name="Text 162"/>
          <p:cNvSpPr/>
          <p:nvPr/>
        </p:nvSpPr>
        <p:spPr>
          <a:xfrm>
            <a:off x="1247775" y="10477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551321"/>
                </a:solidFill>
                <a:highlight>
                  <a:srgbClr val="F5DFA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스타일</a:t>
            </a:r>
            <a:endParaRPr lang="en-US" sz="938" dirty="0"/>
          </a:p>
        </p:txBody>
      </p:sp>
      <p:sp>
        <p:nvSpPr>
          <p:cNvPr id="165" name="Text 163"/>
          <p:cNvSpPr/>
          <p:nvPr/>
        </p:nvSpPr>
        <p:spPr>
          <a:xfrm>
            <a:off x="4550420" y="10477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38" dirty="0"/>
          </a:p>
        </p:txBody>
      </p:sp>
      <p:sp>
        <p:nvSpPr>
          <p:cNvPr id="166" name="Text 164"/>
          <p:cNvSpPr/>
          <p:nvPr/>
        </p:nvSpPr>
        <p:spPr>
          <a:xfrm>
            <a:off x="7090916" y="10477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 다중</a:t>
            </a:r>
            <a:endParaRPr lang="en-US" sz="938" dirty="0"/>
          </a:p>
        </p:txBody>
      </p:sp>
      <p:sp>
        <p:nvSpPr>
          <p:cNvPr id="167" name="Text 165"/>
          <p:cNvSpPr/>
          <p:nvPr/>
        </p:nvSpPr>
        <p:spPr>
          <a:xfrm>
            <a:off x="10139511" y="10487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convStyle[]</a:t>
            </a:r>
            <a:endParaRPr lang="en-US" sz="825" dirty="0"/>
          </a:p>
        </p:txBody>
      </p:sp>
      <p:sp>
        <p:nvSpPr>
          <p:cNvPr id="168" name="Text 166"/>
          <p:cNvSpPr/>
          <p:nvPr/>
        </p:nvSpPr>
        <p:spPr>
          <a:xfrm>
            <a:off x="13696206" y="10487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</a:t>
            </a:r>
            <a:endParaRPr lang="en-US" sz="825" dirty="0"/>
          </a:p>
        </p:txBody>
      </p:sp>
      <p:sp>
        <p:nvSpPr>
          <p:cNvPr id="169" name="Shape 167"/>
          <p:cNvSpPr/>
          <p:nvPr/>
        </p:nvSpPr>
        <p:spPr>
          <a:xfrm>
            <a:off x="1076325" y="10734675"/>
            <a:ext cx="16602075" cy="381000"/>
          </a:xfrm>
          <a:prstGeom prst="rect">
            <a:avLst/>
          </a:prstGeom>
          <a:solidFill>
            <a:srgbClr val="FBF1E3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076325" y="10734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71" name="Text 169"/>
          <p:cNvSpPr/>
          <p:nvPr/>
        </p:nvSpPr>
        <p:spPr>
          <a:xfrm>
            <a:off x="1247775" y="10858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551321"/>
                </a:solidFill>
                <a:highlight>
                  <a:srgbClr val="F5DFA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첫인상 행동</a:t>
            </a:r>
            <a:endParaRPr lang="en-US" sz="938" dirty="0"/>
          </a:p>
        </p:txBody>
      </p:sp>
      <p:sp>
        <p:nvSpPr>
          <p:cNvPr id="172" name="Text 170"/>
          <p:cNvSpPr/>
          <p:nvPr/>
        </p:nvSpPr>
        <p:spPr>
          <a:xfrm>
            <a:off x="4550420" y="10858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38" dirty="0"/>
          </a:p>
        </p:txBody>
      </p:sp>
      <p:sp>
        <p:nvSpPr>
          <p:cNvPr id="173" name="Text 171"/>
          <p:cNvSpPr/>
          <p:nvPr/>
        </p:nvSpPr>
        <p:spPr>
          <a:xfrm>
            <a:off x="7090916" y="10858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단일</a:t>
            </a:r>
            <a:endParaRPr lang="en-US" sz="938" dirty="0"/>
          </a:p>
        </p:txBody>
      </p:sp>
      <p:sp>
        <p:nvSpPr>
          <p:cNvPr id="174" name="Text 172"/>
          <p:cNvSpPr/>
          <p:nvPr/>
        </p:nvSpPr>
        <p:spPr>
          <a:xfrm>
            <a:off x="10139511" y="10868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firstMove</a:t>
            </a:r>
            <a:endParaRPr lang="en-US" sz="825" dirty="0"/>
          </a:p>
        </p:txBody>
      </p:sp>
      <p:sp>
        <p:nvSpPr>
          <p:cNvPr id="175" name="Text 173"/>
          <p:cNvSpPr/>
          <p:nvPr/>
        </p:nvSpPr>
        <p:spPr>
          <a:xfrm>
            <a:off x="13696206" y="10868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 (친밀감 속도)</a:t>
            </a:r>
            <a:endParaRPr lang="en-US" sz="825" dirty="0"/>
          </a:p>
        </p:txBody>
      </p:sp>
      <p:sp>
        <p:nvSpPr>
          <p:cNvPr id="176" name="Shape 174"/>
          <p:cNvSpPr/>
          <p:nvPr/>
        </p:nvSpPr>
        <p:spPr>
          <a:xfrm>
            <a:off x="1076325" y="11115675"/>
            <a:ext cx="16602075" cy="381000"/>
          </a:xfrm>
          <a:prstGeom prst="rect">
            <a:avLst/>
          </a:prstGeom>
          <a:solidFill>
            <a:srgbClr val="FBF1E3"/>
          </a:solidFill>
          <a:ln/>
        </p:spPr>
      </p:sp>
      <p:sp>
        <p:nvSpPr>
          <p:cNvPr id="177" name="Shape 175"/>
          <p:cNvSpPr/>
          <p:nvPr/>
        </p:nvSpPr>
        <p:spPr>
          <a:xfrm>
            <a:off x="1076325" y="11115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78" name="Text 176"/>
          <p:cNvSpPr/>
          <p:nvPr/>
        </p:nvSpPr>
        <p:spPr>
          <a:xfrm>
            <a:off x="1247775" y="11239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551321"/>
                </a:solidFill>
                <a:highlight>
                  <a:srgbClr val="F5DFA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주말 활동</a:t>
            </a:r>
            <a:endParaRPr lang="en-US" sz="938" dirty="0"/>
          </a:p>
        </p:txBody>
      </p:sp>
      <p:sp>
        <p:nvSpPr>
          <p:cNvPr id="179" name="Text 177"/>
          <p:cNvSpPr/>
          <p:nvPr/>
        </p:nvSpPr>
        <p:spPr>
          <a:xfrm>
            <a:off x="4550420" y="11239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38" dirty="0"/>
          </a:p>
        </p:txBody>
      </p:sp>
      <p:sp>
        <p:nvSpPr>
          <p:cNvPr id="180" name="Text 178"/>
          <p:cNvSpPr/>
          <p:nvPr/>
        </p:nvSpPr>
        <p:spPr>
          <a:xfrm>
            <a:off x="7090916" y="11239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단일</a:t>
            </a:r>
            <a:endParaRPr lang="en-US" sz="938" dirty="0"/>
          </a:p>
        </p:txBody>
      </p:sp>
      <p:sp>
        <p:nvSpPr>
          <p:cNvPr id="181" name="Text 179"/>
          <p:cNvSpPr/>
          <p:nvPr/>
        </p:nvSpPr>
        <p:spPr>
          <a:xfrm>
            <a:off x="10139511" y="11249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weekend</a:t>
            </a:r>
            <a:endParaRPr lang="en-US" sz="825" dirty="0"/>
          </a:p>
        </p:txBody>
      </p:sp>
      <p:sp>
        <p:nvSpPr>
          <p:cNvPr id="182" name="Text 180"/>
          <p:cNvSpPr/>
          <p:nvPr/>
        </p:nvSpPr>
        <p:spPr>
          <a:xfrm>
            <a:off x="13696206" y="11249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 (라이프스타일)</a:t>
            </a:r>
            <a:endParaRPr lang="en-US" sz="825" dirty="0"/>
          </a:p>
        </p:txBody>
      </p:sp>
      <p:sp>
        <p:nvSpPr>
          <p:cNvPr id="183" name="Shape 181"/>
          <p:cNvSpPr/>
          <p:nvPr/>
        </p:nvSpPr>
        <p:spPr>
          <a:xfrm>
            <a:off x="1076325" y="11496675"/>
            <a:ext cx="16602075" cy="381000"/>
          </a:xfrm>
          <a:prstGeom prst="rect">
            <a:avLst/>
          </a:prstGeom>
          <a:solidFill>
            <a:srgbClr val="FBF1E3"/>
          </a:solidFill>
          <a:ln/>
        </p:spPr>
      </p:sp>
      <p:sp>
        <p:nvSpPr>
          <p:cNvPr id="184" name="Shape 182"/>
          <p:cNvSpPr/>
          <p:nvPr/>
        </p:nvSpPr>
        <p:spPr>
          <a:xfrm>
            <a:off x="1076325" y="11496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85" name="Text 183"/>
          <p:cNvSpPr/>
          <p:nvPr/>
        </p:nvSpPr>
        <p:spPr>
          <a:xfrm>
            <a:off x="1247775" y="11620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551321"/>
                </a:solidFill>
                <a:highlight>
                  <a:srgbClr val="F5DFA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디저트 취향</a:t>
            </a:r>
            <a:endParaRPr lang="en-US" sz="938" dirty="0"/>
          </a:p>
        </p:txBody>
      </p:sp>
      <p:sp>
        <p:nvSpPr>
          <p:cNvPr id="186" name="Text 184"/>
          <p:cNvSpPr/>
          <p:nvPr/>
        </p:nvSpPr>
        <p:spPr>
          <a:xfrm>
            <a:off x="4550420" y="11620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38" dirty="0"/>
          </a:p>
        </p:txBody>
      </p:sp>
      <p:sp>
        <p:nvSpPr>
          <p:cNvPr id="187" name="Text 185"/>
          <p:cNvSpPr/>
          <p:nvPr/>
        </p:nvSpPr>
        <p:spPr>
          <a:xfrm>
            <a:off x="7090916" y="11620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 다중</a:t>
            </a:r>
            <a:endParaRPr lang="en-US" sz="938" dirty="0"/>
          </a:p>
        </p:txBody>
      </p:sp>
      <p:sp>
        <p:nvSpPr>
          <p:cNvPr id="188" name="Text 186"/>
          <p:cNvSpPr/>
          <p:nvPr/>
        </p:nvSpPr>
        <p:spPr>
          <a:xfrm>
            <a:off x="10139511" y="11630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dessert[]</a:t>
            </a:r>
            <a:endParaRPr lang="en-US" sz="825" dirty="0"/>
          </a:p>
        </p:txBody>
      </p:sp>
      <p:sp>
        <p:nvSpPr>
          <p:cNvPr id="189" name="Text 187"/>
          <p:cNvSpPr/>
          <p:nvPr/>
        </p:nvSpPr>
        <p:spPr>
          <a:xfrm>
            <a:off x="13696206" y="11630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 (브랜드 핏)</a:t>
            </a:r>
            <a:endParaRPr lang="en-US" sz="825" dirty="0"/>
          </a:p>
        </p:txBody>
      </p:sp>
      <p:sp>
        <p:nvSpPr>
          <p:cNvPr id="190" name="Shape 188"/>
          <p:cNvSpPr/>
          <p:nvPr/>
        </p:nvSpPr>
        <p:spPr>
          <a:xfrm>
            <a:off x="1076325" y="11877675"/>
            <a:ext cx="16602075" cy="381000"/>
          </a:xfrm>
          <a:prstGeom prst="rect">
            <a:avLst/>
          </a:prstGeom>
          <a:solidFill>
            <a:srgbClr val="FBF1E3"/>
          </a:solidFill>
          <a:ln/>
        </p:spPr>
      </p:sp>
      <p:sp>
        <p:nvSpPr>
          <p:cNvPr id="191" name="Shape 189"/>
          <p:cNvSpPr/>
          <p:nvPr/>
        </p:nvSpPr>
        <p:spPr>
          <a:xfrm>
            <a:off x="1076325" y="11877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92" name="Text 190"/>
          <p:cNvSpPr/>
          <p:nvPr/>
        </p:nvSpPr>
        <p:spPr>
          <a:xfrm>
            <a:off x="1247775" y="12001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551321"/>
                </a:solidFill>
                <a:highlight>
                  <a:srgbClr val="F5DFA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근무 패턴</a:t>
            </a:r>
            <a:endParaRPr lang="en-US" sz="938" dirty="0"/>
          </a:p>
        </p:txBody>
      </p:sp>
      <p:sp>
        <p:nvSpPr>
          <p:cNvPr id="193" name="Text 191"/>
          <p:cNvSpPr/>
          <p:nvPr/>
        </p:nvSpPr>
        <p:spPr>
          <a:xfrm>
            <a:off x="4550420" y="12001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38" dirty="0"/>
          </a:p>
        </p:txBody>
      </p:sp>
      <p:sp>
        <p:nvSpPr>
          <p:cNvPr id="194" name="Text 192"/>
          <p:cNvSpPr/>
          <p:nvPr/>
        </p:nvSpPr>
        <p:spPr>
          <a:xfrm>
            <a:off x="7090916" y="12001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단일</a:t>
            </a:r>
            <a:endParaRPr lang="en-US" sz="938" dirty="0"/>
          </a:p>
        </p:txBody>
      </p:sp>
      <p:sp>
        <p:nvSpPr>
          <p:cNvPr id="195" name="Text 193"/>
          <p:cNvSpPr/>
          <p:nvPr/>
        </p:nvSpPr>
        <p:spPr>
          <a:xfrm>
            <a:off x="10139511" y="12011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workPattern</a:t>
            </a:r>
            <a:endParaRPr lang="en-US" sz="825" dirty="0"/>
          </a:p>
        </p:txBody>
      </p:sp>
      <p:sp>
        <p:nvSpPr>
          <p:cNvPr id="196" name="Text 194"/>
          <p:cNvSpPr/>
          <p:nvPr/>
        </p:nvSpPr>
        <p:spPr>
          <a:xfrm>
            <a:off x="13696206" y="12011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 (시간대 매칭)</a:t>
            </a:r>
            <a:endParaRPr lang="en-US" sz="825" dirty="0"/>
          </a:p>
        </p:txBody>
      </p:sp>
      <p:sp>
        <p:nvSpPr>
          <p:cNvPr id="197" name="Shape 195"/>
          <p:cNvSpPr/>
          <p:nvPr/>
        </p:nvSpPr>
        <p:spPr>
          <a:xfrm>
            <a:off x="1076325" y="12258675"/>
            <a:ext cx="16602075" cy="381000"/>
          </a:xfrm>
          <a:prstGeom prst="rect">
            <a:avLst/>
          </a:prstGeom>
          <a:solidFill>
            <a:srgbClr val="FBF1E3"/>
          </a:solidFill>
          <a:ln/>
        </p:spPr>
      </p:sp>
      <p:sp>
        <p:nvSpPr>
          <p:cNvPr id="198" name="Shape 196"/>
          <p:cNvSpPr/>
          <p:nvPr/>
        </p:nvSpPr>
        <p:spPr>
          <a:xfrm>
            <a:off x="1076325" y="12258675"/>
            <a:ext cx="16602075" cy="9525"/>
          </a:xfrm>
          <a:prstGeom prst="rect">
            <a:avLst/>
          </a:prstGeom>
          <a:solidFill>
            <a:srgbClr val="EFE2CE"/>
          </a:solidFill>
          <a:ln/>
        </p:spPr>
      </p:sp>
      <p:sp>
        <p:nvSpPr>
          <p:cNvPr id="199" name="Text 197"/>
          <p:cNvSpPr/>
          <p:nvPr/>
        </p:nvSpPr>
        <p:spPr>
          <a:xfrm>
            <a:off x="1247775" y="12382500"/>
            <a:ext cx="3401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551321"/>
                </a:solidFill>
                <a:highlight>
                  <a:srgbClr val="F5DFA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r>
              <a:rPr lang="en-US" sz="938" b="1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가능 시간대</a:t>
            </a:r>
            <a:endParaRPr lang="en-US" sz="938" dirty="0"/>
          </a:p>
        </p:txBody>
      </p:sp>
      <p:sp>
        <p:nvSpPr>
          <p:cNvPr id="200" name="Text 198"/>
          <p:cNvSpPr/>
          <p:nvPr/>
        </p:nvSpPr>
        <p:spPr>
          <a:xfrm>
            <a:off x="4550420" y="12382500"/>
            <a:ext cx="2616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38" dirty="0"/>
          </a:p>
        </p:txBody>
      </p:sp>
      <p:sp>
        <p:nvSpPr>
          <p:cNvPr id="201" name="Text 199"/>
          <p:cNvSpPr/>
          <p:nvPr/>
        </p:nvSpPr>
        <p:spPr>
          <a:xfrm>
            <a:off x="7090916" y="12382500"/>
            <a:ext cx="3140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 다중</a:t>
            </a:r>
            <a:endParaRPr lang="en-US" sz="938" dirty="0"/>
          </a:p>
        </p:txBody>
      </p:sp>
      <p:sp>
        <p:nvSpPr>
          <p:cNvPr id="202" name="Text 200"/>
          <p:cNvSpPr/>
          <p:nvPr/>
        </p:nvSpPr>
        <p:spPr>
          <a:xfrm>
            <a:off x="10139511" y="12392025"/>
            <a:ext cx="36633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availableTimes[]</a:t>
            </a:r>
            <a:endParaRPr lang="en-US" sz="825" dirty="0"/>
          </a:p>
        </p:txBody>
      </p:sp>
      <p:sp>
        <p:nvSpPr>
          <p:cNvPr id="203" name="Text 201"/>
          <p:cNvSpPr/>
          <p:nvPr/>
        </p:nvSpPr>
        <p:spPr>
          <a:xfrm>
            <a:off x="13696206" y="12392025"/>
            <a:ext cx="39250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(회차 추천)</a:t>
            </a:r>
            <a:endParaRPr lang="en-US" sz="825" dirty="0"/>
          </a:p>
        </p:txBody>
      </p:sp>
      <p:sp>
        <p:nvSpPr>
          <p:cNvPr id="204" name="Shape 202"/>
          <p:cNvSpPr/>
          <p:nvPr/>
        </p:nvSpPr>
        <p:spPr>
          <a:xfrm>
            <a:off x="1066800" y="12839700"/>
            <a:ext cx="5451425" cy="1535906"/>
          </a:xfrm>
          <a:prstGeom prst="roundRect">
            <a:avLst>
              <a:gd name="adj" fmla="val 8682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1228725" y="13001625"/>
            <a:ext cx="52814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컴포넌트 구조 제안</a:t>
            </a:r>
            <a:endParaRPr lang="en-US" sz="825" dirty="0"/>
          </a:p>
        </p:txBody>
      </p:sp>
      <p:sp>
        <p:nvSpPr>
          <p:cNvPr id="206" name="Text 204"/>
          <p:cNvSpPr/>
          <p:nvPr/>
        </p:nvSpPr>
        <p:spPr>
          <a:xfrm>
            <a:off x="1228725" y="13201650"/>
            <a:ext cx="5281403" cy="1050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825" dirty="0">
                <a:solidFill>
                  <a:srgbClr val="3B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&lt;OnboardingShell step total&gt; &lt;FieldLabel/&gt; &lt;Chip on/&gt; · &lt;ChipGroup&gt; &lt;CardOption icon/&gt; · &lt;TextField/&gt; &lt;RangeSlider/&gt;</a:t>
            </a:r>
            <a:endParaRPr lang="en-US" sz="825" dirty="0"/>
          </a:p>
        </p:txBody>
      </p:sp>
      <p:sp>
        <p:nvSpPr>
          <p:cNvPr id="207" name="Shape 205"/>
          <p:cNvSpPr/>
          <p:nvPr/>
        </p:nvSpPr>
        <p:spPr>
          <a:xfrm>
            <a:off x="6651575" y="12839700"/>
            <a:ext cx="5451425" cy="1535906"/>
          </a:xfrm>
          <a:prstGeom prst="roundRect">
            <a:avLst>
              <a:gd name="adj" fmla="val 8682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6813500" y="13001625"/>
            <a:ext cx="52814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성향 벡터 6축</a:t>
            </a:r>
            <a:endParaRPr lang="en-US" sz="825" dirty="0"/>
          </a:p>
        </p:txBody>
      </p:sp>
      <p:sp>
        <p:nvSpPr>
          <p:cNvPr id="209" name="Text 207"/>
          <p:cNvSpPr/>
          <p:nvPr/>
        </p:nvSpPr>
        <p:spPr>
          <a:xfrm>
            <a:off x="6813500" y="13201650"/>
            <a:ext cx="5281403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38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대화 에너지 · 2. 친밀감 속도 3. 감성/이성 · 4. 안정/설렘 5. 취향/가치 · 6. 관계 가치관</a:t>
            </a:r>
            <a:endParaRPr lang="en-US" sz="938" dirty="0"/>
          </a:p>
        </p:txBody>
      </p:sp>
      <p:sp>
        <p:nvSpPr>
          <p:cNvPr id="210" name="Shape 208"/>
          <p:cNvSpPr/>
          <p:nvPr/>
        </p:nvSpPr>
        <p:spPr>
          <a:xfrm>
            <a:off x="12236351" y="12839700"/>
            <a:ext cx="5451425" cy="1535906"/>
          </a:xfrm>
          <a:prstGeom prst="roundRect">
            <a:avLst>
              <a:gd name="adj" fmla="val 8682"/>
            </a:avLst>
          </a:prstGeom>
          <a:solidFill>
            <a:srgbClr val="FFFFFF"/>
          </a:solidFill>
          <a:ln w="9525">
            <a:solidFill>
              <a:srgbClr val="EFE2CE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12398276" y="13001625"/>
            <a:ext cx="528140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케미점수 공식</a:t>
            </a:r>
            <a:endParaRPr lang="en-US" sz="825" dirty="0"/>
          </a:p>
        </p:txBody>
      </p:sp>
      <p:sp>
        <p:nvSpPr>
          <p:cNvPr id="212" name="Text 210"/>
          <p:cNvSpPr/>
          <p:nvPr/>
        </p:nvSpPr>
        <p:spPr>
          <a:xfrm>
            <a:off x="12398276" y="13201650"/>
            <a:ext cx="5281403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938" dirty="0">
                <a:solidFill>
                  <a:srgbClr val="3B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케미점수 = STRICT × W₁ + 객관 × W₂ (기본 0.5 / 0.5 · 회차별 조정 가능) 최종 선정은 운영자 수동 확정.</a:t>
            </a:r>
            <a:endParaRPr lang="en-US" sz="938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60896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16" dirty="0">
                <a:solidFill>
                  <a:srgbClr val="BC0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· CHEMISTRY OVEN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333500" y="1647825"/>
            <a:ext cx="16089630" cy="283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0" kern="0" spc="-52" dirty="0">
                <a:solidFill>
                  <a:srgbClr val="8A02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사람과 사람이 만날 때 피어나는 케미.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1333500" y="4752975"/>
            <a:ext cx="10791825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6E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연결하고, 베이킹이 가깝게 만듭니다.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33500" y="9296400"/>
            <a:ext cx="10505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2026.05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721632" y="9296400"/>
            <a:ext cx="23090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A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— 결제 · 후기 · 자리배치 편집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4944</Words>
  <Application>Microsoft Office PowerPoint</Application>
  <PresentationFormat>사용자 지정</PresentationFormat>
  <Paragraphs>1699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맑은 고딕</vt:lpstr>
      <vt:lpstr>Arial</vt:lpstr>
      <vt:lpstr>Calibri</vt:lpstr>
      <vt:lpstr>Courier New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DB400TFA</cp:lastModifiedBy>
  <cp:revision>3</cp:revision>
  <dcterms:created xsi:type="dcterms:W3CDTF">2026-05-14T15:15:53Z</dcterms:created>
  <dcterms:modified xsi:type="dcterms:W3CDTF">2026-05-20T02:46:11Z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